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embeddedFontLst>
    <p:embeddedFont>
      <p:font typeface="Alexandria Medium"/>
      <p:regular r:id="rId67"/>
      <p:bold r:id="rId68"/>
    </p:embeddedFont>
    <p:embeddedFont>
      <p:font typeface="Nunito"/>
      <p:regular r:id="rId69"/>
      <p:bold r:id="rId70"/>
      <p:italic r:id="rId71"/>
      <p:boldItalic r:id="rId72"/>
    </p:embeddedFont>
    <p:embeddedFont>
      <p:font typeface="Nunito Medium"/>
      <p:regular r:id="rId73"/>
      <p:bold r:id="rId74"/>
      <p:italic r:id="rId75"/>
      <p:boldItalic r:id="rId76"/>
    </p:embeddedFont>
    <p:embeddedFont>
      <p:font typeface="Albert Sans"/>
      <p:regular r:id="rId77"/>
      <p:bold r:id="rId78"/>
      <p:italic r:id="rId79"/>
      <p:boldItalic r:id="rId80"/>
    </p:embeddedFont>
    <p:embeddedFont>
      <p:font typeface="Alexandria"/>
      <p:regular r:id="rId81"/>
      <p:bold r:id="rId82"/>
    </p:embeddedFont>
    <p:embeddedFont>
      <p:font typeface="Roboto Mono"/>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7" roundtripDataSignature="AMtx7mjhPvEzbWDxtz7PRh8LqSxmSs5T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66463A-8B2B-4F57-90C8-EE86B05AE81C}">
  <a:tblStyle styleId="{8E66463A-8B2B-4F57-90C8-EE86B05AE81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52E4BE9-5879-4D65-9C92-106A106E968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obotoMono-bold.fntdata"/><Relationship Id="rId83" Type="http://schemas.openxmlformats.org/officeDocument/2006/relationships/font" Target="fonts/RobotoMono-regular.fntdata"/><Relationship Id="rId42" Type="http://schemas.openxmlformats.org/officeDocument/2006/relationships/slide" Target="slides/slide37.xml"/><Relationship Id="rId86" Type="http://schemas.openxmlformats.org/officeDocument/2006/relationships/font" Target="fonts/RobotoMono-boldItalic.fntdata"/><Relationship Id="rId41" Type="http://schemas.openxmlformats.org/officeDocument/2006/relationships/slide" Target="slides/slide36.xml"/><Relationship Id="rId85" Type="http://schemas.openxmlformats.org/officeDocument/2006/relationships/font" Target="fonts/RobotoMono-italic.fntdata"/><Relationship Id="rId44" Type="http://schemas.openxmlformats.org/officeDocument/2006/relationships/slide" Target="slides/slide39.xml"/><Relationship Id="rId43" Type="http://schemas.openxmlformats.org/officeDocument/2006/relationships/slide" Target="slides/slide38.xml"/><Relationship Id="rId87" Type="http://customschemas.google.com/relationships/presentationmetadata" Target="metadata"/><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AlbertSans-boldItalic.fntdata"/><Relationship Id="rId82" Type="http://schemas.openxmlformats.org/officeDocument/2006/relationships/font" Target="fonts/Alexandria-bold.fntdata"/><Relationship Id="rId81" Type="http://schemas.openxmlformats.org/officeDocument/2006/relationships/font" Target="fonts/Alexandria-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NunitoMedium-regular.fntdata"/><Relationship Id="rId72" Type="http://schemas.openxmlformats.org/officeDocument/2006/relationships/font" Target="fonts/Nunito-boldItalic.fntdata"/><Relationship Id="rId31" Type="http://schemas.openxmlformats.org/officeDocument/2006/relationships/slide" Target="slides/slide26.xml"/><Relationship Id="rId75" Type="http://schemas.openxmlformats.org/officeDocument/2006/relationships/font" Target="fonts/NunitoMedium-italic.fntdata"/><Relationship Id="rId30" Type="http://schemas.openxmlformats.org/officeDocument/2006/relationships/slide" Target="slides/slide25.xml"/><Relationship Id="rId74" Type="http://schemas.openxmlformats.org/officeDocument/2006/relationships/font" Target="fonts/NunitoMedium-bold.fntdata"/><Relationship Id="rId33" Type="http://schemas.openxmlformats.org/officeDocument/2006/relationships/slide" Target="slides/slide28.xml"/><Relationship Id="rId77" Type="http://schemas.openxmlformats.org/officeDocument/2006/relationships/font" Target="fonts/AlbertSans-regular.fntdata"/><Relationship Id="rId32" Type="http://schemas.openxmlformats.org/officeDocument/2006/relationships/slide" Target="slides/slide27.xml"/><Relationship Id="rId76" Type="http://schemas.openxmlformats.org/officeDocument/2006/relationships/font" Target="fonts/NunitoMedium-boldItalic.fntdata"/><Relationship Id="rId35" Type="http://schemas.openxmlformats.org/officeDocument/2006/relationships/slide" Target="slides/slide30.xml"/><Relationship Id="rId79" Type="http://schemas.openxmlformats.org/officeDocument/2006/relationships/font" Target="fonts/AlbertSans-italic.fntdata"/><Relationship Id="rId34" Type="http://schemas.openxmlformats.org/officeDocument/2006/relationships/slide" Target="slides/slide29.xml"/><Relationship Id="rId78" Type="http://schemas.openxmlformats.org/officeDocument/2006/relationships/font" Target="fonts/AlbertSans-bold.fntdata"/><Relationship Id="rId71" Type="http://schemas.openxmlformats.org/officeDocument/2006/relationships/font" Target="fonts/Nunito-italic.fntdata"/><Relationship Id="rId70" Type="http://schemas.openxmlformats.org/officeDocument/2006/relationships/font" Target="fonts/Nunito-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AlexandriaMedium-bold.fntdata"/><Relationship Id="rId23" Type="http://schemas.openxmlformats.org/officeDocument/2006/relationships/slide" Target="slides/slide18.xml"/><Relationship Id="rId67" Type="http://schemas.openxmlformats.org/officeDocument/2006/relationships/font" Target="fonts/AlexandriaMedium-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Nunito-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412c17598e8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412c17598e8_0_5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1caf1702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3e1caf1702d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412c17598e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412c17598e8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412c17598e8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412c17598e8_0_5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412c17598e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412c17598e8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412c17598e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412c17598e8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412c17598e8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412c17598e8_0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412c17598e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412c17598e8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latin typeface="Nunito"/>
                <a:ea typeface="Nunito"/>
                <a:cs typeface="Nunito"/>
                <a:sym typeface="Nunito"/>
              </a:rPr>
              <a:t>Su función es convertir los datos de DIEGO, RENOVISOR y WHY, que proceden de cuestionarios distintos, en variables comunes que puedan utilizarse conjuntamente en los análisis posteriores:</a:t>
            </a:r>
            <a:br>
              <a:rPr lang="en" sz="1400">
                <a:latin typeface="Nunito"/>
                <a:ea typeface="Nunito"/>
                <a:cs typeface="Nunito"/>
                <a:sym typeface="Nunito"/>
              </a:rPr>
            </a:br>
            <a:r>
              <a:rPr lang="en" sz="1400">
                <a:latin typeface="Nunito"/>
                <a:ea typeface="Nunito"/>
                <a:cs typeface="Nunito"/>
                <a:sym typeface="Nunito"/>
              </a:rPr>
              <a:t>- </a:t>
            </a:r>
            <a:r>
              <a:rPr lang="en" sz="1400">
                <a:solidFill>
                  <a:schemeClr val="dk1"/>
                </a:solidFill>
                <a:latin typeface="Nunito"/>
                <a:ea typeface="Nunito"/>
                <a:cs typeface="Nunito"/>
                <a:sym typeface="Nunito"/>
              </a:rPr>
              <a:t>La edad puede proceder de una respuesta directa, un año de nacimiento o un intervalo de edad. El script utiliza esas fuentes para construir </a:t>
            </a:r>
            <a:r>
              <a:rPr lang="en" sz="1400">
                <a:solidFill>
                  <a:srgbClr val="188038"/>
                </a:solidFill>
                <a:latin typeface="Nunito"/>
                <a:ea typeface="Nunito"/>
                <a:cs typeface="Nunito"/>
                <a:sym typeface="Nunito"/>
              </a:rPr>
              <a:t>age_model</a:t>
            </a:r>
            <a:r>
              <a:rPr lang="en" sz="1400">
                <a:solidFill>
                  <a:schemeClr val="dk1"/>
                </a:solidFill>
                <a:latin typeface="Nunito"/>
                <a:ea typeface="Nunito"/>
                <a:cs typeface="Nunito"/>
                <a:sym typeface="Nunito"/>
              </a:rPr>
              <a:t>.</a:t>
            </a:r>
            <a:br>
              <a:rPr lang="en" sz="1400">
                <a:solidFill>
                  <a:schemeClr val="dk1"/>
                </a:solidFill>
                <a:latin typeface="Nunito"/>
                <a:ea typeface="Nunito"/>
                <a:cs typeface="Nunito"/>
                <a:sym typeface="Nunito"/>
              </a:rPr>
            </a:br>
            <a:r>
              <a:rPr lang="en" sz="1400">
                <a:solidFill>
                  <a:schemeClr val="dk1"/>
                </a:solidFill>
                <a:latin typeface="Nunito"/>
                <a:ea typeface="Nunito"/>
                <a:cs typeface="Nunito"/>
                <a:sym typeface="Nunito"/>
              </a:rPr>
              <a:t>- Recodifica respuestas sobre género, educación, empleo, país e ingresos para que tengan una estructura común, aunque las encuestas utilicen etiquetas distintas.</a:t>
            </a:r>
            <a:br>
              <a:rPr lang="en" sz="1400">
                <a:solidFill>
                  <a:schemeClr val="dk1"/>
                </a:solidFill>
                <a:latin typeface="Nunito"/>
                <a:ea typeface="Nunito"/>
                <a:cs typeface="Nunito"/>
                <a:sym typeface="Nunito"/>
              </a:rPr>
            </a:br>
            <a:r>
              <a:rPr lang="en" sz="1400">
                <a:solidFill>
                  <a:schemeClr val="dk1"/>
                </a:solidFill>
                <a:latin typeface="Nunito"/>
                <a:ea typeface="Nunito"/>
                <a:cs typeface="Nunito"/>
                <a:sym typeface="Nunito"/>
              </a:rPr>
              <a:t>- Construye variables como </a:t>
            </a:r>
            <a:r>
              <a:rPr lang="en" sz="1400">
                <a:solidFill>
                  <a:srgbClr val="188038"/>
                </a:solidFill>
                <a:latin typeface="Nunito"/>
                <a:ea typeface="Nunito"/>
                <a:cs typeface="Nunito"/>
                <a:sym typeface="Nunito"/>
              </a:rPr>
              <a:t>vote_status_declared</a:t>
            </a:r>
            <a:r>
              <a:rPr lang="en" sz="1400">
                <a:solidFill>
                  <a:schemeClr val="dk1"/>
                </a:solidFill>
                <a:latin typeface="Nunito"/>
                <a:ea typeface="Nunito"/>
                <a:cs typeface="Nunito"/>
                <a:sym typeface="Nunito"/>
              </a:rPr>
              <a:t>, </a:t>
            </a:r>
            <a:r>
              <a:rPr lang="en" sz="1400">
                <a:solidFill>
                  <a:srgbClr val="188038"/>
                </a:solidFill>
                <a:latin typeface="Nunito"/>
                <a:ea typeface="Nunito"/>
                <a:cs typeface="Nunito"/>
                <a:sym typeface="Nunito"/>
              </a:rPr>
              <a:t>voted_observed</a:t>
            </a:r>
            <a:r>
              <a:rPr lang="en" sz="1400">
                <a:solidFill>
                  <a:schemeClr val="dk1"/>
                </a:solidFill>
                <a:latin typeface="Nunito"/>
                <a:ea typeface="Nunito"/>
                <a:cs typeface="Nunito"/>
                <a:sym typeface="Nunito"/>
              </a:rPr>
              <a:t>, </a:t>
            </a:r>
            <a:r>
              <a:rPr lang="en" sz="1400">
                <a:solidFill>
                  <a:srgbClr val="188038"/>
                </a:solidFill>
                <a:latin typeface="Nunito"/>
                <a:ea typeface="Nunito"/>
                <a:cs typeface="Nunito"/>
                <a:sym typeface="Nunito"/>
              </a:rPr>
              <a:t>political_left_right_model</a:t>
            </a:r>
            <a:r>
              <a:rPr lang="en" sz="1400">
                <a:solidFill>
                  <a:schemeClr val="dk1"/>
                </a:solidFill>
                <a:latin typeface="Nunito"/>
                <a:ea typeface="Nunito"/>
                <a:cs typeface="Nunito"/>
                <a:sym typeface="Nunito"/>
              </a:rPr>
              <a:t>, </a:t>
            </a:r>
            <a:r>
              <a:rPr lang="en" sz="1400">
                <a:solidFill>
                  <a:srgbClr val="188038"/>
                </a:solidFill>
                <a:latin typeface="Nunito"/>
                <a:ea typeface="Nunito"/>
                <a:cs typeface="Nunito"/>
                <a:sym typeface="Nunito"/>
              </a:rPr>
              <a:t>country_model</a:t>
            </a:r>
            <a:r>
              <a:rPr lang="en" sz="1400">
                <a:solidFill>
                  <a:schemeClr val="dk1"/>
                </a:solidFill>
                <a:latin typeface="Nunito"/>
                <a:ea typeface="Nunito"/>
                <a:cs typeface="Nunito"/>
                <a:sym typeface="Nunito"/>
              </a:rPr>
              <a:t> y </a:t>
            </a:r>
            <a:r>
              <a:rPr lang="en" sz="1400">
                <a:solidFill>
                  <a:srgbClr val="188038"/>
                </a:solidFill>
                <a:latin typeface="Nunito"/>
                <a:ea typeface="Nunito"/>
                <a:cs typeface="Nunito"/>
                <a:sym typeface="Nunito"/>
              </a:rPr>
              <a:t>income_model</a:t>
            </a:r>
            <a:r>
              <a:rPr lang="en" sz="1400">
                <a:solidFill>
                  <a:schemeClr val="dk1"/>
                </a:solidFill>
                <a:latin typeface="Nunito"/>
                <a:ea typeface="Nunito"/>
                <a:cs typeface="Nunito"/>
                <a:sym typeface="Nunito"/>
              </a:rPr>
              <a:t>.</a:t>
            </a:r>
            <a:br>
              <a:rPr lang="en" sz="1400">
                <a:solidFill>
                  <a:schemeClr val="dk1"/>
                </a:solidFill>
                <a:latin typeface="Nunito"/>
                <a:ea typeface="Nunito"/>
                <a:cs typeface="Nunito"/>
                <a:sym typeface="Nunito"/>
              </a:rPr>
            </a:br>
            <a:r>
              <a:rPr lang="en" sz="1400">
                <a:solidFill>
                  <a:schemeClr val="dk1"/>
                </a:solidFill>
                <a:latin typeface="Nunito"/>
                <a:ea typeface="Nunito"/>
                <a:cs typeface="Nunito"/>
                <a:sym typeface="Nunito"/>
              </a:rPr>
              <a:t>- Utiliza un diccionario que relaciona cada determinante con su columna equivalente en RENOVISOR, WHY y DIEGO. El resultado son 32 columnas con nombres comunes, como </a:t>
            </a:r>
            <a:r>
              <a:rPr lang="en" sz="1400">
                <a:solidFill>
                  <a:srgbClr val="188038"/>
                </a:solidFill>
                <a:latin typeface="Nunito"/>
                <a:ea typeface="Nunito"/>
                <a:cs typeface="Nunito"/>
                <a:sym typeface="Nunito"/>
              </a:rPr>
              <a:t>det_01_profits</a:t>
            </a:r>
            <a:r>
              <a:rPr lang="en" sz="1400">
                <a:solidFill>
                  <a:schemeClr val="dk1"/>
                </a:solidFill>
                <a:latin typeface="Nunito"/>
                <a:ea typeface="Nunito"/>
                <a:cs typeface="Nunito"/>
                <a:sym typeface="Nunito"/>
              </a:rPr>
              <a:t> y </a:t>
            </a:r>
            <a:r>
              <a:rPr lang="en" sz="1400">
                <a:solidFill>
                  <a:srgbClr val="188038"/>
                </a:solidFill>
                <a:latin typeface="Nunito"/>
                <a:ea typeface="Nunito"/>
                <a:cs typeface="Nunito"/>
                <a:sym typeface="Nunito"/>
              </a:rPr>
              <a:t>det_02_credit_score</a:t>
            </a:r>
            <a:r>
              <a:rPr lang="en" sz="1400">
                <a:solidFill>
                  <a:schemeClr val="dk1"/>
                </a:solidFill>
                <a:latin typeface="Nunito"/>
                <a:ea typeface="Nunito"/>
                <a:cs typeface="Nunito"/>
                <a:sym typeface="Nunito"/>
              </a:rPr>
              <a:t>.</a:t>
            </a:r>
            <a:br>
              <a:rPr lang="en" sz="1400">
                <a:solidFill>
                  <a:schemeClr val="dk1"/>
                </a:solidFill>
                <a:latin typeface="Nunito"/>
                <a:ea typeface="Nunito"/>
                <a:cs typeface="Nunito"/>
                <a:sym typeface="Nunito"/>
              </a:rPr>
            </a:br>
            <a:r>
              <a:rPr lang="en" sz="1400">
                <a:solidFill>
                  <a:schemeClr val="dk1"/>
                </a:solidFill>
                <a:latin typeface="Nunito"/>
                <a:ea typeface="Nunito"/>
                <a:cs typeface="Nunito"/>
                <a:sym typeface="Nunito"/>
              </a:rPr>
              <a:t>- Calcula </a:t>
            </a:r>
            <a:r>
              <a:rPr lang="en" sz="1400">
                <a:solidFill>
                  <a:srgbClr val="188038"/>
                </a:solidFill>
                <a:latin typeface="Nunito"/>
                <a:ea typeface="Nunito"/>
                <a:cs typeface="Nunito"/>
                <a:sym typeface="Nunito"/>
              </a:rPr>
              <a:t>n_det_non_missing</a:t>
            </a:r>
            <a:r>
              <a:rPr lang="en" sz="1400">
                <a:solidFill>
                  <a:schemeClr val="dk1"/>
                </a:solidFill>
                <a:latin typeface="Nunito"/>
                <a:ea typeface="Nunito"/>
                <a:cs typeface="Nunito"/>
                <a:sym typeface="Nunito"/>
              </a:rPr>
              <a:t> y </a:t>
            </a:r>
            <a:r>
              <a:rPr lang="en" sz="1400">
                <a:solidFill>
                  <a:srgbClr val="188038"/>
                </a:solidFill>
                <a:latin typeface="Nunito"/>
                <a:ea typeface="Nunito"/>
                <a:cs typeface="Nunito"/>
                <a:sym typeface="Nunito"/>
              </a:rPr>
              <a:t>prop_det_non_missing</a:t>
            </a:r>
            <a:r>
              <a:rPr lang="en" sz="1400">
                <a:solidFill>
                  <a:schemeClr val="dk1"/>
                </a:solidFill>
                <a:latin typeface="Nunito"/>
                <a:ea typeface="Nunito"/>
                <a:cs typeface="Nunito"/>
                <a:sym typeface="Nunito"/>
              </a:rPr>
              <a:t>, que indican cuántos de los 32 determinantes tiene disponibles cada participante.</a:t>
            </a:r>
            <a:endParaRPr sz="1400">
              <a:solidFill>
                <a:schemeClr val="dk1"/>
              </a:solidFill>
              <a:latin typeface="Nunito"/>
              <a:ea typeface="Nunito"/>
              <a:cs typeface="Nunito"/>
              <a:sym typeface="Nunito"/>
            </a:endParaRPr>
          </a:p>
          <a:p>
            <a:pPr indent="-317500" lvl="0" marL="457200" rtl="0" algn="l">
              <a:lnSpc>
                <a:spcPct val="100000"/>
              </a:lnSpc>
              <a:spcBef>
                <a:spcPts val="0"/>
              </a:spcBef>
              <a:spcAft>
                <a:spcPts val="0"/>
              </a:spcAft>
              <a:buClr>
                <a:schemeClr val="dk1"/>
              </a:buClr>
              <a:buSzPts val="1400"/>
              <a:buFont typeface="Nunito"/>
              <a:buChar char="-"/>
            </a:pPr>
            <a:r>
              <a:rPr lang="en" sz="1400">
                <a:solidFill>
                  <a:schemeClr val="dk1"/>
                </a:solidFill>
                <a:latin typeface="Nunito"/>
                <a:ea typeface="Nunito"/>
                <a:cs typeface="Nunito"/>
                <a:sym typeface="Nunito"/>
              </a:rPr>
              <a:t>Guarda una versión limpia para análisis y otra que conserva las columnas originales. También produce tablas de cobertura, categorías y posibles conflictos entre variables.</a:t>
            </a:r>
            <a:endParaRPr sz="1400">
              <a:solidFill>
                <a:schemeClr val="dk1"/>
              </a:solidFill>
              <a:latin typeface="Nunito"/>
              <a:ea typeface="Nunito"/>
              <a:cs typeface="Nunito"/>
              <a:sym typeface="Nuni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412c17598e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412c17598e8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412c17598e8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412c17598e8_0_4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412c17598e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412c17598e8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412c17598e8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412c17598e8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412c17598e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412c17598e8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412c17598e8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g412c17598e8_0_5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solidFill>
                  <a:schemeClr val="dk1"/>
                </a:solidFill>
                <a:latin typeface="Nunito"/>
                <a:ea typeface="Nunito"/>
                <a:cs typeface="Nunito"/>
                <a:sym typeface="Nunito"/>
              </a:rPr>
              <a:t>Las variables de propensión política no están disponibles de la misma manera en todas las fuentes. El modelo electoral se aplicará a Europa; LATAM tendrá su propio procedimiento de remuestreo basado en ingresos. Esta diferencia nos sirve para introducir el siguiente bloque.</a:t>
            </a:r>
            <a:endParaRPr sz="1400">
              <a:latin typeface="Nunito"/>
              <a:ea typeface="Nunito"/>
              <a:cs typeface="Nunito"/>
              <a:sym typeface="Nuni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412c17598e8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g412c17598e8_0_5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412c17598e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412c17598e8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412c17598e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412c17598e8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latin typeface="Nunito"/>
                <a:ea typeface="Nunito"/>
                <a:cs typeface="Nunito"/>
                <a:sym typeface="Nunito"/>
              </a:rPr>
              <a:t>En Europa partimos de una muestra que no necesariamente reproduce la participación ni la composición electoral de la población. Por eso introdujimos un procedimiento de remuestreo que considera la propensión a votar y las distribuciones electorales objetivo. La finalidad es construir réplicas con una composición ajustada según esas referencias, que después utilizaremos en los análisis de clustering.</a:t>
            </a:r>
            <a:endParaRPr sz="1400">
              <a:latin typeface="Nunito"/>
              <a:ea typeface="Nunito"/>
              <a:cs typeface="Nunito"/>
              <a:sym typeface="Nuni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412c17598e8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g412c17598e8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Una vez que tenemos los participantes utilizables para clustering, empezamos a construir el bootstrap europeo.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Como hemos visto, nuestra muestra no reproduce necesariamente la participación electoral de la población.</a:t>
            </a:r>
            <a:endParaRPr sz="1400">
              <a:solidFill>
                <a:schemeClr val="dk1"/>
              </a:solidFill>
              <a:latin typeface="Nunito"/>
              <a:ea typeface="Nunito"/>
              <a:cs typeface="Nunito"/>
              <a:sym typeface="Nunito"/>
            </a:endParaRPr>
          </a:p>
          <a:p>
            <a:pPr indent="45720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Para abordar esta diferencia, lo primero que hacemos es estimar la probabilidad individual de votar o abstenerse.</a:t>
            </a:r>
            <a:endParaRPr sz="1400">
              <a:solidFill>
                <a:schemeClr val="dk1"/>
              </a:solidFill>
              <a:latin typeface="Nunito"/>
              <a:ea typeface="Nunito"/>
              <a:cs typeface="Nunito"/>
              <a:sym typeface="Nunito"/>
            </a:endParaRPr>
          </a:p>
          <a:p>
            <a:pPr indent="0" lvl="0" marL="45720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Para ello, utilizamos los datos de RENOVISOR, porque disponemos de información sobre si sus participantes votaron o se abstuvieron. Con estos datos entrenamos una </a:t>
            </a:r>
            <a:r>
              <a:rPr b="1" lang="en" sz="1400">
                <a:solidFill>
                  <a:schemeClr val="dk1"/>
                </a:solidFill>
                <a:latin typeface="Nunito"/>
                <a:ea typeface="Nunito"/>
                <a:cs typeface="Nunito"/>
                <a:sym typeface="Nunito"/>
              </a:rPr>
              <a:t>regresión logística binomial</a:t>
            </a:r>
            <a:r>
              <a:rPr lang="en" sz="1400">
                <a:solidFill>
                  <a:schemeClr val="dk1"/>
                </a:solidFill>
                <a:latin typeface="Nunito"/>
                <a:ea typeface="Nunito"/>
                <a:cs typeface="Nunito"/>
                <a:sym typeface="Nunito"/>
              </a:rPr>
              <a:t>, que permite estimar la probabilidad de que una persona vote a partir de determinadas características.</a:t>
            </a:r>
            <a:endParaRPr sz="1400">
              <a:solidFill>
                <a:schemeClr val="dk1"/>
              </a:solidFill>
              <a:latin typeface="Nunito"/>
              <a:ea typeface="Nunito"/>
              <a:cs typeface="Nunito"/>
              <a:sym typeface="Nunito"/>
            </a:endParaRPr>
          </a:p>
          <a:p>
            <a:pPr indent="0" lvl="0" marL="45720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Elegimos cuatro variables explicativas: </a:t>
            </a:r>
            <a:r>
              <a:rPr b="1" lang="en" sz="1400">
                <a:solidFill>
                  <a:schemeClr val="dk1"/>
                </a:solidFill>
                <a:latin typeface="Nunito"/>
                <a:ea typeface="Nunito"/>
                <a:cs typeface="Nunito"/>
                <a:sym typeface="Nunito"/>
              </a:rPr>
              <a:t>grupo de edad, género, país agrupado y situación laboral</a:t>
            </a:r>
            <a:r>
              <a:rPr lang="en" sz="1400">
                <a:solidFill>
                  <a:schemeClr val="dk1"/>
                </a:solidFill>
                <a:latin typeface="Nunito"/>
                <a:ea typeface="Nunito"/>
                <a:cs typeface="Nunito"/>
                <a:sym typeface="Nunito"/>
              </a:rPr>
              <a:t>. Son variables que tenemos disponibles en las distintas fuentes y que, por tanto, podemos utilizar también para estimar la propensión de los participantes de DIEGO y WHY_EUROPE.</a:t>
            </a:r>
            <a:endParaRPr sz="1400">
              <a:solidFill>
                <a:schemeClr val="dk1"/>
              </a:solidFill>
              <a:latin typeface="Nunito"/>
              <a:ea typeface="Nunito"/>
              <a:cs typeface="Nunito"/>
              <a:sym typeface="Nunito"/>
            </a:endParaRPr>
          </a:p>
          <a:p>
            <a:pPr indent="45720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Una vez entrenado el modelo, lo aplicamos al conjunto de datos para obtener, para cada participante, una probabilidad estimada de voto y otra de abstención.</a:t>
            </a:r>
            <a:endParaRPr sz="1400">
              <a:solidFill>
                <a:schemeClr val="dk1"/>
              </a:solidFill>
              <a:latin typeface="Nunito"/>
              <a:ea typeface="Nunito"/>
              <a:cs typeface="Nunito"/>
              <a:sym typeface="Nunito"/>
            </a:endParaRPr>
          </a:p>
          <a:p>
            <a:pPr indent="45720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último, para construir las réplicas europeas, nos quedamos únicamente con los participantes europeos que han superado previamente el control de calidad de los 32 determinantes.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1200"/>
              </a:spcAft>
              <a:buSzPts val="1100"/>
              <a:buNone/>
            </a:pPr>
            <a:r>
              <a:rPr lang="en" sz="1400">
                <a:solidFill>
                  <a:schemeClr val="dk1"/>
                </a:solidFill>
                <a:latin typeface="Nunito"/>
                <a:ea typeface="Nunito"/>
                <a:cs typeface="Nunito"/>
                <a:sym typeface="Nunito"/>
              </a:rPr>
              <a:t>Es importante distinguir estas dos operaciones: </a:t>
            </a:r>
            <a:r>
              <a:rPr b="1" lang="en" sz="1400">
                <a:solidFill>
                  <a:schemeClr val="dk1"/>
                </a:solidFill>
                <a:latin typeface="Nunito"/>
                <a:ea typeface="Nunito"/>
                <a:cs typeface="Nunito"/>
                <a:sym typeface="Nunito"/>
              </a:rPr>
              <a:t>el modelo estima probabilidades, pero todavía no genera las muestras bootstrap</a:t>
            </a:r>
            <a:r>
              <a:rPr lang="en" sz="1400">
                <a:solidFill>
                  <a:schemeClr val="dk1"/>
                </a:solidFill>
                <a:latin typeface="Nunito"/>
                <a:ea typeface="Nunito"/>
                <a:cs typeface="Nunito"/>
                <a:sym typeface="Nunito"/>
              </a:rPr>
              <a:t>. Esas probabilidades se utilizarán en el siguiente paso para determinar las probabilidades de selección durante el remuestreo.</a:t>
            </a:r>
            <a:endParaRPr sz="1400">
              <a:latin typeface="Nunito"/>
              <a:ea typeface="Nunito"/>
              <a:cs typeface="Nunito"/>
              <a:sym typeface="Nuni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412c17598e8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g412c17598e8_0_5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archivo de entrada es </a:t>
            </a:r>
            <a:r>
              <a:rPr lang="en" sz="1400">
                <a:solidFill>
                  <a:srgbClr val="188038"/>
                </a:solidFill>
                <a:latin typeface="Nunito"/>
                <a:ea typeface="Nunito"/>
                <a:cs typeface="Nunito"/>
                <a:sym typeface="Nunito"/>
              </a:rPr>
              <a:t>all_sources_integrated_component_quality_phase_scores.csv</a:t>
            </a:r>
            <a:r>
              <a:rPr lang="en" sz="1400">
                <a:solidFill>
                  <a:schemeClr val="dk1"/>
                </a:solidFill>
                <a:latin typeface="Nunito"/>
                <a:ea typeface="Nunito"/>
                <a:cs typeface="Nunito"/>
                <a:sym typeface="Nunito"/>
              </a:rPr>
              <a:t>, que contiene los datos integrados, armonizados y enriquecidos con las variables de calidad, dimensiones y fases de decisión.</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Además, utilizamos </a:t>
            </a:r>
            <a:r>
              <a:rPr lang="en" sz="1400">
                <a:solidFill>
                  <a:srgbClr val="188038"/>
                </a:solidFill>
                <a:latin typeface="Nunito"/>
                <a:ea typeface="Nunito"/>
                <a:cs typeface="Nunito"/>
                <a:sym typeface="Nunito"/>
              </a:rPr>
              <a:t>matrix_32det_for_clustering.csv</a:t>
            </a:r>
            <a:r>
              <a:rPr lang="en" sz="1400">
                <a:solidFill>
                  <a:schemeClr val="dk1"/>
                </a:solidFill>
                <a:latin typeface="Nunito"/>
                <a:ea typeface="Nunito"/>
                <a:cs typeface="Nunito"/>
                <a:sym typeface="Nunito"/>
              </a:rPr>
              <a:t> para identificar qué participantes pueden entrar en el remuestreo. Esto garantiza que no incorporemos posteriormente personas que no cumplen los criterios de calidad exigidos para el análisis de clustering.</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cuanto a las salidas, el script genera tres archivos que conviene conocer.</a:t>
            </a:r>
            <a:endParaRPr sz="1400">
              <a:solidFill>
                <a:schemeClr val="dk1"/>
              </a:solidFill>
              <a:latin typeface="Nunito"/>
              <a:ea typeface="Nunito"/>
              <a:cs typeface="Nunito"/>
              <a:sym typeface="Nunito"/>
            </a:endParaRPr>
          </a:p>
          <a:p>
            <a:pPr indent="0" lvl="0" marL="45720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primero, </a:t>
            </a:r>
            <a:r>
              <a:rPr lang="en" sz="1400">
                <a:solidFill>
                  <a:srgbClr val="188038"/>
                </a:solidFill>
                <a:latin typeface="Nunito"/>
                <a:ea typeface="Nunito"/>
                <a:cs typeface="Nunito"/>
                <a:sym typeface="Nunito"/>
              </a:rPr>
              <a:t>dataset_with_propensity_and_electoral_groups.csv</a:t>
            </a:r>
            <a:r>
              <a:rPr lang="en" sz="1400">
                <a:solidFill>
                  <a:schemeClr val="dk1"/>
                </a:solidFill>
                <a:latin typeface="Nunito"/>
                <a:ea typeface="Nunito"/>
                <a:cs typeface="Nunito"/>
                <a:sym typeface="Nunito"/>
              </a:rPr>
              <a:t>, contiene las probabilidades estimadas de voto y abstención, junto con las variables y clasificaciones electorales utilizadas en el procedimiento.</a:t>
            </a:r>
            <a:endParaRPr sz="1400">
              <a:solidFill>
                <a:schemeClr val="dk1"/>
              </a:solidFill>
              <a:latin typeface="Nunito"/>
              <a:ea typeface="Nunito"/>
              <a:cs typeface="Nunito"/>
              <a:sym typeface="Nunito"/>
            </a:endParaRPr>
          </a:p>
          <a:p>
            <a:pPr indent="0" lvl="0" marL="45720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segundo, </a:t>
            </a:r>
            <a:r>
              <a:rPr lang="en" sz="1400">
                <a:solidFill>
                  <a:srgbClr val="188038"/>
                </a:solidFill>
                <a:latin typeface="Nunito"/>
                <a:ea typeface="Nunito"/>
                <a:cs typeface="Nunito"/>
                <a:sym typeface="Nunito"/>
              </a:rPr>
              <a:t>propensity_model_coefficients.csv</a:t>
            </a:r>
            <a:r>
              <a:rPr lang="en" sz="1400">
                <a:solidFill>
                  <a:schemeClr val="dk1"/>
                </a:solidFill>
                <a:latin typeface="Nunito"/>
                <a:ea typeface="Nunito"/>
                <a:cs typeface="Nunito"/>
                <a:sym typeface="Nunito"/>
              </a:rPr>
              <a:t>, recoge los coeficientes de la regresión logística y permite consultar la relación estimada entre las variables explicativas y la probabilidad de voto.</a:t>
            </a:r>
            <a:endParaRPr sz="1400">
              <a:solidFill>
                <a:schemeClr val="dk1"/>
              </a:solidFill>
              <a:latin typeface="Nunito"/>
              <a:ea typeface="Nunito"/>
              <a:cs typeface="Nunito"/>
              <a:sym typeface="Nunito"/>
            </a:endParaRPr>
          </a:p>
          <a:p>
            <a:pPr indent="0" lvl="0" marL="45720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último, </a:t>
            </a:r>
            <a:r>
              <a:rPr lang="en" sz="1400">
                <a:solidFill>
                  <a:srgbClr val="188038"/>
                </a:solidFill>
                <a:latin typeface="Nunito"/>
                <a:ea typeface="Nunito"/>
                <a:cs typeface="Nunito"/>
                <a:sym typeface="Nunito"/>
              </a:rPr>
              <a:t>propensity_model_summary.txt</a:t>
            </a:r>
            <a:r>
              <a:rPr lang="en" sz="1400">
                <a:solidFill>
                  <a:schemeClr val="dk1"/>
                </a:solidFill>
                <a:latin typeface="Nunito"/>
                <a:ea typeface="Nunito"/>
                <a:cs typeface="Nunito"/>
                <a:sym typeface="Nunito"/>
              </a:rPr>
              <a:t> contiene el resumen estadístico del modelo ajustado.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1200"/>
              </a:spcAft>
              <a:buSzPts val="1100"/>
              <a:buNone/>
            </a:pPr>
            <a:r>
              <a:rPr lang="en" sz="1400">
                <a:solidFill>
                  <a:schemeClr val="dk1"/>
                </a:solidFill>
                <a:latin typeface="Nunito"/>
                <a:ea typeface="Nunito"/>
                <a:cs typeface="Nunito"/>
                <a:sym typeface="Nunito"/>
              </a:rPr>
              <a:t>Todos estos archivos se encuentran en la carpeta de resultados del script </a:t>
            </a:r>
            <a:r>
              <a:rPr lang="en" sz="1400">
                <a:solidFill>
                  <a:srgbClr val="188038"/>
                </a:solidFill>
                <a:latin typeface="Nunito"/>
                <a:ea typeface="Nunito"/>
                <a:cs typeface="Nunito"/>
                <a:sym typeface="Nunito"/>
              </a:rPr>
              <a:t>04_2b</a:t>
            </a:r>
            <a:r>
              <a:rPr lang="en" sz="1400">
                <a:solidFill>
                  <a:schemeClr val="dk1"/>
                </a:solidFill>
                <a:latin typeface="Nunito"/>
                <a:ea typeface="Nunito"/>
                <a:cs typeface="Nunito"/>
                <a:sym typeface="Nunito"/>
              </a:rPr>
              <a:t>. </a:t>
            </a:r>
            <a:endParaRPr sz="1400">
              <a:latin typeface="Nunito"/>
              <a:ea typeface="Nunito"/>
              <a:cs typeface="Nunito"/>
              <a:sym typeface="Nuni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412c17598e8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g412c17598e8_0_5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Aquí ya no estamos estimando la propensión, sino usando esas probabilidades para construir las réplicas europea.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Cada réplica tiene 1.000 draws.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1200"/>
              </a:spcAft>
              <a:buSzPts val="1100"/>
              <a:buNone/>
            </a:pPr>
            <a:r>
              <a:rPr lang="en" sz="1400">
                <a:solidFill>
                  <a:schemeClr val="dk1"/>
                </a:solidFill>
                <a:latin typeface="Nunito"/>
                <a:ea typeface="Nunito"/>
                <a:cs typeface="Nunito"/>
                <a:sym typeface="Nunito"/>
              </a:rPr>
              <a:t>El procedimiento fuerza una composición objetivo de votantes y abstencionistas, y dentro del grupo de votantes respeta los grupos electorales definidos. El resultado importante no es una tabla agregada, sino el índice </a:t>
            </a:r>
            <a:r>
              <a:rPr lang="en" sz="1400">
                <a:solidFill>
                  <a:srgbClr val="188038"/>
                </a:solidFill>
                <a:latin typeface="Nunito"/>
                <a:ea typeface="Nunito"/>
                <a:cs typeface="Nunito"/>
                <a:sym typeface="Nunito"/>
              </a:rPr>
              <a:t>bootstrap_samples_index.csv</a:t>
            </a:r>
            <a:r>
              <a:rPr lang="en" sz="1400">
                <a:solidFill>
                  <a:schemeClr val="dk1"/>
                </a:solidFill>
                <a:latin typeface="Nunito"/>
                <a:ea typeface="Nunito"/>
                <a:cs typeface="Nunito"/>
                <a:sym typeface="Nunito"/>
              </a:rPr>
              <a:t>, que dice qué participantes aparecen en cada réplica bootstrap.</a:t>
            </a:r>
            <a:endParaRPr sz="1400">
              <a:latin typeface="Nunito"/>
              <a:ea typeface="Nunito"/>
              <a:cs typeface="Nunito"/>
              <a:sym typeface="Nuni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412c17598e8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g412c17598e8_0_6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Aquí ya no estamos estimando la propensión, sino usando esas probabilidades para construir las réplicas europea.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Cada réplica tiene 1.000 draws.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1200"/>
              </a:spcAft>
              <a:buSzPts val="1100"/>
              <a:buNone/>
            </a:pPr>
            <a:r>
              <a:rPr lang="en" sz="1400">
                <a:solidFill>
                  <a:schemeClr val="dk1"/>
                </a:solidFill>
                <a:latin typeface="Nunito"/>
                <a:ea typeface="Nunito"/>
                <a:cs typeface="Nunito"/>
                <a:sym typeface="Nunito"/>
              </a:rPr>
              <a:t>El procedimiento fuerza una composición objetivo de votantes y abstencionistas, y dentro del grupo de votantes respeta los grupos electorales definidos. El resultado importante no es una tabla agregada, sino el índice </a:t>
            </a:r>
            <a:r>
              <a:rPr lang="en" sz="1400">
                <a:solidFill>
                  <a:srgbClr val="188038"/>
                </a:solidFill>
                <a:latin typeface="Nunito"/>
                <a:ea typeface="Nunito"/>
                <a:cs typeface="Nunito"/>
                <a:sym typeface="Nunito"/>
              </a:rPr>
              <a:t>bootstrap_samples_index.csv</a:t>
            </a:r>
            <a:r>
              <a:rPr lang="en" sz="1400">
                <a:solidFill>
                  <a:schemeClr val="dk1"/>
                </a:solidFill>
                <a:latin typeface="Nunito"/>
                <a:ea typeface="Nunito"/>
                <a:cs typeface="Nunito"/>
                <a:sym typeface="Nunito"/>
              </a:rPr>
              <a:t>, que dice qué participantes aparecen en cada réplica bootstrap.</a:t>
            </a:r>
            <a:endParaRPr sz="1400">
              <a:latin typeface="Nunito"/>
              <a:ea typeface="Nunito"/>
              <a:cs typeface="Nunito"/>
              <a:sym typeface="Nuni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412c17598e8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g412c17598e8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Aquí ya no estamos estimando la propensión, sino usando esas probabilidades para construir las réplicas europea.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Cada réplica tiene 1.000 draws.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1200"/>
              </a:spcAft>
              <a:buSzPts val="1100"/>
              <a:buNone/>
            </a:pPr>
            <a:r>
              <a:rPr lang="en" sz="1400">
                <a:solidFill>
                  <a:schemeClr val="dk1"/>
                </a:solidFill>
                <a:latin typeface="Nunito"/>
                <a:ea typeface="Nunito"/>
                <a:cs typeface="Nunito"/>
                <a:sym typeface="Nunito"/>
              </a:rPr>
              <a:t>El procedimiento fuerza una composición objetivo de votantes y abstencionistas, y dentro del grupo de votantes respeta los grupos electorales definidos. El resultado importante no es una tabla agregada, sino el índice </a:t>
            </a:r>
            <a:r>
              <a:rPr lang="en" sz="1400">
                <a:solidFill>
                  <a:srgbClr val="188038"/>
                </a:solidFill>
                <a:latin typeface="Nunito"/>
                <a:ea typeface="Nunito"/>
                <a:cs typeface="Nunito"/>
                <a:sym typeface="Nunito"/>
              </a:rPr>
              <a:t>bootstrap_samples_index.csv</a:t>
            </a:r>
            <a:r>
              <a:rPr lang="en" sz="1400">
                <a:solidFill>
                  <a:schemeClr val="dk1"/>
                </a:solidFill>
                <a:latin typeface="Nunito"/>
                <a:ea typeface="Nunito"/>
                <a:cs typeface="Nunito"/>
                <a:sym typeface="Nunito"/>
              </a:rPr>
              <a:t>, que dice qué participantes aparecen en cada réplica bootstrap.</a:t>
            </a:r>
            <a:endParaRPr sz="1400">
              <a:latin typeface="Nunito"/>
              <a:ea typeface="Nunito"/>
              <a:cs typeface="Nunito"/>
              <a:sym typeface="Nuni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412c17598e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g412c17598e8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latin typeface="Nunito"/>
                <a:ea typeface="Nunito"/>
                <a:cs typeface="Nunito"/>
                <a:sym typeface="Nunito"/>
              </a:rPr>
              <a:t>¿Por qué utilizamos un bootstrap económico en LATAM?</a:t>
            </a:r>
            <a:endParaRPr sz="1400">
              <a:latin typeface="Nunito"/>
              <a:ea typeface="Nunito"/>
              <a:cs typeface="Nunito"/>
              <a:sym typeface="Nunito"/>
            </a:endParaRPr>
          </a:p>
          <a:p>
            <a:pPr indent="0" lvl="0" marL="0" rtl="0" algn="l">
              <a:lnSpc>
                <a:spcPct val="100000"/>
              </a:lnSpc>
              <a:spcBef>
                <a:spcPts val="0"/>
              </a:spcBef>
              <a:spcAft>
                <a:spcPts val="0"/>
              </a:spcAft>
              <a:buSzPts val="1100"/>
              <a:buNone/>
            </a:pPr>
            <a:r>
              <a:rPr lang="en" sz="1400">
                <a:latin typeface="Nunito"/>
                <a:ea typeface="Nunito"/>
                <a:cs typeface="Nunito"/>
                <a:sym typeface="Nunito"/>
              </a:rPr>
              <a:t>—</a:t>
            </a:r>
            <a:endParaRPr sz="1400">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latin typeface="Nunito"/>
                <a:ea typeface="Nunito"/>
                <a:cs typeface="Nunito"/>
                <a:sym typeface="Nunito"/>
              </a:rPr>
              <a:t>Para Latinoamérica seguimos una metodología distinta a la europea. En lugar de utilizar el modelo de propensión electoral, organizamos el remuestreo a partir de los ingresos y de unas distribuciones objetivo definidas para cada país.</a:t>
            </a:r>
            <a:endParaRPr sz="1400">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latin typeface="Nunito"/>
                <a:ea typeface="Nunito"/>
                <a:cs typeface="Nunito"/>
                <a:sym typeface="Nunito"/>
              </a:rPr>
              <a:t>El procedimiento consta de tres etapas.</a:t>
            </a:r>
            <a:endParaRPr sz="1400">
              <a:latin typeface="Nunito"/>
              <a:ea typeface="Nunito"/>
              <a:cs typeface="Nunito"/>
              <a:sym typeface="Nunito"/>
            </a:endParaRPr>
          </a:p>
          <a:p>
            <a:pPr indent="457200" lvl="0" marL="0" rtl="0" algn="l">
              <a:lnSpc>
                <a:spcPct val="115000"/>
              </a:lnSpc>
              <a:spcBef>
                <a:spcPts val="1200"/>
              </a:spcBef>
              <a:spcAft>
                <a:spcPts val="0"/>
              </a:spcAft>
              <a:buSzPts val="1100"/>
              <a:buNone/>
            </a:pPr>
            <a:r>
              <a:rPr lang="en" sz="1400">
                <a:latin typeface="Nunito"/>
                <a:ea typeface="Nunito"/>
                <a:cs typeface="Nunito"/>
                <a:sym typeface="Nunito"/>
              </a:rPr>
              <a:t>Primero preparamos los datos económicos de los participantes.</a:t>
            </a:r>
            <a:endParaRPr sz="1400">
              <a:latin typeface="Nunito"/>
              <a:ea typeface="Nunito"/>
              <a:cs typeface="Nunito"/>
              <a:sym typeface="Nunito"/>
            </a:endParaRPr>
          </a:p>
          <a:p>
            <a:pPr indent="457200" lvl="0" marL="0" rtl="0" algn="l">
              <a:lnSpc>
                <a:spcPct val="115000"/>
              </a:lnSpc>
              <a:spcBef>
                <a:spcPts val="1200"/>
              </a:spcBef>
              <a:spcAft>
                <a:spcPts val="0"/>
              </a:spcAft>
              <a:buSzPts val="1100"/>
              <a:buNone/>
            </a:pPr>
            <a:r>
              <a:rPr lang="en" sz="1400">
                <a:latin typeface="Nunito"/>
                <a:ea typeface="Nunito"/>
                <a:cs typeface="Nunito"/>
                <a:sym typeface="Nunito"/>
              </a:rPr>
              <a:t>Después establecemos las proporciones objetivo de cada tramo de ingreso.</a:t>
            </a:r>
            <a:endParaRPr sz="1400">
              <a:latin typeface="Nunito"/>
              <a:ea typeface="Nunito"/>
              <a:cs typeface="Nunito"/>
              <a:sym typeface="Nunito"/>
            </a:endParaRPr>
          </a:p>
          <a:p>
            <a:pPr indent="457200" lvl="0" marL="0" rtl="0" algn="l">
              <a:lnSpc>
                <a:spcPct val="115000"/>
              </a:lnSpc>
              <a:spcBef>
                <a:spcPts val="1200"/>
              </a:spcBef>
              <a:spcAft>
                <a:spcPts val="0"/>
              </a:spcAft>
              <a:buClr>
                <a:schemeClr val="dk1"/>
              </a:buClr>
              <a:buSzPts val="1100"/>
              <a:buFont typeface="Arial"/>
              <a:buNone/>
            </a:pPr>
            <a:r>
              <a:rPr lang="en" sz="1400">
                <a:latin typeface="Nunito"/>
                <a:ea typeface="Nunito"/>
                <a:cs typeface="Nunito"/>
                <a:sym typeface="Nunito"/>
              </a:rPr>
              <a:t>Finalmente, utilizamos esa información para generar las réplicas bootstrap.</a:t>
            </a:r>
            <a:endParaRPr sz="1400">
              <a:latin typeface="Nunito"/>
              <a:ea typeface="Nunito"/>
              <a:cs typeface="Nunito"/>
              <a:sym typeface="Nunito"/>
            </a:endParaRPr>
          </a:p>
          <a:p>
            <a:pPr indent="0" lvl="0" marL="0" rtl="0" algn="l">
              <a:lnSpc>
                <a:spcPct val="115000"/>
              </a:lnSpc>
              <a:spcBef>
                <a:spcPts val="1200"/>
              </a:spcBef>
              <a:spcAft>
                <a:spcPts val="1200"/>
              </a:spcAft>
              <a:buSzPts val="1100"/>
              <a:buNone/>
            </a:pPr>
            <a:r>
              <a:rPr lang="en" sz="1400">
                <a:latin typeface="Nunito"/>
                <a:ea typeface="Nunito"/>
                <a:cs typeface="Nunito"/>
                <a:sym typeface="Nunito"/>
              </a:rPr>
              <a:t>Vamos a recorrer esas tres etapas por separado, porque cada una corresponde a un script y genera archivos que serán necesarios para reproducir el análisis</a:t>
            </a:r>
            <a:endParaRPr sz="1400">
              <a:latin typeface="Nunito"/>
              <a:ea typeface="Nunito"/>
              <a:cs typeface="Nunito"/>
              <a:sym typeface="Nuni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412c17598e8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412c17598e8_0_6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t>¿Por qué utilizamos un bootstrap económico en LATAM?</a:t>
            </a:r>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412c17598e8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g412c17598e8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Una vez decidido que el bootstrap latinoamericano se va a basar en la información económica, dividimos el procedimiento en tres scripts.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primero es el </a:t>
            </a:r>
            <a:r>
              <a:rPr b="1" lang="en" sz="1400">
                <a:solidFill>
                  <a:srgbClr val="188038"/>
                </a:solidFill>
                <a:latin typeface="Nunito"/>
                <a:ea typeface="Nunito"/>
                <a:cs typeface="Nunito"/>
                <a:sym typeface="Nunito"/>
              </a:rPr>
              <a:t>04_2c</a:t>
            </a:r>
            <a:r>
              <a:rPr lang="en" sz="1400">
                <a:solidFill>
                  <a:schemeClr val="dk1"/>
                </a:solidFill>
                <a:latin typeface="Nunito"/>
                <a:ea typeface="Nunito"/>
                <a:cs typeface="Nunito"/>
                <a:sym typeface="Nunito"/>
              </a:rPr>
              <a:t>, que prepara los datos individuales. Partimos de WHY_LATAM y trabajamos con México, Chile y Colombia. Clasificamos los ingresos declarados en los cinco tramos de la encuesta e identificamos qué participantes cumplen los criterios de calidad para clustering. El resultado se guarda en </a:t>
            </a:r>
            <a:r>
              <a:rPr lang="en" sz="1400">
                <a:solidFill>
                  <a:srgbClr val="188038"/>
                </a:solidFill>
                <a:latin typeface="Nunito"/>
                <a:ea typeface="Nunito"/>
                <a:cs typeface="Nunito"/>
                <a:sym typeface="Nunito"/>
              </a:rPr>
              <a:t>latam_income_individual_level.csv</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otro lado, el </a:t>
            </a:r>
            <a:r>
              <a:rPr b="1" lang="en" sz="1400">
                <a:solidFill>
                  <a:srgbClr val="188038"/>
                </a:solidFill>
                <a:latin typeface="Nunito"/>
                <a:ea typeface="Nunito"/>
                <a:cs typeface="Nunito"/>
                <a:sym typeface="Nunito"/>
              </a:rPr>
              <a:t>04_2d</a:t>
            </a:r>
            <a:r>
              <a:rPr lang="en" sz="1400">
                <a:solidFill>
                  <a:schemeClr val="dk1"/>
                </a:solidFill>
                <a:latin typeface="Nunito"/>
                <a:ea typeface="Nunito"/>
                <a:cs typeface="Nunito"/>
                <a:sym typeface="Nunito"/>
              </a:rPr>
              <a:t> establece la distribución objetivo de ingresos para cada país. Es decir, define qué proporción queremos asignar a cada tramo durante el remuestreo. Esta distribución se guarda en </a:t>
            </a:r>
            <a:r>
              <a:rPr lang="en" sz="1400">
                <a:solidFill>
                  <a:srgbClr val="188038"/>
                </a:solidFill>
                <a:latin typeface="Nunito"/>
                <a:ea typeface="Nunito"/>
                <a:cs typeface="Nunito"/>
                <a:sym typeface="Nunito"/>
              </a:rPr>
              <a:t>latam_income_population_targets.csv</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Finalmente, el </a:t>
            </a:r>
            <a:r>
              <a:rPr b="1" lang="en" sz="1400">
                <a:solidFill>
                  <a:srgbClr val="188038"/>
                </a:solidFill>
                <a:latin typeface="Nunito"/>
                <a:ea typeface="Nunito"/>
                <a:cs typeface="Nunito"/>
                <a:sym typeface="Nunito"/>
              </a:rPr>
              <a:t>04_2e</a:t>
            </a:r>
            <a:r>
              <a:rPr lang="en" sz="1400">
                <a:solidFill>
                  <a:schemeClr val="dk1"/>
                </a:solidFill>
                <a:latin typeface="Nunito"/>
                <a:ea typeface="Nunito"/>
                <a:cs typeface="Nunito"/>
                <a:sym typeface="Nunito"/>
              </a:rPr>
              <a:t> utiliza ambos archivos. Compara la distribución de ingresos disponible en la muestra con la distribución objetivo y calcula las probabilidades de selección correspondientes. Después genera 1.000 réplicas bootstrap, manteniendo el tamaño de muestra establecido para cada país.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Cada réplica latinoamericana contiene </a:t>
            </a:r>
            <a:r>
              <a:rPr b="1" lang="en" sz="1400">
                <a:solidFill>
                  <a:schemeClr val="dk1"/>
                </a:solidFill>
                <a:latin typeface="Nunito"/>
                <a:ea typeface="Nunito"/>
                <a:cs typeface="Nunito"/>
                <a:sym typeface="Nunito"/>
              </a:rPr>
              <a:t>608 selecciones en total</a:t>
            </a:r>
            <a:r>
              <a:rPr lang="en" sz="1400">
                <a:solidFill>
                  <a:schemeClr val="dk1"/>
                </a:solidFill>
                <a:latin typeface="Nunito"/>
                <a:ea typeface="Nunito"/>
                <a:cs typeface="Nunito"/>
                <a:sym typeface="Nunito"/>
              </a:rPr>
              <a:t>. El archivo principal es </a:t>
            </a:r>
            <a:r>
              <a:rPr lang="en" sz="1400">
                <a:solidFill>
                  <a:srgbClr val="188038"/>
                </a:solidFill>
                <a:latin typeface="Nunito"/>
                <a:ea typeface="Nunito"/>
                <a:cs typeface="Nunito"/>
                <a:sym typeface="Nunito"/>
              </a:rPr>
              <a:t>bootstrap_samples_index_latam_income.csv</a:t>
            </a:r>
            <a:r>
              <a:rPr lang="en" sz="1400">
                <a:solidFill>
                  <a:schemeClr val="dk1"/>
                </a:solidFill>
                <a:latin typeface="Nunito"/>
                <a:ea typeface="Nunito"/>
                <a:cs typeface="Nunito"/>
                <a:sym typeface="Nunito"/>
              </a:rPr>
              <a:t>, donde podemos consultar qué participantes se seleccionan en cada réplica.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Este índice es el que utilizaremos posteriormente para combinar LATAM con el bootstrap europeo.</a:t>
            </a:r>
            <a:endParaRPr sz="1400">
              <a:solidFill>
                <a:schemeClr val="dk1"/>
              </a:solidFill>
              <a:latin typeface="Nunito"/>
              <a:ea typeface="Nunito"/>
              <a:cs typeface="Nunito"/>
              <a:sym typeface="Nunito"/>
            </a:endParaRPr>
          </a:p>
          <a:p>
            <a:pPr indent="0" lvl="0" marL="0" rtl="0" algn="l">
              <a:lnSpc>
                <a:spcPct val="115000"/>
              </a:lnSpc>
              <a:spcBef>
                <a:spcPts val="1400"/>
              </a:spcBef>
              <a:spcAft>
                <a:spcPts val="0"/>
              </a:spcAft>
              <a:buClr>
                <a:schemeClr val="dk1"/>
              </a:buClr>
              <a:buSzPts val="1100"/>
              <a:buFont typeface="Arial"/>
              <a:buNone/>
            </a:pPr>
            <a:r>
              <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Los participantes sin un ingreso válido no se utilizan para calcular los pesos económicos. Además, si un tramo de ingreso no tiene participantes disponibles en un país, no se generan individuos ficticios: su proporción objetivo se redistribuye entre los tramos que sí tienen participantes</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412c17598e8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g412c17598e8_0_6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412c17598e8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g412c17598e8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latin typeface="Nunito"/>
                <a:ea typeface="Nunito"/>
                <a:cs typeface="Nunito"/>
                <a:sym typeface="Nunito"/>
              </a:rPr>
              <a:t>COLOMBIA:</a:t>
            </a:r>
            <a:endParaRPr sz="1400">
              <a:latin typeface="Nunito"/>
              <a:ea typeface="Nunito"/>
              <a:cs typeface="Nunito"/>
              <a:sym typeface="Nunito"/>
            </a:endParaRPr>
          </a:p>
          <a:p>
            <a:pPr indent="0" lvl="0" marL="0" rtl="0" algn="l">
              <a:lnSpc>
                <a:spcPct val="100000"/>
              </a:lnSpc>
              <a:spcBef>
                <a:spcPts val="0"/>
              </a:spcBef>
              <a:spcAft>
                <a:spcPts val="0"/>
              </a:spcAft>
              <a:buSzPts val="1100"/>
              <a:buNone/>
            </a:pPr>
            <a:r>
              <a:rPr lang="en" sz="1400">
                <a:solidFill>
                  <a:schemeClr val="dk1"/>
                </a:solidFill>
                <a:latin typeface="Nunito"/>
                <a:ea typeface="Nunito"/>
                <a:cs typeface="Nunito"/>
                <a:sym typeface="Nunito"/>
              </a:rPr>
              <a:t>Partíamos de 13 participantes colombianos utilizables para clustering, pero únicamente 3 habían declarado un ingreso válido: dos en el tramo inferior a 15.000 y uno en el tramo de 15.000–30.000.</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script </a:t>
            </a:r>
            <a:r>
              <a:rPr lang="en" sz="1400">
                <a:solidFill>
                  <a:srgbClr val="188038"/>
                </a:solidFill>
                <a:latin typeface="Nunito"/>
                <a:ea typeface="Nunito"/>
                <a:cs typeface="Nunito"/>
                <a:sym typeface="Nunito"/>
              </a:rPr>
              <a:t>04_2e</a:t>
            </a:r>
            <a:r>
              <a:rPr lang="en" sz="1400">
                <a:solidFill>
                  <a:schemeClr val="dk1"/>
                </a:solidFill>
                <a:latin typeface="Nunito"/>
                <a:ea typeface="Nunito"/>
                <a:cs typeface="Nunito"/>
                <a:sym typeface="Nunito"/>
              </a:rPr>
              <a:t> hace lo siguiente:</a:t>
            </a:r>
            <a:endParaRPr sz="1400">
              <a:solidFill>
                <a:schemeClr val="dk1"/>
              </a:solidFill>
              <a:latin typeface="Nunito"/>
              <a:ea typeface="Nunito"/>
              <a:cs typeface="Nunito"/>
              <a:sym typeface="Nunito"/>
            </a:endParaRPr>
          </a:p>
          <a:p>
            <a:pPr indent="-317500" lvl="0" marL="457200" rtl="0" algn="l">
              <a:lnSpc>
                <a:spcPct val="115000"/>
              </a:lnSpc>
              <a:spcBef>
                <a:spcPts val="1200"/>
              </a:spcBef>
              <a:spcAft>
                <a:spcPts val="0"/>
              </a:spcAft>
              <a:buClr>
                <a:schemeClr val="dk1"/>
              </a:buClr>
              <a:buSzPts val="1400"/>
              <a:buFont typeface="Nunito"/>
              <a:buAutoNum type="arabicPeriod"/>
            </a:pPr>
            <a:r>
              <a:rPr lang="en" sz="1400">
                <a:solidFill>
                  <a:schemeClr val="dk1"/>
                </a:solidFill>
                <a:latin typeface="Nunito"/>
                <a:ea typeface="Nunito"/>
                <a:cs typeface="Nunito"/>
                <a:sym typeface="Nunito"/>
              </a:rPr>
              <a:t>Excluye del remuestreo económico a los 10 participantes sin ingreso válido. No se les asigna un ingreso estimado.</a:t>
            </a:r>
            <a:endParaRPr sz="1400">
              <a:solidFill>
                <a:schemeClr val="dk1"/>
              </a:solidFill>
              <a:latin typeface="Nunito"/>
              <a:ea typeface="Nunito"/>
              <a:cs typeface="Nunito"/>
              <a:sym typeface="Nunito"/>
            </a:endParaRPr>
          </a:p>
          <a:p>
            <a:pPr indent="-317500" lvl="0" marL="457200" rtl="0" algn="l">
              <a:lnSpc>
                <a:spcPct val="115000"/>
              </a:lnSpc>
              <a:spcBef>
                <a:spcPts val="0"/>
              </a:spcBef>
              <a:spcAft>
                <a:spcPts val="0"/>
              </a:spcAft>
              <a:buClr>
                <a:schemeClr val="dk1"/>
              </a:buClr>
              <a:buSzPts val="1400"/>
              <a:buFont typeface="Nunito"/>
              <a:buAutoNum type="arabicPeriod"/>
            </a:pPr>
            <a:r>
              <a:rPr lang="en" sz="1400">
                <a:solidFill>
                  <a:schemeClr val="dk1"/>
                </a:solidFill>
                <a:latin typeface="Nunito"/>
                <a:ea typeface="Nunito"/>
                <a:cs typeface="Nunito"/>
                <a:sym typeface="Nunito"/>
              </a:rPr>
              <a:t>Redistribuye los porcentajes objetivo de los tres tramos superiores, porque no hay ningún participante colombiano disponible en ellos. La distribución objetivo efectiva queda aproximadamente en un 91,65 % para el tramo inferior a 15.000 y un 8,35 % para el tramo de 15.000–30.000.</a:t>
            </a:r>
            <a:endParaRPr sz="1400">
              <a:solidFill>
                <a:schemeClr val="dk1"/>
              </a:solidFill>
              <a:latin typeface="Nunito"/>
              <a:ea typeface="Nunito"/>
              <a:cs typeface="Nunito"/>
              <a:sym typeface="Nunito"/>
            </a:endParaRPr>
          </a:p>
          <a:p>
            <a:pPr indent="-317500" lvl="0" marL="457200" rtl="0" algn="l">
              <a:lnSpc>
                <a:spcPct val="115000"/>
              </a:lnSpc>
              <a:spcBef>
                <a:spcPts val="0"/>
              </a:spcBef>
              <a:spcAft>
                <a:spcPts val="0"/>
              </a:spcAft>
              <a:buClr>
                <a:schemeClr val="dk1"/>
              </a:buClr>
              <a:buSzPts val="1400"/>
              <a:buFont typeface="Nunito"/>
              <a:buAutoNum type="arabicPeriod"/>
            </a:pPr>
            <a:r>
              <a:rPr lang="en" sz="1400">
                <a:solidFill>
                  <a:schemeClr val="dk1"/>
                </a:solidFill>
                <a:latin typeface="Nunito"/>
                <a:ea typeface="Nunito"/>
                <a:cs typeface="Nunito"/>
                <a:sym typeface="Nunito"/>
              </a:rPr>
              <a:t>Genera 13 selecciones colombianas por réplica, con reemplazo, a partir de esas 3 personas. Es decir, una misma persona puede aparecer varias veces dentro de una réplica.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tanto, las 13 selecciones de Colombia no representan a 13 personas diferentes: proceden exclusivamente de los tres participantes con ingresos conocidos.</a:t>
            </a:r>
            <a:endParaRPr sz="1400">
              <a:solidFill>
                <a:schemeClr val="dk1"/>
              </a:solidFill>
              <a:latin typeface="Nunito"/>
              <a:ea typeface="Nunito"/>
              <a:cs typeface="Nunito"/>
              <a:sym typeface="Nunito"/>
            </a:endParaRPr>
          </a:p>
          <a:p>
            <a:pPr indent="0" lvl="0" marL="0" rtl="0" algn="l">
              <a:lnSpc>
                <a:spcPct val="115000"/>
              </a:lnSpc>
              <a:spcBef>
                <a:spcPts val="1400"/>
              </a:spcBef>
              <a:spcAft>
                <a:spcPts val="0"/>
              </a:spcAft>
              <a:buClr>
                <a:schemeClr val="dk1"/>
              </a:buClr>
              <a:buSzPts val="1100"/>
              <a:buFont typeface="Arial"/>
              <a:buNone/>
            </a:pPr>
            <a:r>
              <a:rPr lang="en" sz="1400">
                <a:solidFill>
                  <a:schemeClr val="dk1"/>
                </a:solidFill>
                <a:latin typeface="Nunito"/>
                <a:ea typeface="Nunito"/>
                <a:cs typeface="Nunito"/>
                <a:sym typeface="Nunito"/>
              </a:rPr>
              <a:t>¿Es un </a:t>
            </a:r>
            <a:r>
              <a:rPr b="1" lang="en" sz="1400">
                <a:solidFill>
                  <a:schemeClr val="dk1"/>
                </a:solidFill>
                <a:latin typeface="Nunito"/>
                <a:ea typeface="Nunito"/>
                <a:cs typeface="Nunito"/>
                <a:sym typeface="Nunito"/>
              </a:rPr>
              <a:t>problema</a:t>
            </a:r>
            <a:r>
              <a:rPr lang="en" sz="1400">
                <a:solidFill>
                  <a:schemeClr val="dk1"/>
                </a:solidFill>
                <a:latin typeface="Nunito"/>
                <a:ea typeface="Nunito"/>
                <a:cs typeface="Nunito"/>
                <a:sym typeface="Nunito"/>
              </a:rPr>
              <a:t> para los resultados?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Sí, es una limitación metodológica relevante.</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412c17598e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g412c17598e8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Hasta aquí hemos construido dos conjuntos de réplicas independientes: el europeo, con una corrección electoral, y el latinoamericano, con un remuestreo basado en ingresos.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script </a:t>
            </a:r>
            <a:r>
              <a:rPr lang="en" sz="1400">
                <a:solidFill>
                  <a:srgbClr val="188038"/>
                </a:solidFill>
                <a:latin typeface="Nunito"/>
                <a:ea typeface="Nunito"/>
                <a:cs typeface="Nunito"/>
                <a:sym typeface="Nunito"/>
              </a:rPr>
              <a:t>04_2f</a:t>
            </a:r>
            <a:r>
              <a:rPr lang="en" sz="1400">
                <a:solidFill>
                  <a:schemeClr val="dk1"/>
                </a:solidFill>
                <a:latin typeface="Nunito"/>
                <a:ea typeface="Nunito"/>
                <a:cs typeface="Nunito"/>
                <a:sym typeface="Nunito"/>
              </a:rPr>
              <a:t> se encarga de unirlos. Para hacerlo, toma la réplica europea número uno(gracias al bootstrap ID))y la combina con la réplica latinoamericana número uno; después hace lo mismo con la número dos, y así sucesivamente hasta completar las mil.</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 importante señalar que en este paso no se vuelven a seleccionar participantes. Simplemente se conservan las selecciones que ya hemos generado para cada región.</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De esta forma, cada réplica COMPLETE contiene 1.000 selecciones europeas y 608 latinoamericanas, es decir, 1.608 selecciones en total.</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resultado se guarda en </a:t>
            </a:r>
            <a:r>
              <a:rPr lang="en" sz="1400">
                <a:solidFill>
                  <a:srgbClr val="188038"/>
                </a:solidFill>
                <a:latin typeface="Nunito"/>
                <a:ea typeface="Nunito"/>
                <a:cs typeface="Nunito"/>
                <a:sym typeface="Nunito"/>
              </a:rPr>
              <a:t>bootstrap_samples_index.csv.gz</a:t>
            </a:r>
            <a:r>
              <a:rPr lang="en" sz="1400">
                <a:solidFill>
                  <a:schemeClr val="dk1"/>
                </a:solidFill>
                <a:latin typeface="Nunito"/>
                <a:ea typeface="Nunito"/>
                <a:cs typeface="Nunito"/>
                <a:sym typeface="Nunito"/>
              </a:rPr>
              <a:t>. Este es uno de los archivos fundamentales del proyecto porque contiene los índices de las réplicas combinadas que utilizaremos después para construir y analizar las matrices.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Por último, la composición de COMPLETE responde a los tamaños que fijamos para cada región. No debemos interpretar esta unión como una ponderación de Europa y Latinoamérica según su población real</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NO TIENE TODOS LOS DATOS SOLO IDX</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412c17598e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g412c17598e8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Una vez unidos los bootstraps europeo y latinoamericano, utilizamos estos dos scripts para comprobar y visualizar cómo han quedado las muestras.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a:t>
            </a:r>
            <a:r>
              <a:rPr lang="en" sz="1400">
                <a:solidFill>
                  <a:srgbClr val="188038"/>
                </a:solidFill>
                <a:latin typeface="Nunito"/>
                <a:ea typeface="Nunito"/>
                <a:cs typeface="Nunito"/>
                <a:sym typeface="Nunito"/>
              </a:rPr>
              <a:t>04_2g</a:t>
            </a:r>
            <a:r>
              <a:rPr lang="en" sz="1400">
                <a:solidFill>
                  <a:schemeClr val="dk1"/>
                </a:solidFill>
                <a:latin typeface="Nunito"/>
                <a:ea typeface="Nunito"/>
                <a:cs typeface="Nunito"/>
                <a:sym typeface="Nunito"/>
              </a:rPr>
              <a:t> verifica que la estructura del bootstrap sea coherente y resume las distribuciones de las variables disponibles. El </a:t>
            </a:r>
            <a:r>
              <a:rPr lang="en" sz="1400">
                <a:solidFill>
                  <a:srgbClr val="188038"/>
                </a:solidFill>
                <a:latin typeface="Nunito"/>
                <a:ea typeface="Nunito"/>
                <a:cs typeface="Nunito"/>
                <a:sym typeface="Nunito"/>
              </a:rPr>
              <a:t>04_2h</a:t>
            </a:r>
            <a:r>
              <a:rPr lang="en" sz="1400">
                <a:solidFill>
                  <a:schemeClr val="dk1"/>
                </a:solidFill>
                <a:latin typeface="Nunito"/>
                <a:ea typeface="Nunito"/>
                <a:cs typeface="Nunito"/>
                <a:sym typeface="Nunito"/>
              </a:rPr>
              <a:t> representa mediante boxplots cómo varían esas distribuciones entre las mil réplicas.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Aquí he incluido un ejemplo de cada script para que sepáis qué tipo de gráficos podéis encontrar en sus carpetas. </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son análisis descriptivos y controles del bootstrap que ya hemos construido».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Después de esta diapositiva pasamos directamente a </a:t>
            </a:r>
            <a:r>
              <a:rPr lang="en" sz="1400">
                <a:solidFill>
                  <a:srgbClr val="188038"/>
                </a:solidFill>
                <a:latin typeface="Nunito"/>
                <a:ea typeface="Nunito"/>
                <a:cs typeface="Nunito"/>
                <a:sym typeface="Nunito"/>
              </a:rPr>
              <a:t>05_clustering_matrices.R</a:t>
            </a:r>
            <a:r>
              <a:rPr lang="en" sz="1400">
                <a:solidFill>
                  <a:schemeClr val="dk1"/>
                </a:solidFill>
                <a:latin typeface="Nunito"/>
                <a:ea typeface="Nunito"/>
                <a:cs typeface="Nunito"/>
                <a:sym typeface="Nunito"/>
              </a:rPr>
              <a:t>: cómo transformamos los 32 determinantes y construimos RAW, POS, EXT y Z_ABS.</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b="1" sz="1400">
              <a:solidFill>
                <a:schemeClr val="dk1"/>
              </a:solidFill>
              <a:latin typeface="Nunito"/>
              <a:ea typeface="Nunito"/>
              <a:cs typeface="Nunito"/>
              <a:sym typeface="Nuni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412c17598e8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g412c17598e8_0_7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412c17598e8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g412c17598e8_0_7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412c17598e8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g412c17598e8_0_7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412c17598e8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g412c17598e8_0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Nunito"/>
                <a:ea typeface="Nunito"/>
                <a:cs typeface="Nunito"/>
                <a:sym typeface="Nunito"/>
              </a:rPr>
              <a:t>Hasta ahora hemos explicado cómo construimos las 1.000 réplicas bootstrap de Europa y Latinoamérica. Sin embargo, hay algo importante que aclarar: </a:t>
            </a:r>
            <a:r>
              <a:rPr b="1" lang="en" sz="1500">
                <a:solidFill>
                  <a:schemeClr val="dk1"/>
                </a:solidFill>
                <a:latin typeface="Nunito"/>
                <a:ea typeface="Nunito"/>
                <a:cs typeface="Nunito"/>
                <a:sym typeface="Nunito"/>
              </a:rPr>
              <a:t>las matrices no se construyen directamente sobre esas réplicas</a:t>
            </a:r>
            <a:r>
              <a:rPr lang="en" sz="1500">
                <a:solidFill>
                  <a:schemeClr val="dk1"/>
                </a:solidFill>
                <a:latin typeface="Nunito"/>
                <a:ea typeface="Nunito"/>
                <a:cs typeface="Nunito"/>
                <a:sym typeface="Nunito"/>
              </a:rPr>
              <a:t>.</a:t>
            </a:r>
            <a:endParaRPr sz="15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Nunito"/>
                <a:ea typeface="Nunito"/>
                <a:cs typeface="Nunito"/>
                <a:sym typeface="Nunito"/>
              </a:rPr>
              <a:t>El script </a:t>
            </a:r>
            <a:r>
              <a:rPr lang="en" sz="1500">
                <a:solidFill>
                  <a:srgbClr val="188038"/>
                </a:solidFill>
                <a:latin typeface="Nunito"/>
                <a:ea typeface="Nunito"/>
                <a:cs typeface="Nunito"/>
                <a:sym typeface="Nunito"/>
              </a:rPr>
              <a:t>05_clustering_matrices.R</a:t>
            </a:r>
            <a:r>
              <a:rPr lang="en" sz="1500">
                <a:solidFill>
                  <a:schemeClr val="dk1"/>
                </a:solidFill>
                <a:latin typeface="Nunito"/>
                <a:ea typeface="Nunito"/>
                <a:cs typeface="Nunito"/>
                <a:sym typeface="Nunito"/>
              </a:rPr>
              <a:t> parte de </a:t>
            </a:r>
            <a:r>
              <a:rPr lang="en" sz="1500">
                <a:solidFill>
                  <a:srgbClr val="188038"/>
                </a:solidFill>
                <a:latin typeface="Nunito"/>
                <a:ea typeface="Nunito"/>
                <a:cs typeface="Nunito"/>
                <a:sym typeface="Nunito"/>
              </a:rPr>
              <a:t>matrix_32det_for_clustering.csv</a:t>
            </a:r>
            <a:r>
              <a:rPr lang="en" sz="1500">
                <a:solidFill>
                  <a:schemeClr val="dk1"/>
                </a:solidFill>
                <a:latin typeface="Nunito"/>
                <a:ea typeface="Nunito"/>
                <a:cs typeface="Nunito"/>
                <a:sym typeface="Nunito"/>
              </a:rPr>
              <a:t>, que contiene los participantes originales que superaron el control de calidad. Cada participante aparece una sola vez.</a:t>
            </a:r>
            <a:endParaRPr sz="15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Nunito"/>
                <a:ea typeface="Nunito"/>
                <a:cs typeface="Nunito"/>
                <a:sym typeface="Nunito"/>
              </a:rPr>
              <a:t>A partir de sus 32 determinantes, el script genera cuatro representaciones diferentes: RAW, POS, EXT y Z_ABS. Además, construye matrices agregadas de nueve dimensiones y guarda los archivos correspondientes a COMPLETE, EUROPE, LATAM y cada una de las fuentes.</a:t>
            </a:r>
            <a:endParaRPr sz="15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Nunito"/>
                <a:ea typeface="Nunito"/>
                <a:cs typeface="Nunito"/>
                <a:sym typeface="Nunito"/>
              </a:rPr>
              <a:t>Aquí, </a:t>
            </a:r>
            <a:r>
              <a:rPr b="1" lang="en" sz="1500">
                <a:solidFill>
                  <a:schemeClr val="dk1"/>
                </a:solidFill>
                <a:latin typeface="Nunito"/>
                <a:ea typeface="Nunito"/>
                <a:cs typeface="Nunito"/>
                <a:sym typeface="Nunito"/>
              </a:rPr>
              <a:t>COMPLETE se refiere al conjunto de participantes originales utilizables para clustering</a:t>
            </a:r>
            <a:r>
              <a:rPr lang="en" sz="1500">
                <a:solidFill>
                  <a:schemeClr val="dk1"/>
                </a:solidFill>
                <a:latin typeface="Nunito"/>
                <a:ea typeface="Nunito"/>
                <a:cs typeface="Nunito"/>
                <a:sym typeface="Nunito"/>
              </a:rPr>
              <a:t>, no a las 1.608 selecciones que contiene cada réplica COMPLETE del bootstrap.</a:t>
            </a:r>
            <a:endParaRPr sz="15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Nunito"/>
                <a:ea typeface="Nunito"/>
                <a:cs typeface="Nunito"/>
                <a:sym typeface="Nunito"/>
              </a:rPr>
              <a:t>Una vez construidas y guardadas las matrices, pasamos a los modelos. Es en los scripts de K-means y EFA donde utilizamos </a:t>
            </a:r>
            <a:r>
              <a:rPr lang="en" sz="1500">
                <a:solidFill>
                  <a:srgbClr val="188038"/>
                </a:solidFill>
                <a:latin typeface="Nunito"/>
                <a:ea typeface="Nunito"/>
                <a:cs typeface="Nunito"/>
                <a:sym typeface="Nunito"/>
              </a:rPr>
              <a:t>bootstrap_samples_index.csv.gz</a:t>
            </a:r>
            <a:r>
              <a:rPr lang="en" sz="1500">
                <a:solidFill>
                  <a:schemeClr val="dk1"/>
                </a:solidFill>
                <a:latin typeface="Nunito"/>
                <a:ea typeface="Nunito"/>
                <a:cs typeface="Nunito"/>
                <a:sym typeface="Nunito"/>
              </a:rPr>
              <a:t>: para cada </a:t>
            </a:r>
            <a:r>
              <a:rPr lang="en" sz="1500">
                <a:solidFill>
                  <a:srgbClr val="188038"/>
                </a:solidFill>
                <a:latin typeface="Nunito"/>
                <a:ea typeface="Nunito"/>
                <a:cs typeface="Nunito"/>
                <a:sym typeface="Nunito"/>
              </a:rPr>
              <a:t>bootstrap_id</a:t>
            </a:r>
            <a:r>
              <a:rPr lang="en" sz="1500">
                <a:solidFill>
                  <a:schemeClr val="dk1"/>
                </a:solidFill>
                <a:latin typeface="Nunito"/>
                <a:ea typeface="Nunito"/>
                <a:cs typeface="Nunito"/>
                <a:sym typeface="Nunito"/>
              </a:rPr>
              <a:t>, recuperamos los identificadores de los participantes seleccionados y tomamos sus filas de las matrices que ya están transformadas.</a:t>
            </a:r>
            <a:endParaRPr sz="15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Nunito"/>
                <a:ea typeface="Nunito"/>
                <a:cs typeface="Nunito"/>
                <a:sym typeface="Nunito"/>
              </a:rPr>
              <a:t>Si una persona aparece varias veces dentro de una réplica, su fila de la matriz se selecciona varias veces. </a:t>
            </a:r>
            <a:r>
              <a:rPr b="1" lang="en" sz="1500">
                <a:solidFill>
                  <a:schemeClr val="dk1"/>
                </a:solidFill>
                <a:latin typeface="Nunito"/>
                <a:ea typeface="Nunito"/>
                <a:cs typeface="Nunito"/>
                <a:sym typeface="Nunito"/>
              </a:rPr>
              <a:t>No volvemos a calcular las transformaciones en cada réplica; reutilizamos las matrices preparadas en el script </a:t>
            </a:r>
            <a:r>
              <a:rPr b="1" lang="en" sz="1500">
                <a:solidFill>
                  <a:srgbClr val="188038"/>
                </a:solidFill>
                <a:latin typeface="Nunito"/>
                <a:ea typeface="Nunito"/>
                <a:cs typeface="Nunito"/>
                <a:sym typeface="Nunito"/>
              </a:rPr>
              <a:t>05</a:t>
            </a:r>
            <a:r>
              <a:rPr b="1" lang="en" sz="1500">
                <a:solidFill>
                  <a:schemeClr val="dk1"/>
                </a:solidFill>
                <a:latin typeface="Nunito"/>
                <a:ea typeface="Nunito"/>
                <a:cs typeface="Nunito"/>
                <a:sym typeface="Nunito"/>
              </a:rPr>
              <a:t>.</a:t>
            </a:r>
            <a:endParaRPr b="1" sz="15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Nunito"/>
                <a:ea typeface="Nunito"/>
                <a:cs typeface="Nunito"/>
                <a:sym typeface="Nunito"/>
              </a:rPr>
              <a:t>Por tanto, tenemos dos elementos distintos que se combinan en los análisis posteriores: por un lado, las matrices con los valores transformados de los participantes y, por otro, el índice bootstrap, que indica qué filas utilizar en cada réplica</a:t>
            </a:r>
            <a:endParaRPr sz="15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500">
              <a:latin typeface="Nunito"/>
              <a:ea typeface="Nunito"/>
              <a:cs typeface="Nunito"/>
              <a:sym typeface="Nuni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412c17598e8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g412c17598e8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Hasta ahora hemos explicado cómo construimos las 1.000 réplicas bootstrap de Europa y Latinoamérica. Sin embargo, hay algo importante que aclarar: </a:t>
            </a:r>
            <a:r>
              <a:rPr b="1" lang="en" sz="1400">
                <a:solidFill>
                  <a:schemeClr val="dk1"/>
                </a:solidFill>
                <a:latin typeface="Nunito"/>
                <a:ea typeface="Nunito"/>
                <a:cs typeface="Nunito"/>
                <a:sym typeface="Nunito"/>
              </a:rPr>
              <a:t>las matrices no se construyen directamente sobre esas réplicas</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45720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script </a:t>
            </a:r>
            <a:r>
              <a:rPr lang="en" sz="1400">
                <a:solidFill>
                  <a:srgbClr val="188038"/>
                </a:solidFill>
                <a:latin typeface="Nunito"/>
                <a:ea typeface="Nunito"/>
                <a:cs typeface="Nunito"/>
                <a:sym typeface="Nunito"/>
              </a:rPr>
              <a:t>05_clustering_matrices.R</a:t>
            </a:r>
            <a:r>
              <a:rPr lang="en" sz="1400">
                <a:solidFill>
                  <a:schemeClr val="dk1"/>
                </a:solidFill>
                <a:latin typeface="Nunito"/>
                <a:ea typeface="Nunito"/>
                <a:cs typeface="Nunito"/>
                <a:sym typeface="Nunito"/>
              </a:rPr>
              <a:t> parte de </a:t>
            </a:r>
            <a:r>
              <a:rPr lang="en" sz="1400">
                <a:solidFill>
                  <a:srgbClr val="188038"/>
                </a:solidFill>
                <a:latin typeface="Nunito"/>
                <a:ea typeface="Nunito"/>
                <a:cs typeface="Nunito"/>
                <a:sym typeface="Nunito"/>
              </a:rPr>
              <a:t>matrix_32det_for_clustering.csv</a:t>
            </a:r>
            <a:r>
              <a:rPr lang="en" sz="1400">
                <a:solidFill>
                  <a:schemeClr val="dk1"/>
                </a:solidFill>
                <a:latin typeface="Nunito"/>
                <a:ea typeface="Nunito"/>
                <a:cs typeface="Nunito"/>
                <a:sym typeface="Nunito"/>
              </a:rPr>
              <a:t>, que contiene los participantes originales que superaron el control de calidad. Cada participante aparece una sola vez.</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 partir de sus 32 determinantes, el script genera cuatro representaciones diferentes: RAW, POS, EXT y Z_ABS. Además, construye matrices agregadas de nueve dimensiones y guarda los archivos correspondientes a COMPLETE, EUROPE, LATAM y cada una de las fuentes.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Aquí, </a:t>
            </a:r>
            <a:r>
              <a:rPr b="1" lang="en" sz="1400">
                <a:solidFill>
                  <a:schemeClr val="dk1"/>
                </a:solidFill>
                <a:latin typeface="Nunito"/>
                <a:ea typeface="Nunito"/>
                <a:cs typeface="Nunito"/>
                <a:sym typeface="Nunito"/>
              </a:rPr>
              <a:t>COMPLETE se refiere al conjunto de participantes originales utilizables para clustering</a:t>
            </a:r>
            <a:r>
              <a:rPr lang="en" sz="1400">
                <a:solidFill>
                  <a:schemeClr val="dk1"/>
                </a:solidFill>
                <a:latin typeface="Nunito"/>
                <a:ea typeface="Nunito"/>
                <a:cs typeface="Nunito"/>
                <a:sym typeface="Nunito"/>
              </a:rPr>
              <a:t>, no a las 1.608 selecciones que contiene cada réplica COMPLETE del bootstrap.</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Una vez construidas y guardadas las matrices, pasamos a los modelos. Es en los scripts de K-means y EFA donde utilizamos </a:t>
            </a:r>
            <a:r>
              <a:rPr b="1" lang="en" sz="1400">
                <a:solidFill>
                  <a:srgbClr val="188038"/>
                </a:solidFill>
                <a:latin typeface="Nunito"/>
                <a:ea typeface="Nunito"/>
                <a:cs typeface="Nunito"/>
                <a:sym typeface="Nunito"/>
              </a:rPr>
              <a:t>bootstrap_samples_index.csv.gz</a:t>
            </a:r>
            <a:r>
              <a:rPr b="1" lang="en" sz="1400">
                <a:solidFill>
                  <a:schemeClr val="dk1"/>
                </a:solidFill>
                <a:latin typeface="Nunito"/>
                <a:ea typeface="Nunito"/>
                <a:cs typeface="Nunito"/>
                <a:sym typeface="Nunito"/>
              </a:rPr>
              <a:t>: para cada </a:t>
            </a:r>
            <a:r>
              <a:rPr b="1" lang="en" sz="1400">
                <a:solidFill>
                  <a:srgbClr val="188038"/>
                </a:solidFill>
                <a:latin typeface="Nunito"/>
                <a:ea typeface="Nunito"/>
                <a:cs typeface="Nunito"/>
                <a:sym typeface="Nunito"/>
              </a:rPr>
              <a:t>bootstrap_id</a:t>
            </a:r>
            <a:r>
              <a:rPr b="1" lang="en" sz="1400">
                <a:solidFill>
                  <a:schemeClr val="dk1"/>
                </a:solidFill>
                <a:latin typeface="Nunito"/>
                <a:ea typeface="Nunito"/>
                <a:cs typeface="Nunito"/>
                <a:sym typeface="Nunito"/>
              </a:rPr>
              <a:t>, recuperamos los identificadores de los participantes seleccionados y tomamos sus filas de las matrices que ya están transformadas.</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Si una persona aparece varias veces dentro de una réplica, su fila de la matriz se selecciona varias veces. </a:t>
            </a:r>
            <a:r>
              <a:rPr b="1" lang="en" sz="1400">
                <a:solidFill>
                  <a:schemeClr val="dk1"/>
                </a:solidFill>
                <a:latin typeface="Nunito"/>
                <a:ea typeface="Nunito"/>
                <a:cs typeface="Nunito"/>
                <a:sym typeface="Nunito"/>
              </a:rPr>
              <a:t>No volvemos a calcular las transformaciones en cada réplica; reutilizamos las matrices preparadas en el script </a:t>
            </a:r>
            <a:r>
              <a:rPr b="1" lang="en" sz="1400">
                <a:solidFill>
                  <a:srgbClr val="188038"/>
                </a:solidFill>
                <a:latin typeface="Nunito"/>
                <a:ea typeface="Nunito"/>
                <a:cs typeface="Nunito"/>
                <a:sym typeface="Nunito"/>
              </a:rPr>
              <a:t>05</a:t>
            </a:r>
            <a:r>
              <a:rPr b="1" lang="en" sz="1400">
                <a:solidFill>
                  <a:schemeClr val="dk1"/>
                </a:solidFill>
                <a:latin typeface="Nunito"/>
                <a:ea typeface="Nunito"/>
                <a:cs typeface="Nunito"/>
                <a:sym typeface="Nunito"/>
              </a:rPr>
              <a:t>.</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tanto, tenemos dos elementos distintos que se combinan en los análisis posteriores: por un lado, las matrices con los valores transformados de los participantes y, por otro, el índice bootstrap, que indica qué filas utilizar en cada réplica</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412c17598e8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5" name="Google Shape;545;g412c17598e8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412c17598e8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4" name="Google Shape;554;g412c17598e8_0_7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412c17598e8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2" name="Google Shape;562;g412c17598e8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Una vez construidas las cuatro matrices, empezamos a aplicar los dos métodos de análisis: K-means y EFA.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Aunque ambos trabajan con los 32 determinantes, </a:t>
            </a:r>
            <a:r>
              <a:rPr b="1" lang="en" sz="1400">
                <a:solidFill>
                  <a:schemeClr val="dk1"/>
                </a:solidFill>
                <a:latin typeface="Nunito"/>
                <a:ea typeface="Nunito"/>
                <a:cs typeface="Nunito"/>
                <a:sym typeface="Nunito"/>
              </a:rPr>
              <a:t>no buscan exactamente lo mismo</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un lado, K-means agrupa participantes que tienen puntuaciones similares en sus determinantes. Cada participante se asigna a un cluster y cada cluster queda representado por un centroide, que recoge las puntuaciones medias de sus integrantes. Esto nos permite estudiar qué patrones de determinantes caracterizan a los distintos grupos de personas.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otro lado, EFA, o análisis factorial exploratorio, no agrupa directamente a los participantes. Lo que hace es estudiar cómo se relacionan los determinantes entre sí para identificar factores que expliquen parte de sus patrones de asociación.</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ejemplo, si varios determinantes tienden a presentar puntuaciones relacionadas, EFA puede identificar un factor común asociado a ellos. Las cargas factoriales nos indican qué relación tiene cada determinante con ese factor.</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La diferencia fundamental es que K-means produce grupos de participantes y EFA produce factores definidos por relaciones entre variables.</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Posteriormente, utilizaremos los centroides de K-means y los resultados factoriales de EFA para construir firmas de determinantes que podamos comparar y utilizar como candidatos en Greedy.</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1200"/>
              </a:spcAft>
              <a:buSzPts val="1100"/>
              <a:buNone/>
            </a:pPr>
            <a:r>
              <a:rPr lang="en" sz="1400">
                <a:solidFill>
                  <a:schemeClr val="dk1"/>
                </a:solidFill>
                <a:latin typeface="Nunito"/>
                <a:ea typeface="Nunito"/>
                <a:cs typeface="Nunito"/>
                <a:sym typeface="Nunito"/>
              </a:rPr>
              <a:t>Por eso hemos incluido los dos métodos: queremos estudiar las estructuras que aparecen tanto al agrupar personas como al analizar las relaciones entre sus determinantes</a:t>
            </a:r>
            <a:endParaRPr sz="1400">
              <a:latin typeface="Nunito"/>
              <a:ea typeface="Nunito"/>
              <a:cs typeface="Nunito"/>
              <a:sym typeface="Nuni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412c17598e8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1" name="Google Shape;571;g412c17598e8_0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Una vez construidas las matrices, pasamos al análisis de K-means, que se realiza en el script </a:t>
            </a:r>
            <a:r>
              <a:rPr lang="en" sz="1400">
                <a:solidFill>
                  <a:srgbClr val="188038"/>
                </a:solidFill>
                <a:latin typeface="Nunito"/>
                <a:ea typeface="Nunito"/>
                <a:cs typeface="Nunito"/>
                <a:sym typeface="Nunito"/>
              </a:rPr>
              <a:t>06_kmeans.R</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Este script utiliza dos entradas que hemos preparado anteriormente: por un lado, las cuatro matrices del script </a:t>
            </a:r>
            <a:r>
              <a:rPr lang="en" sz="1400">
                <a:solidFill>
                  <a:srgbClr val="188038"/>
                </a:solidFill>
                <a:latin typeface="Nunito"/>
                <a:ea typeface="Nunito"/>
                <a:cs typeface="Nunito"/>
                <a:sym typeface="Nunito"/>
              </a:rPr>
              <a:t>05</a:t>
            </a:r>
            <a:r>
              <a:rPr lang="en" sz="1400">
                <a:solidFill>
                  <a:schemeClr val="dk1"/>
                </a:solidFill>
                <a:latin typeface="Nunito"/>
                <a:ea typeface="Nunito"/>
                <a:cs typeface="Nunito"/>
                <a:sym typeface="Nunito"/>
              </a:rPr>
              <a:t> y, por otro, los índices bootstrap generados en </a:t>
            </a:r>
            <a:r>
              <a:rPr lang="en" sz="1400">
                <a:solidFill>
                  <a:srgbClr val="188038"/>
                </a:solidFill>
                <a:latin typeface="Nunito"/>
                <a:ea typeface="Nunito"/>
                <a:cs typeface="Nunito"/>
                <a:sym typeface="Nunito"/>
              </a:rPr>
              <a:t>04_2f</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Para cada réplica bootstrap, los índices indican qué participantes debemos seleccionar. El script recupera sus filas de la matriz correspondiente y, sobre esos datos, ejecuta K-means.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K representa el número de clusters que queremos formar.</a:t>
            </a:r>
            <a:r>
              <a:rPr lang="en" sz="1400">
                <a:solidFill>
                  <a:schemeClr val="dk1"/>
                </a:solidFill>
                <a:latin typeface="Nunito"/>
                <a:ea typeface="Nunito"/>
                <a:cs typeface="Nunito"/>
                <a:sym typeface="Nunito"/>
              </a:rPr>
              <a:t> No partimos de un único número de grupos, sino que probamos valores de K desde 2 hasta 8 para observar cómo cambian los resultados.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Para cada ejecución, utilizamos 25 inicializaciones. Esto significa que K-means parte de 25 configuraciones iniciales distintas y conserva la solución con menor suma de cuadrados dentro de los clusters. Además, establecemos un máximo de 100 iteraciones por inicialización.</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análisis se plantea para las siete muestras y las cuatro matrices, utilizando las 1.000 réplicas bootstrap. De esta manera, no obtenemos una única agrupación, sino que podemos estudiar cómo varían las soluciones al cambiar la muestra, la representación de los determinantes y el número de clusters.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resultado de cada ejecución incluye los </a:t>
            </a:r>
            <a:r>
              <a:rPr b="1" lang="en" sz="1400">
                <a:solidFill>
                  <a:schemeClr val="dk1"/>
                </a:solidFill>
                <a:latin typeface="Nunito"/>
                <a:ea typeface="Nunito"/>
                <a:cs typeface="Nunito"/>
                <a:sym typeface="Nunito"/>
              </a:rPr>
              <a:t>clusters</a:t>
            </a:r>
            <a:r>
              <a:rPr lang="en" sz="1400">
                <a:solidFill>
                  <a:schemeClr val="dk1"/>
                </a:solidFill>
                <a:latin typeface="Nunito"/>
                <a:ea typeface="Nunito"/>
                <a:cs typeface="Nunito"/>
                <a:sym typeface="Nunito"/>
              </a:rPr>
              <a:t>, que agrupan a los participantes, y sus </a:t>
            </a:r>
            <a:r>
              <a:rPr b="1" lang="en" sz="1400">
                <a:solidFill>
                  <a:schemeClr val="dk1"/>
                </a:solidFill>
                <a:latin typeface="Nunito"/>
                <a:ea typeface="Nunito"/>
                <a:cs typeface="Nunito"/>
                <a:sym typeface="Nunito"/>
              </a:rPr>
              <a:t>centroides</a:t>
            </a:r>
            <a:r>
              <a:rPr lang="en" sz="1400">
                <a:solidFill>
                  <a:schemeClr val="dk1"/>
                </a:solidFill>
                <a:latin typeface="Nunito"/>
                <a:ea typeface="Nunito"/>
                <a:cs typeface="Nunito"/>
                <a:sym typeface="Nunito"/>
              </a:rPr>
              <a:t>, que describen el perfil medio de cada grupo.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las siguientes diapositivas explicaré qué métricas guardamos para evaluar estas soluciones y cómo comparamos los resultados entre réplicas</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412c17598e8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g412c17598e8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412c17598e8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9" name="Google Shape;589;g412c17598e8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Aquí mostramos un ejemplo de los resultados que obtenemos con K-means. El gráfico representa cómo cambia la proporción de variabilidad entre clusters al aumentar K, para cada una de las cuatro matrices.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Estas métricas nos permiten estudiar cómo son las agrupaciones y cómo cambian según el número de clusters y la representación de los determinantes. No utilizamos este gráfico, por sí solo, para fijar una solución definitiva.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Lo que nos interesa para el siguiente paso son también los </a:t>
            </a:r>
            <a:r>
              <a:rPr b="1" lang="en" sz="1400">
                <a:solidFill>
                  <a:schemeClr val="dk1"/>
                </a:solidFill>
                <a:latin typeface="Nunito"/>
                <a:ea typeface="Nunito"/>
                <a:cs typeface="Nunito"/>
                <a:sym typeface="Nunito"/>
              </a:rPr>
              <a:t>centroides</a:t>
            </a:r>
            <a:r>
              <a:rPr lang="en" sz="1400">
                <a:solidFill>
                  <a:schemeClr val="dk1"/>
                </a:solidFill>
                <a:latin typeface="Nunito"/>
                <a:ea typeface="Nunito"/>
                <a:cs typeface="Nunito"/>
                <a:sym typeface="Nunito"/>
              </a:rPr>
              <a:t>, porque describen qué determinantes caracterizan a cada cluster. A partir de ellos construimos firmas de determinantes que después evaluamos mediante Greedy.</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tanto, </a:t>
            </a:r>
            <a:r>
              <a:rPr b="1" lang="en" sz="1400">
                <a:solidFill>
                  <a:schemeClr val="dk1"/>
                </a:solidFill>
                <a:latin typeface="Nunito"/>
                <a:ea typeface="Nunito"/>
                <a:cs typeface="Nunito"/>
                <a:sym typeface="Nunito"/>
              </a:rPr>
              <a:t>K-means identifica los grupos y sus perfiles; Greedy nos permite estudiar la cobertura que conseguimos al seleccionar firmas derivadas de esos perfiles</a:t>
            </a:r>
            <a:endParaRPr b="1"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412c17598e8_0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g412c17598e8_0_8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500"/>
              <a:buFont typeface="Arial"/>
              <a:buNone/>
            </a:pPr>
            <a:r>
              <a:rPr lang="en" sz="2500">
                <a:solidFill>
                  <a:srgbClr val="15110E"/>
                </a:solidFill>
                <a:latin typeface="Alexandria Medium"/>
                <a:ea typeface="Alexandria Medium"/>
                <a:cs typeface="Alexandria Medium"/>
                <a:sym typeface="Alexandria Medium"/>
              </a:rPr>
              <a:t>K-means: perfiles obtenidos mediante los centroides</a:t>
            </a:r>
            <a:endParaRPr sz="2500">
              <a:solidFill>
                <a:srgbClr val="15110E"/>
              </a:solidFill>
              <a:latin typeface="Alexandria Medium"/>
              <a:ea typeface="Alexandria Medium"/>
              <a:cs typeface="Alexandria Medium"/>
              <a:sym typeface="Alexandria Medium"/>
            </a:endParaRPr>
          </a:p>
          <a:p>
            <a:pPr indent="0" lvl="0" marL="0" rtl="0" algn="l">
              <a:spcBef>
                <a:spcPts val="0"/>
              </a:spcBef>
              <a:spcAft>
                <a:spcPts val="0"/>
              </a:spcAft>
              <a:buSzPts val="2500"/>
              <a:buNone/>
            </a:pPr>
            <a:r>
              <a:rPr b="1" lang="en">
                <a:solidFill>
                  <a:schemeClr val="dk1"/>
                </a:solidFill>
                <a:latin typeface="Nunito"/>
                <a:ea typeface="Nunito"/>
                <a:cs typeface="Nunito"/>
                <a:sym typeface="Nunito"/>
              </a:rPr>
              <a:t>Scripts:</a:t>
            </a:r>
            <a:r>
              <a:rPr lang="en">
                <a:solidFill>
                  <a:schemeClr val="dk1"/>
                </a:solidFill>
                <a:latin typeface="Nunito"/>
                <a:ea typeface="Nunito"/>
                <a:cs typeface="Nunito"/>
                <a:sym typeface="Nunito"/>
              </a:rPr>
              <a:t> </a:t>
            </a:r>
            <a:r>
              <a:rPr lang="en">
                <a:solidFill>
                  <a:srgbClr val="188038"/>
                </a:solidFill>
                <a:latin typeface="Nunito"/>
                <a:ea typeface="Nunito"/>
                <a:cs typeface="Nunito"/>
                <a:sym typeface="Nunito"/>
              </a:rPr>
              <a:t>06_kmeans.R</a:t>
            </a:r>
            <a:r>
              <a:rPr lang="en">
                <a:solidFill>
                  <a:schemeClr val="dk1"/>
                </a:solidFill>
                <a:latin typeface="Nunito"/>
                <a:ea typeface="Nunito"/>
                <a:cs typeface="Nunito"/>
                <a:sym typeface="Nunito"/>
              </a:rPr>
              <a:t> y </a:t>
            </a:r>
            <a:r>
              <a:rPr lang="en">
                <a:solidFill>
                  <a:srgbClr val="188038"/>
                </a:solidFill>
                <a:latin typeface="Nunito"/>
                <a:ea typeface="Nunito"/>
                <a:cs typeface="Nunito"/>
                <a:sym typeface="Nunito"/>
              </a:rPr>
              <a:t>09_analysis_interpretation.R</a:t>
            </a:r>
            <a:endParaRPr>
              <a:solidFill>
                <a:srgbClr val="188038"/>
              </a:solidFill>
              <a:latin typeface="Nunito"/>
              <a:ea typeface="Nunito"/>
              <a:cs typeface="Nunito"/>
              <a:sym typeface="Nunito"/>
            </a:endParaRPr>
          </a:p>
          <a:p>
            <a:pPr indent="0" lvl="0" marL="0" rtl="0" algn="l">
              <a:spcBef>
                <a:spcPts val="0"/>
              </a:spcBef>
              <a:spcAft>
                <a:spcPts val="0"/>
              </a:spcAft>
              <a:buSzPts val="2500"/>
              <a:buNone/>
            </a:pPr>
            <a:r>
              <a:t/>
            </a:r>
            <a:endParaRPr>
              <a:solidFill>
                <a:srgbClr val="188038"/>
              </a:solidFill>
              <a:latin typeface="Nunito"/>
              <a:ea typeface="Nunito"/>
              <a:cs typeface="Nunito"/>
              <a:sym typeface="Nunito"/>
            </a:endParaRPr>
          </a:p>
          <a:p>
            <a:pPr indent="0" lvl="0" marL="0" rtl="0" algn="l">
              <a:spcBef>
                <a:spcPts val="0"/>
              </a:spcBef>
              <a:spcAft>
                <a:spcPts val="0"/>
              </a:spcAft>
              <a:buSzPts val="2500"/>
              <a:buNone/>
            </a:pPr>
            <a:r>
              <a:t/>
            </a:r>
            <a:endParaRPr sz="1400">
              <a:solidFill>
                <a:srgbClr val="188038"/>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Este mapa de calor nos permite ver el resultado de K-means más allá de las métricas que hemos presentado antes.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En este ejemplo utilizamos la muestra COMPLETE, la matriz RAW y una solución de seis clusters. Cada columna representa el perfil medio de un grupo de participantes, y cada fila corresponde a uno de los 32 determinantes.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Los tonos más claros indican puntuaciones más altas y los más oscuros, puntuaciones más bajas.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b="1" lang="en" sz="1400">
                <a:solidFill>
                  <a:schemeClr val="dk1"/>
                </a:solidFill>
                <a:latin typeface="Nunito"/>
                <a:ea typeface="Nunito"/>
                <a:cs typeface="Nunito"/>
                <a:sym typeface="Nunito"/>
              </a:rPr>
              <a:t>Por ejemplo, en el cluster 2 observamos puntuaciones relativamente altas en determinantes como beneficio económico y eficiencia de costes, mientras que otros, como presión de grupo, socialización o reconocimiento, presentan valores bajos.</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En el cluster 6 vemos puntuaciones relativamente bajas en buena parte de los determinantes, incluidos beneficio económico, confianza y seguridad.</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b="1" lang="en" sz="1400">
                <a:solidFill>
                  <a:schemeClr val="dk1"/>
                </a:solidFill>
                <a:latin typeface="Nunito"/>
                <a:ea typeface="Nunito"/>
                <a:cs typeface="Nunito"/>
                <a:sym typeface="Nunito"/>
              </a:rPr>
              <a:t>Esto nos permite estudiar qué determinantes caracterizan a cada grupo y en qué se diferencian sus perfiles medios.</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b="1" lang="en" sz="1400">
                <a:solidFill>
                  <a:schemeClr val="dk1"/>
                </a:solidFill>
                <a:latin typeface="Nunito"/>
                <a:ea typeface="Nunito"/>
                <a:cs typeface="Nunito"/>
                <a:sym typeface="Nunito"/>
              </a:rPr>
              <a:t>El siguiente paso es utilizar estos centroides para construir firmas de determinantes</a:t>
            </a:r>
            <a:r>
              <a:rPr lang="en" sz="1400">
                <a:solidFill>
                  <a:schemeClr val="dk1"/>
                </a:solidFill>
                <a:latin typeface="Nunito"/>
                <a:ea typeface="Nunito"/>
                <a:cs typeface="Nunito"/>
                <a:sym typeface="Nunito"/>
              </a:rPr>
              <a:t>, que posteriormente compararemos mediante Greedy.</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1200"/>
              </a:spcAft>
              <a:buSzPts val="1100"/>
              <a:buNone/>
            </a:pPr>
            <a:r>
              <a:rPr lang="en" sz="1400">
                <a:solidFill>
                  <a:schemeClr val="dk1"/>
                </a:solidFill>
                <a:latin typeface="Nunito"/>
                <a:ea typeface="Nunito"/>
                <a:cs typeface="Nunito"/>
                <a:sym typeface="Nunito"/>
              </a:rPr>
              <a:t>Este gráfico corresponde a la fase exploratoria de 100 réplicas bootstrap. No lo utilizamos por sí solo para establecer que seis sea el número definitivo de clusters</a:t>
            </a:r>
            <a:endParaRPr sz="1400">
              <a:solidFill>
                <a:srgbClr val="188038"/>
              </a:solidFill>
              <a:latin typeface="Nunito"/>
              <a:ea typeface="Nunito"/>
              <a:cs typeface="Nunito"/>
              <a:sym typeface="Nunito"/>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412c17598e8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g412c17598e8_0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EFA analiza las relaciones entre los 32 determinantes</a:t>
            </a:r>
            <a:r>
              <a:rPr lang="en" sz="1400">
                <a:solidFill>
                  <a:schemeClr val="dk1"/>
                </a:solidFill>
                <a:latin typeface="Nunito"/>
                <a:ea typeface="Nunito"/>
                <a:cs typeface="Nunito"/>
                <a:sym typeface="Nunito"/>
              </a:rPr>
              <a:t> para identificar factores comunes.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Para estimar los factores utilizamos </a:t>
            </a:r>
            <a:r>
              <a:rPr b="1" lang="en" sz="1400">
                <a:solidFill>
                  <a:schemeClr val="dk1"/>
                </a:solidFill>
                <a:latin typeface="Nunito"/>
                <a:ea typeface="Nunito"/>
                <a:cs typeface="Nunito"/>
                <a:sym typeface="Nunito"/>
              </a:rPr>
              <a:t>MINRES</a:t>
            </a:r>
            <a:r>
              <a:rPr lang="en" sz="1400">
                <a:solidFill>
                  <a:schemeClr val="dk1"/>
                </a:solidFill>
                <a:latin typeface="Nunito"/>
                <a:ea typeface="Nunito"/>
                <a:cs typeface="Nunito"/>
                <a:sym typeface="Nunito"/>
              </a:rPr>
              <a:t>, que busca una solución que reproduzca las correlaciones observadas entre los determinantes minimizando los residuos.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Después aplicamos la rotación </a:t>
            </a:r>
            <a:r>
              <a:rPr b="1" lang="en" sz="1400">
                <a:solidFill>
                  <a:schemeClr val="dk1"/>
                </a:solidFill>
                <a:latin typeface="Nunito"/>
                <a:ea typeface="Nunito"/>
                <a:cs typeface="Nunito"/>
                <a:sym typeface="Nunito"/>
              </a:rPr>
              <a:t>OBLIMIN</a:t>
            </a:r>
            <a:r>
              <a:rPr lang="en" sz="1400">
                <a:solidFill>
                  <a:schemeClr val="dk1"/>
                </a:solidFill>
                <a:latin typeface="Nunito"/>
                <a:ea typeface="Nunito"/>
                <a:cs typeface="Nunito"/>
                <a:sym typeface="Nunito"/>
              </a:rPr>
              <a:t>, que facilita la interpretación de los factores y permite que estén correlacionados entre sí. Esto tiene sentido porque distintos aspectos que influyen en la renovación energética pueden estar relacionados.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El resultado principal es una matriz de cargas factoriales: para cada factor, nos indica qué determinantes están asociados a él y con qué intensidad.</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la versión exploratoria de este script utilizamos 100 réplicas bootstrap para comprobar cómo varían las soluciones. Posteriormente, estas cargas nos permiten identificar los determinantes que caracterizan cada factor y preparar las firmas que utilizaremos en la comparación con K-means y Greedy</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412c17598e8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5" name="Google Shape;615;g412c17598e8_0_2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412c17598e8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5" name="Google Shape;625;g412c17598e8_0_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la diapositiva anterior hemos visto que EFA nos proporciona las cargas factoriales de cada determinante. Ahora necesitamos resumir esa información para identificar qué determinantes destacan en las soluciones obtenidas.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Para ello, el script toma, para cada determinante, </a:t>
            </a:r>
            <a:r>
              <a:rPr b="1" lang="en" sz="1400">
                <a:solidFill>
                  <a:schemeClr val="dk1"/>
                </a:solidFill>
                <a:latin typeface="Nunito"/>
                <a:ea typeface="Nunito"/>
                <a:cs typeface="Nunito"/>
                <a:sym typeface="Nunito"/>
              </a:rPr>
              <a:t>su carga más elevada en valor absoluto entre todos los factores</a:t>
            </a:r>
            <a:r>
              <a:rPr lang="en" sz="1400">
                <a:solidFill>
                  <a:schemeClr val="dk1"/>
                </a:solidFill>
                <a:latin typeface="Nunito"/>
                <a:ea typeface="Nunito"/>
                <a:cs typeface="Nunito"/>
                <a:sym typeface="Nunito"/>
              </a:rPr>
              <a:t>. Utilizamos el valor absoluto porque una carga negativa también puede indicar una relación importante con un factor.</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Después ordenamos los 32 determinantes según ese valor y exploramos selecciones de los primeros D, probando desde 4 hasta 15 determinantes.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Aquí hay que distinguir dos parámetros: </a:t>
            </a:r>
            <a:r>
              <a:rPr b="1" lang="en" sz="1400">
                <a:solidFill>
                  <a:schemeClr val="dk1"/>
                </a:solidFill>
                <a:latin typeface="Nunito"/>
                <a:ea typeface="Nunito"/>
                <a:cs typeface="Nunito"/>
                <a:sym typeface="Nunito"/>
              </a:rPr>
              <a:t>F es el número de factores que estimamos mediante EFA y D es el número de determinantes que seleccionamos posteriormente</a:t>
            </a:r>
            <a:r>
              <a:rPr lang="en" sz="1400">
                <a:solidFill>
                  <a:schemeClr val="dk1"/>
                </a:solidFill>
                <a:latin typeface="Nunito"/>
                <a:ea typeface="Nunito"/>
                <a:cs typeface="Nunito"/>
                <a:sym typeface="Nunito"/>
              </a:rPr>
              <a:t>. No representan lo mismo.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Como repetimos EFA sobre las réplicas bootstrap, podemos observar si los mismos determinantes siguen apareciendo entre los D seleccionados o si la selección cambia de una réplica a otra.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ejemplo, si un determinante aparece entre los ocho primeros en 90 de las 100 réplicas válidas, su frecuencia de selección para D = 8 sería del 90 %.</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archivo </a:t>
            </a:r>
            <a:r>
              <a:rPr lang="en" sz="1400">
                <a:solidFill>
                  <a:srgbClr val="188038"/>
                </a:solidFill>
                <a:latin typeface="Nunito"/>
                <a:ea typeface="Nunito"/>
                <a:cs typeface="Nunito"/>
                <a:sym typeface="Nunito"/>
              </a:rPr>
              <a:t>05_efa_determinant_importance_summary.csv</a:t>
            </a:r>
            <a:r>
              <a:rPr lang="en" sz="1400">
                <a:solidFill>
                  <a:schemeClr val="dk1"/>
                </a:solidFill>
                <a:latin typeface="Nunito"/>
                <a:ea typeface="Nunito"/>
                <a:cs typeface="Nunito"/>
                <a:sym typeface="Nunito"/>
              </a:rPr>
              <a:t> resume la importancia de los determinantes, mientras que </a:t>
            </a:r>
            <a:r>
              <a:rPr lang="en" sz="1400">
                <a:solidFill>
                  <a:srgbClr val="188038"/>
                </a:solidFill>
                <a:latin typeface="Nunito"/>
                <a:ea typeface="Nunito"/>
                <a:cs typeface="Nunito"/>
                <a:sym typeface="Nunito"/>
              </a:rPr>
              <a:t>08_efa_top_d_frequency.csv</a:t>
            </a:r>
            <a:r>
              <a:rPr lang="en" sz="1400">
                <a:solidFill>
                  <a:schemeClr val="dk1"/>
                </a:solidFill>
                <a:latin typeface="Nunito"/>
                <a:ea typeface="Nunito"/>
                <a:cs typeface="Nunito"/>
                <a:sym typeface="Nunito"/>
              </a:rPr>
              <a:t> recoge sus frecuencias de selección.</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Una precisión importante:</a:t>
            </a:r>
            <a:r>
              <a:rPr lang="en" sz="1400">
                <a:solidFill>
                  <a:schemeClr val="dk1"/>
                </a:solidFill>
                <a:latin typeface="Nunito"/>
                <a:ea typeface="Nunito"/>
                <a:cs typeface="Nunito"/>
                <a:sym typeface="Nunito"/>
              </a:rPr>
              <a:t> esta selección </a:t>
            </a:r>
            <a:r>
              <a:rPr i="1" lang="en" sz="1400">
                <a:solidFill>
                  <a:schemeClr val="dk1"/>
                </a:solidFill>
                <a:latin typeface="Nunito"/>
                <a:ea typeface="Nunito"/>
                <a:cs typeface="Nunito"/>
                <a:sym typeface="Nunito"/>
              </a:rPr>
              <a:t>top-D</a:t>
            </a:r>
            <a:r>
              <a:rPr lang="en" sz="1400">
                <a:solidFill>
                  <a:schemeClr val="dk1"/>
                </a:solidFill>
                <a:latin typeface="Nunito"/>
                <a:ea typeface="Nunito"/>
                <a:cs typeface="Nunito"/>
                <a:sym typeface="Nunito"/>
              </a:rPr>
              <a:t> ordena los determinantes por su carga máxima </a:t>
            </a:r>
            <a:r>
              <a:rPr b="1" lang="en" sz="1400">
                <a:solidFill>
                  <a:schemeClr val="dk1"/>
                </a:solidFill>
                <a:latin typeface="Nunito"/>
                <a:ea typeface="Nunito"/>
                <a:cs typeface="Nunito"/>
                <a:sym typeface="Nunito"/>
              </a:rPr>
              <a:t>entre todos los factores</a:t>
            </a:r>
            <a:r>
              <a:rPr lang="en" sz="1400">
                <a:solidFill>
                  <a:schemeClr val="dk1"/>
                </a:solidFill>
                <a:latin typeface="Nunito"/>
                <a:ea typeface="Nunito"/>
                <a:cs typeface="Nunito"/>
                <a:sym typeface="Nunito"/>
              </a:rPr>
              <a:t>. No significa que el script esté seleccionando automáticamente D determinantes distintos para cada factor</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412c17598e8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3" name="Google Shape;633;g412c17598e8_0_8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Este gráfico muestra cómo cambia el BIC medio al probar diferentes números de factores en la muestra COMPLETE.</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Cada panel corresponde a una de las cuatro matrices. Dentro de una misma matriz, el BIC nos ayuda a comparar las soluciones: un valor menor indica una mejor relación entre ajuste y complejidad según este criterio.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Sin embargo, no seleccionamos automáticamente el número de factores con este único gráfico. También tenemos que examinar si los factores se pueden interpretar y si los determinantes que los caracterizan aparecen de forma consistente entre las réplicas bootstrap.</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tanto, </a:t>
            </a:r>
            <a:r>
              <a:rPr b="1" lang="en" sz="1400">
                <a:solidFill>
                  <a:schemeClr val="dk1"/>
                </a:solidFill>
                <a:latin typeface="Nunito"/>
                <a:ea typeface="Nunito"/>
                <a:cs typeface="Nunito"/>
                <a:sym typeface="Nunito"/>
              </a:rPr>
              <a:t>EFA nos proporciona factores y cargas factoriales que utilizaremos para construir firmas de determinantes</a:t>
            </a:r>
            <a:r>
              <a:rPr lang="en" sz="1400">
                <a:solidFill>
                  <a:schemeClr val="dk1"/>
                </a:solidFill>
                <a:latin typeface="Nunito"/>
                <a:ea typeface="Nunito"/>
                <a:cs typeface="Nunito"/>
                <a:sym typeface="Nunito"/>
              </a:rPr>
              <a:t>. Más adelante, mediante Greedy, evaluaremos la cobertura que consiguen esas firmas</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412c17598e8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1" name="Google Shape;641;g412c17598e8_0_8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Este mapa de calor muestra un ejemplo real de las cargas factoriales obtenidas mediante EFA, utilizando la muestra COMPLETE, la matriz RAW y una solución de seis factores.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 diferencia del mapa de K-means, </a:t>
            </a:r>
            <a:r>
              <a:rPr b="1" lang="en" sz="1400">
                <a:solidFill>
                  <a:schemeClr val="dk1"/>
                </a:solidFill>
                <a:latin typeface="Nunito"/>
                <a:ea typeface="Nunito"/>
                <a:cs typeface="Nunito"/>
                <a:sym typeface="Nunito"/>
              </a:rPr>
              <a:t>aquí las columnas no representan grupos de personas, sino factores</a:t>
            </a:r>
            <a:r>
              <a:rPr lang="en" sz="1400">
                <a:solidFill>
                  <a:schemeClr val="dk1"/>
                </a:solidFill>
                <a:latin typeface="Nunito"/>
                <a:ea typeface="Nunito"/>
                <a:cs typeface="Nunito"/>
                <a:sym typeface="Nunito"/>
              </a:rPr>
              <a:t>. Cada fila corresponde a uno de los 32 determinantes.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Los tonos rojos indican cargas positivas, los azules indican cargas negativas y los tonos cercanos al blanco representan cargas próximas a cero. Cuanto mayor es la intensidad del color, mayor es la magnitud de la carga.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Por ejemplo, en el factor MR3 observamos cargas positivas destacadas en determinantes como </a:t>
            </a:r>
            <a:r>
              <a:rPr b="1" i="1" lang="en" sz="1400">
                <a:solidFill>
                  <a:schemeClr val="dk1"/>
                </a:solidFill>
                <a:latin typeface="Nunito"/>
                <a:ea typeface="Nunito"/>
                <a:cs typeface="Nunito"/>
                <a:sym typeface="Nunito"/>
              </a:rPr>
              <a:t>recognition</a:t>
            </a:r>
            <a:r>
              <a:rPr b="1" lang="en" sz="1400">
                <a:solidFill>
                  <a:schemeClr val="dk1"/>
                </a:solidFill>
                <a:latin typeface="Nunito"/>
                <a:ea typeface="Nunito"/>
                <a:cs typeface="Nunito"/>
                <a:sym typeface="Nunito"/>
              </a:rPr>
              <a:t>, </a:t>
            </a:r>
            <a:r>
              <a:rPr b="1" i="1" lang="en" sz="1400">
                <a:solidFill>
                  <a:schemeClr val="dk1"/>
                </a:solidFill>
                <a:latin typeface="Nunito"/>
                <a:ea typeface="Nunito"/>
                <a:cs typeface="Nunito"/>
                <a:sym typeface="Nunito"/>
              </a:rPr>
              <a:t>approval</a:t>
            </a:r>
            <a:r>
              <a:rPr b="1" lang="en" sz="1400">
                <a:solidFill>
                  <a:schemeClr val="dk1"/>
                </a:solidFill>
                <a:latin typeface="Nunito"/>
                <a:ea typeface="Nunito"/>
                <a:cs typeface="Nunito"/>
                <a:sym typeface="Nunito"/>
              </a:rPr>
              <a:t>, </a:t>
            </a:r>
            <a:r>
              <a:rPr b="1" i="1" lang="en" sz="1400">
                <a:solidFill>
                  <a:schemeClr val="dk1"/>
                </a:solidFill>
                <a:latin typeface="Nunito"/>
                <a:ea typeface="Nunito"/>
                <a:cs typeface="Nunito"/>
                <a:sym typeface="Nunito"/>
              </a:rPr>
              <a:t>socialising</a:t>
            </a:r>
            <a:r>
              <a:rPr b="1" lang="en" sz="1400">
                <a:solidFill>
                  <a:schemeClr val="dk1"/>
                </a:solidFill>
                <a:latin typeface="Nunito"/>
                <a:ea typeface="Nunito"/>
                <a:cs typeface="Nunito"/>
                <a:sym typeface="Nunito"/>
              </a:rPr>
              <a:t>, </a:t>
            </a:r>
            <a:r>
              <a:rPr b="1" i="1" lang="en" sz="1400">
                <a:solidFill>
                  <a:schemeClr val="dk1"/>
                </a:solidFill>
                <a:latin typeface="Nunito"/>
                <a:ea typeface="Nunito"/>
                <a:cs typeface="Nunito"/>
                <a:sym typeface="Nunito"/>
              </a:rPr>
              <a:t>authority</a:t>
            </a:r>
            <a:r>
              <a:rPr b="1" lang="en" sz="1400">
                <a:solidFill>
                  <a:schemeClr val="dk1"/>
                </a:solidFill>
                <a:latin typeface="Nunito"/>
                <a:ea typeface="Nunito"/>
                <a:cs typeface="Nunito"/>
                <a:sym typeface="Nunito"/>
              </a:rPr>
              <a:t> y </a:t>
            </a:r>
            <a:r>
              <a:rPr b="1" i="1" lang="en" sz="1400">
                <a:solidFill>
                  <a:schemeClr val="dk1"/>
                </a:solidFill>
                <a:latin typeface="Nunito"/>
                <a:ea typeface="Nunito"/>
                <a:cs typeface="Nunito"/>
                <a:sym typeface="Nunito"/>
              </a:rPr>
              <a:t>trends</a:t>
            </a:r>
            <a:r>
              <a:rPr b="1" lang="en" sz="1400">
                <a:solidFill>
                  <a:schemeClr val="dk1"/>
                </a:solidFill>
                <a:latin typeface="Nunito"/>
                <a:ea typeface="Nunito"/>
                <a:cs typeface="Nunito"/>
                <a:sym typeface="Nunito"/>
              </a:rPr>
              <a:t>. Esto sugiere que este factor recoge un patrón de relación entre varios determinantes vinculados al reconocimiento y la influencia social.</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En el factor MR6, destacan determinantes como </a:t>
            </a:r>
            <a:r>
              <a:rPr b="1" i="1" lang="en" sz="1400">
                <a:solidFill>
                  <a:schemeClr val="dk1"/>
                </a:solidFill>
                <a:latin typeface="Nunito"/>
                <a:ea typeface="Nunito"/>
                <a:cs typeface="Nunito"/>
                <a:sym typeface="Nunito"/>
              </a:rPr>
              <a:t>profits</a:t>
            </a:r>
            <a:r>
              <a:rPr b="1" lang="en" sz="1400">
                <a:solidFill>
                  <a:schemeClr val="dk1"/>
                </a:solidFill>
                <a:latin typeface="Nunito"/>
                <a:ea typeface="Nunito"/>
                <a:cs typeface="Nunito"/>
                <a:sym typeface="Nunito"/>
              </a:rPr>
              <a:t>, </a:t>
            </a:r>
            <a:r>
              <a:rPr b="1" i="1" lang="en" sz="1400">
                <a:solidFill>
                  <a:schemeClr val="dk1"/>
                </a:solidFill>
                <a:latin typeface="Nunito"/>
                <a:ea typeface="Nunito"/>
                <a:cs typeface="Nunito"/>
                <a:sym typeface="Nunito"/>
              </a:rPr>
              <a:t>cost_efficiency</a:t>
            </a:r>
            <a:r>
              <a:rPr b="1" lang="en" sz="1400">
                <a:solidFill>
                  <a:schemeClr val="dk1"/>
                </a:solidFill>
                <a:latin typeface="Nunito"/>
                <a:ea typeface="Nunito"/>
                <a:cs typeface="Nunito"/>
                <a:sym typeface="Nunito"/>
              </a:rPr>
              <a:t>, </a:t>
            </a:r>
            <a:r>
              <a:rPr b="1" i="1" lang="en" sz="1400">
                <a:solidFill>
                  <a:schemeClr val="dk1"/>
                </a:solidFill>
                <a:latin typeface="Nunito"/>
                <a:ea typeface="Nunito"/>
                <a:cs typeface="Nunito"/>
                <a:sym typeface="Nunito"/>
              </a:rPr>
              <a:t>credit_score</a:t>
            </a:r>
            <a:r>
              <a:rPr b="1" lang="en" sz="1400">
                <a:solidFill>
                  <a:schemeClr val="dk1"/>
                </a:solidFill>
                <a:latin typeface="Nunito"/>
                <a:ea typeface="Nunito"/>
                <a:cs typeface="Nunito"/>
                <a:sym typeface="Nunito"/>
              </a:rPr>
              <a:t>, </a:t>
            </a:r>
            <a:r>
              <a:rPr b="1" i="1" lang="en" sz="1400">
                <a:solidFill>
                  <a:schemeClr val="dk1"/>
                </a:solidFill>
                <a:latin typeface="Nunito"/>
                <a:ea typeface="Nunito"/>
                <a:cs typeface="Nunito"/>
                <a:sym typeface="Nunito"/>
              </a:rPr>
              <a:t>risk_profile</a:t>
            </a:r>
            <a:r>
              <a:rPr b="1" lang="en" sz="1400">
                <a:solidFill>
                  <a:schemeClr val="dk1"/>
                </a:solidFill>
                <a:latin typeface="Nunito"/>
                <a:ea typeface="Nunito"/>
                <a:cs typeface="Nunito"/>
                <a:sym typeface="Nunito"/>
              </a:rPr>
              <a:t> y </a:t>
            </a:r>
            <a:r>
              <a:rPr b="1" i="1" lang="en" sz="1400">
                <a:solidFill>
                  <a:schemeClr val="dk1"/>
                </a:solidFill>
                <a:latin typeface="Nunito"/>
                <a:ea typeface="Nunito"/>
                <a:cs typeface="Nunito"/>
                <a:sym typeface="Nunito"/>
              </a:rPr>
              <a:t>frugality</a:t>
            </a:r>
            <a:r>
              <a:rPr b="1" lang="en" sz="1400">
                <a:solidFill>
                  <a:schemeClr val="dk1"/>
                </a:solidFill>
                <a:latin typeface="Nunito"/>
                <a:ea typeface="Nunito"/>
                <a:cs typeface="Nunito"/>
                <a:sym typeface="Nunito"/>
              </a:rPr>
              <a:t>. En este caso, observamos un patrón relacionado con aspectos económicos.</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Sin embargo, no todos los factores tienen una interpretación tan evidente. Por ejemplo, </a:t>
            </a:r>
            <a:r>
              <a:rPr i="1" lang="en" sz="1400">
                <a:solidFill>
                  <a:schemeClr val="dk1"/>
                </a:solidFill>
                <a:latin typeface="Nunito"/>
                <a:ea typeface="Nunito"/>
                <a:cs typeface="Nunito"/>
                <a:sym typeface="Nunito"/>
              </a:rPr>
              <a:t>climate_protection</a:t>
            </a:r>
            <a:r>
              <a:rPr lang="en" sz="1400">
                <a:solidFill>
                  <a:schemeClr val="dk1"/>
                </a:solidFill>
                <a:latin typeface="Nunito"/>
                <a:ea typeface="Nunito"/>
                <a:cs typeface="Nunito"/>
                <a:sym typeface="Nunito"/>
              </a:rPr>
              <a:t> presenta una carga destacada en MR1, mientras que </a:t>
            </a:r>
            <a:r>
              <a:rPr i="1" lang="en" sz="1400">
                <a:solidFill>
                  <a:schemeClr val="dk1"/>
                </a:solidFill>
                <a:latin typeface="Nunito"/>
                <a:ea typeface="Nunito"/>
                <a:cs typeface="Nunito"/>
                <a:sym typeface="Nunito"/>
              </a:rPr>
              <a:t>environmental_concerns</a:t>
            </a:r>
            <a:r>
              <a:rPr lang="en" sz="1400">
                <a:solidFill>
                  <a:schemeClr val="dk1"/>
                </a:solidFill>
                <a:latin typeface="Nunito"/>
                <a:ea typeface="Nunito"/>
                <a:cs typeface="Nunito"/>
                <a:sym typeface="Nunito"/>
              </a:rPr>
              <a:t> destaca en MR2. Por tanto, no debemos asumir que todos los determinantes ambientales aparecerán necesariamente agrupados en un único factor.</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Este gráfico corresponde a una sola réplica bootstrap y nos sirve para visualizar cómo son las cargas factoriales. Para estudiar qué determinantes aparecen de forma consistente en las distintas réplicas, utilizamos los resúmenes de importancia y frecuencia de selección que hemos explicado anteriormente.</a:t>
            </a:r>
            <a:endParaRPr b="1"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Posteriormente, empleamos los resultados factoriales para construir las firmas de determinantes que compararemos con las derivadas de K-means y evaluaremos mediante Greedy</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412c17598e8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9" name="Google Shape;649;g412c17598e8_0_7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412c17598e8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g412c17598e8_0_2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este esquema mostramos cómo pasamos de los resultados de K-means y EFA a la selección de prototipos mediante Greedy.</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Primero partimos de los centroides de K-means y las cargas factoriales de EFA. Para cada cluster o factor, calculamos la relevancia de los 32 determinantes y los ordenamos de mayor a menor.</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Esto lo hacemos porque queremos resumir cada estructura en un número reducido de determinantes. Seleccionamos los D más relevantes y construimos una firma binaria de 32 posiciones: ponemos un 1 en los determinantes seleccionados y un 0 en los demás.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Repetimos este proceso para los distintos clusters, factores y réplicas bootstrap. Así obtenemos un conjunto de firmas candidatas.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 continuación, agrupamos las firmas idénticas y calculamos su frecuencia o peso. Es importante distinguir estos dos pasos: </a:t>
            </a:r>
            <a:r>
              <a:rPr b="1" lang="en" sz="1400">
                <a:solidFill>
                  <a:schemeClr val="dk1"/>
                </a:solidFill>
                <a:latin typeface="Nunito"/>
                <a:ea typeface="Nunito"/>
                <a:cs typeface="Nunito"/>
                <a:sym typeface="Nunito"/>
              </a:rPr>
              <a:t>primero seleccionamos determinantes dentro de cada estructura y después contamos cuántas veces aparece cada firma completa</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Con las firmas ya construidas, comienza Greedy. El algoritmo elige como primer prototipo la firma todavía no cubierta que tiene mayor peso.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Después utiliza la distancia de Hamming para identificar qué otras firmas son suficientemente parecidas y quedan cubiertas por ese prototipo.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proceso se repite seleccionando nuevas firmas no cubiertas hasta alcanzar el número de prototipos que estemos evaluando.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Finalmente, obtenemos los prototipos seleccionados y la cobertura acumulada: es decir, </a:t>
            </a:r>
            <a:r>
              <a:rPr b="1" lang="en" sz="1400">
                <a:solidFill>
                  <a:schemeClr val="dk1"/>
                </a:solidFill>
                <a:latin typeface="Nunito"/>
                <a:ea typeface="Nunito"/>
                <a:cs typeface="Nunito"/>
                <a:sym typeface="Nunito"/>
              </a:rPr>
              <a:t>qué proporción del peso total de las firmas candidatas queda cubierta por esos prototipos</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En nuestro análisis, este procedimiento se ejecuta por separado para K-means y EFA, y para cada combinación de muestra, matriz, D y ponderación. Después podemos comparar los resultados de cobertura obtenidos con cada método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Una vez construidas las firmas, Greedy empieza seleccionando la firma no cubierta que tiene mayor peso.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Después calcula la distancia de Hamming entre esa firma y las demás. Esta distancia indica en cuántas posiciones son diferentes.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En el ejemplo, el prototipo y la firma B se diferencian en dos posiciones. Por tanto, si establecemos un radio Hamming de dos, la firma B queda cubierta por ese prototipo. La firma C, que se diferencia en seis posiciones, no queda cubierta.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 sz="1400">
                <a:solidFill>
                  <a:schemeClr val="dk1"/>
                </a:solidFill>
                <a:latin typeface="Nunito"/>
                <a:ea typeface="Nunito"/>
                <a:cs typeface="Nunito"/>
                <a:sym typeface="Nunito"/>
              </a:rPr>
              <a:t>Greedy suma el peso de las firmas que ha cubierto y selecciona la siguiente firma todavía no cubierta de mayor peso. Repite el procedimiento hasta alcanzar el número de prototipos que estemos evaluando o hasta que no queden firmas sin cubrir.</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SzPts val="1100"/>
              <a:buNone/>
            </a:pPr>
            <a:r>
              <a:rPr b="1" lang="en" sz="1400">
                <a:solidFill>
                  <a:schemeClr val="dk1"/>
                </a:solidFill>
                <a:latin typeface="Nunito"/>
                <a:ea typeface="Nunito"/>
                <a:cs typeface="Nunito"/>
                <a:sym typeface="Nunito"/>
              </a:rPr>
              <a:t>La cobertura final indica qué proporción del peso total de las firmas candidatas queda representada por los prototipos seleccionados.</a:t>
            </a:r>
            <a:r>
              <a:rPr lang="en" sz="1400">
                <a:solidFill>
                  <a:schemeClr val="dk1"/>
                </a:solidFill>
                <a:latin typeface="Nunito"/>
                <a:ea typeface="Nunito"/>
                <a:cs typeface="Nunito"/>
                <a:sym typeface="Nunito"/>
              </a:rPr>
              <a:t> No es directamente el porcentaje de participantes de la encuesta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412c17598e8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5" name="Google Shape;665;g412c17598e8_0_2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412c17598e8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4" name="Google Shape;674;g412c17598e8_0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Una vez entendido cómo funciona Greedy, aquí mostramos los parámetros que exploramos en el script </a:t>
            </a:r>
            <a:r>
              <a:rPr lang="en" sz="1400">
                <a:solidFill>
                  <a:srgbClr val="188038"/>
                </a:solidFill>
                <a:latin typeface="Nunito"/>
                <a:ea typeface="Nunito"/>
                <a:cs typeface="Nunito"/>
                <a:sym typeface="Nunito"/>
              </a:rPr>
              <a:t>08_greedy.R</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Primero tenemos </a:t>
            </a:r>
            <a:r>
              <a:rPr b="1" lang="en" sz="1400">
                <a:solidFill>
                  <a:schemeClr val="dk1"/>
                </a:solidFill>
                <a:latin typeface="Nunito"/>
                <a:ea typeface="Nunito"/>
                <a:cs typeface="Nunito"/>
                <a:sym typeface="Nunito"/>
              </a:rPr>
              <a:t>K y F</a:t>
            </a:r>
            <a:r>
              <a:rPr lang="en" sz="1400">
                <a:solidFill>
                  <a:schemeClr val="dk1"/>
                </a:solidFill>
                <a:latin typeface="Nunito"/>
                <a:ea typeface="Nunito"/>
                <a:cs typeface="Nunito"/>
                <a:sym typeface="Nunito"/>
              </a:rPr>
              <a:t>, que indican cuántos clusters genera K-means o cuántos factores genera EFA. En este bloque utilizamos las soluciones de 4 a 8 clusters o factores para construir el universo de firmas candidatas.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Después tenemos </a:t>
            </a:r>
            <a:r>
              <a:rPr b="1" lang="en" sz="1400">
                <a:solidFill>
                  <a:schemeClr val="dk1"/>
                </a:solidFill>
                <a:latin typeface="Nunito"/>
                <a:ea typeface="Nunito"/>
                <a:cs typeface="Nunito"/>
                <a:sym typeface="Nunito"/>
              </a:rPr>
              <a:t>D</a:t>
            </a:r>
            <a:r>
              <a:rPr lang="en" sz="1400">
                <a:solidFill>
                  <a:schemeClr val="dk1"/>
                </a:solidFill>
                <a:latin typeface="Nunito"/>
                <a:ea typeface="Nunito"/>
                <a:cs typeface="Nunito"/>
                <a:sym typeface="Nunito"/>
              </a:rPr>
              <a:t>, que es el número de determinantes seleccionados dentro de cada firma. Probamos valores entre 8 y 15.</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parámetro </a:t>
            </a:r>
            <a:r>
              <a:rPr b="1" lang="en" sz="1400">
                <a:solidFill>
                  <a:schemeClr val="dk1"/>
                </a:solidFill>
                <a:latin typeface="Nunito"/>
                <a:ea typeface="Nunito"/>
                <a:cs typeface="Nunito"/>
                <a:sym typeface="Nunito"/>
              </a:rPr>
              <a:t>H</a:t>
            </a:r>
            <a:r>
              <a:rPr lang="en" sz="1400">
                <a:solidFill>
                  <a:schemeClr val="dk1"/>
                </a:solidFill>
                <a:latin typeface="Nunito"/>
                <a:ea typeface="Nunito"/>
                <a:cs typeface="Nunito"/>
                <a:sym typeface="Nunito"/>
              </a:rPr>
              <a:t> es el radio de Hamming. Determina cuántas posiciones pueden diferir dos firmas para que una quede cubierta por un prototipo. Probamos valores desde 0 hasta 10, de dos en dos. Cuanto mayor sea el radio, más firmas puede cubrir un mismo prototipo, aunque también admitimos diferencias mayores entre ellas.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último, </a:t>
            </a:r>
            <a:r>
              <a:rPr b="1" lang="en" sz="1400">
                <a:solidFill>
                  <a:schemeClr val="dk1"/>
                </a:solidFill>
                <a:latin typeface="Nunito"/>
                <a:ea typeface="Nunito"/>
                <a:cs typeface="Nunito"/>
                <a:sym typeface="Nunito"/>
              </a:rPr>
              <a:t>P</a:t>
            </a:r>
            <a:r>
              <a:rPr lang="en" sz="1400">
                <a:solidFill>
                  <a:schemeClr val="dk1"/>
                </a:solidFill>
                <a:latin typeface="Nunito"/>
                <a:ea typeface="Nunito"/>
                <a:cs typeface="Nunito"/>
                <a:sym typeface="Nunito"/>
              </a:rPr>
              <a:t> es el número de prototipos que seleccionamos mediante Greedy. En este script estudiamos la evolución de la cobertura al seleccionar hasta 12 prototipos.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Es importante distinguir K o F de P:</a:t>
            </a:r>
            <a:r>
              <a:rPr lang="en" sz="1400">
                <a:solidFill>
                  <a:schemeClr val="dk1"/>
                </a:solidFill>
                <a:latin typeface="Nunito"/>
                <a:ea typeface="Nunito"/>
                <a:cs typeface="Nunito"/>
                <a:sym typeface="Nunito"/>
              </a:rPr>
              <a:t> K y F determinan cuántas estructuras candidatas genera cada modelo; P indica cuántos prototipos seleccionamos posteriormente entre las firmas obtenidas.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También probamos dos formas de ponderar las firmas. Con </a:t>
            </a:r>
            <a:r>
              <a:rPr lang="en" sz="1400">
                <a:solidFill>
                  <a:srgbClr val="188038"/>
                </a:solidFill>
                <a:latin typeface="Nunito"/>
                <a:ea typeface="Nunito"/>
                <a:cs typeface="Nunito"/>
                <a:sym typeface="Nunito"/>
              </a:rPr>
              <a:t>equal_element</a:t>
            </a:r>
            <a:r>
              <a:rPr lang="en" sz="1400">
                <a:solidFill>
                  <a:schemeClr val="dk1"/>
                </a:solidFill>
                <a:latin typeface="Nunito"/>
                <a:ea typeface="Nunito"/>
                <a:cs typeface="Nunito"/>
                <a:sym typeface="Nunito"/>
              </a:rPr>
              <a:t>, cada cluster o factor aporta el mismo peso. Con </a:t>
            </a:r>
            <a:r>
              <a:rPr lang="en" sz="1400">
                <a:solidFill>
                  <a:srgbClr val="188038"/>
                </a:solidFill>
                <a:latin typeface="Nunito"/>
                <a:ea typeface="Nunito"/>
                <a:cs typeface="Nunito"/>
                <a:sym typeface="Nunito"/>
              </a:rPr>
              <a:t>equal_candidate</a:t>
            </a:r>
            <a:r>
              <a:rPr lang="en" sz="1400">
                <a:solidFill>
                  <a:schemeClr val="dk1"/>
                </a:solidFill>
                <a:latin typeface="Nunito"/>
                <a:ea typeface="Nunito"/>
                <a:cs typeface="Nunito"/>
                <a:sym typeface="Nunito"/>
              </a:rPr>
              <a:t>, cada solución de K-means o EFA aporta el mismo peso total, independientemente de cuántos clusters o factores contenga.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Así podemos comprobar cómo cambian los resultados de cobertura según el número de determinantes, el radio de Hamming, los prototipos seleccionados y la ponderación utilizada</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412c17598e8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2" name="Google Shape;682;g412c17598e8_0_2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Este gráfico muestra los resultados de Greedy para la muestra </a:t>
            </a:r>
            <a:r>
              <a:rPr b="1" lang="en" sz="1400">
                <a:solidFill>
                  <a:schemeClr val="dk1"/>
                </a:solidFill>
                <a:latin typeface="Nunito"/>
                <a:ea typeface="Nunito"/>
                <a:cs typeface="Nunito"/>
                <a:sym typeface="Nunito"/>
              </a:rPr>
              <a:t>COMPLETE</a:t>
            </a:r>
            <a:r>
              <a:rPr lang="en" sz="1400">
                <a:solidFill>
                  <a:schemeClr val="dk1"/>
                </a:solidFill>
                <a:latin typeface="Nunito"/>
                <a:ea typeface="Nunito"/>
                <a:cs typeface="Nunito"/>
                <a:sym typeface="Nunito"/>
              </a:rPr>
              <a:t>, comparando las firmas generadas mediante </a:t>
            </a:r>
            <a:r>
              <a:rPr b="1" lang="en" sz="1400">
                <a:solidFill>
                  <a:schemeClr val="dk1"/>
                </a:solidFill>
                <a:latin typeface="Nunito"/>
                <a:ea typeface="Nunito"/>
                <a:cs typeface="Nunito"/>
                <a:sym typeface="Nunito"/>
              </a:rPr>
              <a:t>K-means y EFA</a:t>
            </a:r>
            <a:r>
              <a:rPr lang="en" sz="1400">
                <a:solidFill>
                  <a:schemeClr val="dk1"/>
                </a:solidFill>
                <a:latin typeface="Nunito"/>
                <a:ea typeface="Nunito"/>
                <a:cs typeface="Nunito"/>
                <a:sym typeface="Nunito"/>
              </a:rPr>
              <a:t>. El mismo procedimiento se ha realizado para las siete muestras de análisis y las cuatro matrices; aquí mostramos COMPLETE como ejemplo.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gráfico se divide en dos filas: </a:t>
            </a:r>
            <a:r>
              <a:rPr b="1" lang="en" sz="1400">
                <a:solidFill>
                  <a:schemeClr val="dk1"/>
                </a:solidFill>
                <a:latin typeface="Nunito"/>
                <a:ea typeface="Nunito"/>
                <a:cs typeface="Nunito"/>
                <a:sym typeface="Nunito"/>
              </a:rPr>
              <a:t>la superior corresponde a K-means y la inferior a EFA</a:t>
            </a:r>
            <a:r>
              <a:rPr lang="en" sz="1400">
                <a:solidFill>
                  <a:schemeClr val="dk1"/>
                </a:solidFill>
                <a:latin typeface="Nunito"/>
                <a:ea typeface="Nunito"/>
                <a:cs typeface="Nunito"/>
                <a:sym typeface="Nunito"/>
              </a:rPr>
              <a:t>. Las cuatro columnas representan las matrices RAW, POS, EXT y Z_ABS.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el eje horizontal tenemos el </a:t>
            </a:r>
            <a:r>
              <a:rPr b="1" lang="en" sz="1400">
                <a:solidFill>
                  <a:schemeClr val="dk1"/>
                </a:solidFill>
                <a:latin typeface="Nunito"/>
                <a:ea typeface="Nunito"/>
                <a:cs typeface="Nunito"/>
                <a:sym typeface="Nunito"/>
              </a:rPr>
              <a:t>radio de Hamming (H)</a:t>
            </a:r>
            <a:r>
              <a:rPr lang="en" sz="1400">
                <a:solidFill>
                  <a:schemeClr val="dk1"/>
                </a:solidFill>
                <a:latin typeface="Nunito"/>
                <a:ea typeface="Nunito"/>
                <a:cs typeface="Nunito"/>
                <a:sym typeface="Nunito"/>
              </a:rPr>
              <a:t>, que indica cuántas posiciones pueden diferir dos firmas para que una quede cubierta por un prototipo. En el eje vertical tenemos la </a:t>
            </a:r>
            <a:r>
              <a:rPr b="1" lang="en" sz="1400">
                <a:solidFill>
                  <a:schemeClr val="dk1"/>
                </a:solidFill>
                <a:latin typeface="Nunito"/>
                <a:ea typeface="Nunito"/>
                <a:cs typeface="Nunito"/>
                <a:sym typeface="Nunito"/>
              </a:rPr>
              <a:t>cobertura acumulada</a:t>
            </a:r>
            <a:r>
              <a:rPr lang="en" sz="1400">
                <a:solidFill>
                  <a:schemeClr val="dk1"/>
                </a:solidFill>
                <a:latin typeface="Nunito"/>
                <a:ea typeface="Nunito"/>
                <a:cs typeface="Nunito"/>
                <a:sym typeface="Nunito"/>
              </a:rPr>
              <a:t>, es decir, qué porcentaje del peso total de las firmas candidatas queda cubierto.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Cada línea representa un número de prototipos, de </a:t>
            </a:r>
            <a:r>
              <a:rPr b="1" lang="en" sz="1400">
                <a:solidFill>
                  <a:schemeClr val="dk1"/>
                </a:solidFill>
                <a:latin typeface="Nunito"/>
                <a:ea typeface="Nunito"/>
                <a:cs typeface="Nunito"/>
                <a:sym typeface="Nunito"/>
              </a:rPr>
              <a:t>P = 1 a P = 8</a:t>
            </a:r>
            <a:r>
              <a:rPr lang="en" sz="1400">
                <a:solidFill>
                  <a:schemeClr val="dk1"/>
                </a:solidFill>
                <a:latin typeface="Nunito"/>
                <a:ea typeface="Nunito"/>
                <a:cs typeface="Nunito"/>
                <a:sym typeface="Nunito"/>
              </a:rPr>
              <a:t>. La línea discontinua del 75 % es una referencia visual que nos permite identificar qué combinaciones alcanzan ese nivel de cobertura; no significa que hayamos establecido el 75 % como criterio definitivo.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esta versión del análisis, las firmas construidas con </a:t>
            </a:r>
            <a:r>
              <a:rPr b="1" lang="en" sz="1400">
                <a:solidFill>
                  <a:schemeClr val="dk1"/>
                </a:solidFill>
                <a:latin typeface="Nunito"/>
                <a:ea typeface="Nunito"/>
                <a:cs typeface="Nunito"/>
                <a:sym typeface="Nunito"/>
              </a:rPr>
              <a:t>D entre 8 y 15 se integran en un único conjunto de candidatos</a:t>
            </a:r>
            <a:r>
              <a:rPr lang="en" sz="1400">
                <a:solidFill>
                  <a:schemeClr val="dk1"/>
                </a:solidFill>
                <a:latin typeface="Nunito"/>
                <a:ea typeface="Nunito"/>
                <a:cs typeface="Nunito"/>
                <a:sym typeface="Nunito"/>
              </a:rPr>
              <a:t>. Por tanto, no ejecutamos Greedy por separado para cada valor de D.</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Observamos que la cobertura aumenta al incorporar más prototipos o permitir una mayor distancia de Hamming.</a:t>
            </a:r>
            <a:r>
              <a:rPr lang="en" sz="1400">
                <a:solidFill>
                  <a:schemeClr val="dk1"/>
                </a:solidFill>
                <a:latin typeface="Nunito"/>
                <a:ea typeface="Nunito"/>
                <a:cs typeface="Nunito"/>
                <a:sym typeface="Nunito"/>
              </a:rPr>
              <a:t> Sin embargo, aumentar H también significa aceptar firmas que se diferencian más del prototipo. Por eso, una cobertura más alta no implica necesariamente una representación más precisa.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Al comparar los métodos, vemos que </a:t>
            </a:r>
            <a:r>
              <a:rPr b="1" lang="en" sz="1400">
                <a:solidFill>
                  <a:schemeClr val="dk1"/>
                </a:solidFill>
                <a:latin typeface="Nunito"/>
                <a:ea typeface="Nunito"/>
                <a:cs typeface="Nunito"/>
                <a:sym typeface="Nunito"/>
              </a:rPr>
              <a:t>las firmas derivadas de K-means alcanzan mayor cobertura que las derivadas de EFA en las configuraciones mostradas</a:t>
            </a:r>
            <a:r>
              <a:rPr lang="en" sz="1400">
                <a:solidFill>
                  <a:schemeClr val="dk1"/>
                </a:solidFill>
                <a:latin typeface="Nunito"/>
                <a:ea typeface="Nunito"/>
                <a:cs typeface="Nunito"/>
                <a:sym typeface="Nunito"/>
              </a:rPr>
              <a:t>. Esto describe la cobertura de los conjuntos de firmas generados por cada método; no significa, por sí solo, que K-means sea un modelo más adecuado que EFA.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También observamos diferencias entre matrices. Por ejemplo, </a:t>
            </a:r>
            <a:r>
              <a:rPr b="1" lang="en" sz="1400">
                <a:solidFill>
                  <a:schemeClr val="dk1"/>
                </a:solidFill>
                <a:latin typeface="Nunito"/>
                <a:ea typeface="Nunito"/>
                <a:cs typeface="Nunito"/>
                <a:sym typeface="Nunito"/>
              </a:rPr>
              <a:t>Z_ABS necesita, en general, radios de Hamming mayores para alcanzar coberturas similares a las de RAW o POS</a:t>
            </a:r>
            <a:r>
              <a:rPr lang="en" sz="1400">
                <a:solidFill>
                  <a:schemeClr val="dk1"/>
                </a:solidFill>
                <a:latin typeface="Nunito"/>
                <a:ea typeface="Nunito"/>
                <a:cs typeface="Nunito"/>
                <a:sym typeface="Nunito"/>
              </a:rPr>
              <a:t> con el mismo número de prototipos.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Este gráfico nos permite estudiar conjuntamente el número de prototipos, la similitud exigida entre firmas y la cobertura alcanzada.</a:t>
            </a:r>
            <a:r>
              <a:rPr lang="en" sz="1400">
                <a:solidFill>
                  <a:schemeClr val="dk1"/>
                </a:solidFill>
                <a:latin typeface="Nunito"/>
                <a:ea typeface="Nunito"/>
                <a:cs typeface="Nunito"/>
                <a:sym typeface="Nunito"/>
              </a:rPr>
              <a:t> En el siguiente bloque analizaremos con más detalle las diferencias entre métodos, matrices y muestras, y compararemos las firmas obtenidas con los arquetipos expertos</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solidFill>
                <a:schemeClr val="dk1"/>
              </a:solidFill>
              <a:latin typeface="Nunito"/>
              <a:ea typeface="Nunito"/>
              <a:cs typeface="Nunito"/>
              <a:sym typeface="Nunito"/>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412c17598e8_0_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g412c17598e8_0_9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400">
              <a:solidFill>
                <a:schemeClr val="dk1"/>
              </a:solidFill>
              <a:latin typeface="Nunito"/>
              <a:ea typeface="Nunito"/>
              <a:cs typeface="Nunito"/>
              <a:sym typeface="Nunito"/>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412c17598e8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8" name="Google Shape;698;g412c17598e8_0_7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412c17598e8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6" name="Google Shape;706;g412c17598e8_0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Hasta ahora hemos evaluado cuánta cobertura conseguimos al seleccionar los prototipos mediante Greedy.</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este bloque vamos a analizar otra cuestión: </a:t>
            </a:r>
            <a:r>
              <a:rPr b="1" lang="en" sz="1400">
                <a:solidFill>
                  <a:schemeClr val="dk1"/>
                </a:solidFill>
                <a:latin typeface="Nunito"/>
                <a:ea typeface="Nunito"/>
                <a:cs typeface="Nunito"/>
                <a:sym typeface="Nunito"/>
              </a:rPr>
              <a:t>qué parecido existe entre las firmas que obtenemos mediante diferentes métodos y cómo se relacionan con los arquetipos definidos por los expertos</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Para ello realizamos tres comparaciones: K-means frente a EFA, K-means frente a expertos y EFA frente a expertos.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La similitud entre dos firmas se calcula mediante el índice de Jaccard, que compara cuántos determinantes tienen en común respecto al total de determinantes presentes en al menos una de las dos firmas.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ejemplo, si dos firmas tienen tres determinantes cada una, comparten dos y entre ambas contienen cuatro determinantes distintos, su similitud Jaccard es del 50 %.</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Como los prototipos de un método no vienen ordenados de la misma manera que los del otro, utilizamos el algoritmo húngaro para establecer un emparejamiento uno a uno.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Así podemos comparar los conjuntos de prototipos utilizando sus determinantes seleccionados.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Es importante distinguir las dos métricas: la cobertura nos dice qué proporción del peso de las firmas candidatas cubrimos; Jaccard nos dice cuánto se parecen las firmas que estamos comparando</a:t>
            </a:r>
            <a:endParaRPr b="1"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412c17598e8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6" name="Google Shape;716;g412c17598e8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este primer mapa comparamos directamente los prototipos obtenidos mediante Greedy a partir de K-means y EFA.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el eje horizontal tenemos el número de prototipos seleccionados, P, y en el vertical el radio de Hamming, H. Cada panel corresponde a una de las cuatro matrices.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valor de cada celda indica la similitud Jaccard media de los prototipos emparejados.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latin typeface="Nunito"/>
                <a:ea typeface="Nunito"/>
                <a:cs typeface="Nunito"/>
                <a:sym typeface="Nunito"/>
              </a:rPr>
              <a:t>Observamos que los dos métodos presentan coincidencias parciales, pero no generan exactamente las mismas firmas</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ejemplo, en EXT, con H = 2 y P = 6, la similitud alcanza el </a:t>
            </a:r>
            <a:r>
              <a:rPr b="1" lang="en" sz="1400">
                <a:solidFill>
                  <a:schemeClr val="dk1"/>
                </a:solidFill>
                <a:latin typeface="Nunito"/>
                <a:ea typeface="Nunito"/>
                <a:cs typeface="Nunito"/>
                <a:sym typeface="Nunito"/>
              </a:rPr>
              <a:t>56 %</a:t>
            </a:r>
            <a:r>
              <a:rPr lang="en" sz="1400">
                <a:solidFill>
                  <a:schemeClr val="dk1"/>
                </a:solidFill>
                <a:latin typeface="Nunito"/>
                <a:ea typeface="Nunito"/>
                <a:cs typeface="Nunito"/>
                <a:sym typeface="Nunito"/>
              </a:rPr>
              <a:t>. En cambio, para otras combinaciones encontramos valores más próximos al 30–40 %.</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Además, la similitud no aumenta necesariamente cuando incrementamos H o P. Esto ocurre porque cambiar estos parámetros puede modificar qué firmas se seleccionan como prototipos.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Este resultado nos muestra que las estructuras derivadas de K-means y EFA comparten determinados patrones, pero también presentan diferencias en los determinantes seleccionados.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tanto, la comparación nos permite estudiar </a:t>
            </a:r>
            <a:r>
              <a:rPr b="1" lang="en" sz="1400">
                <a:solidFill>
                  <a:schemeClr val="dk1"/>
                </a:solidFill>
                <a:latin typeface="Nunito"/>
                <a:ea typeface="Nunito"/>
                <a:cs typeface="Nunito"/>
                <a:sym typeface="Nunito"/>
              </a:rPr>
              <a:t>hasta qué punto ambos métodos identifican firmas similares</a:t>
            </a:r>
            <a:r>
              <a:rPr lang="en" sz="1400">
                <a:solidFill>
                  <a:schemeClr val="dk1"/>
                </a:solidFill>
                <a:latin typeface="Nunito"/>
                <a:ea typeface="Nunito"/>
                <a:cs typeface="Nunito"/>
                <a:sym typeface="Nunito"/>
              </a:rPr>
              <a:t>, sin asumir que tienen que producir exactamente los mismos resultados</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412c17598e8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5" name="Google Shape;725;g412c17598e8_0_3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este gráfico comparamos las firmas seleccionadas por Greedy a partir de K-means con las firmas definidas por los expertos.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Utilizamos el mismo procedimiento de comparación mediante Jaccard y emparejamiento húngaro.</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Observamos que la similitud depende de la matriz utilizada y de la configuración de H y P.</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ejemplo, en la matriz POS, con H = 2 y P = 4, obtenemos una similitud del </a:t>
            </a:r>
            <a:r>
              <a:rPr b="1" lang="en" sz="1400">
                <a:solidFill>
                  <a:schemeClr val="dk1"/>
                </a:solidFill>
                <a:latin typeface="Nunito"/>
                <a:ea typeface="Nunito"/>
                <a:cs typeface="Nunito"/>
                <a:sym typeface="Nunito"/>
              </a:rPr>
              <a:t>55,5 %</a:t>
            </a:r>
            <a:r>
              <a:rPr lang="en" sz="1400">
                <a:solidFill>
                  <a:schemeClr val="dk1"/>
                </a:solidFill>
                <a:latin typeface="Nunito"/>
                <a:ea typeface="Nunito"/>
                <a:cs typeface="Nunito"/>
                <a:sym typeface="Nunito"/>
              </a:rPr>
              <a:t>. En RAW, para esa misma configuración, obtenemos un </a:t>
            </a:r>
            <a:r>
              <a:rPr b="1" lang="en" sz="1400">
                <a:solidFill>
                  <a:schemeClr val="dk1"/>
                </a:solidFill>
                <a:latin typeface="Nunito"/>
                <a:ea typeface="Nunito"/>
                <a:cs typeface="Nunito"/>
                <a:sym typeface="Nunito"/>
              </a:rPr>
              <a:t>48,3 %</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cambio, para Z_ABS encontramos valores considerablemente menores en las configuraciones representadas, aproximadamente entre el 17 % y el 31 %.</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Esto indica que </a:t>
            </a:r>
            <a:r>
              <a:rPr b="1" lang="en" sz="1400">
                <a:solidFill>
                  <a:schemeClr val="dk1"/>
                </a:solidFill>
                <a:latin typeface="Nunito"/>
                <a:ea typeface="Nunito"/>
                <a:cs typeface="Nunito"/>
                <a:sym typeface="Nunito"/>
              </a:rPr>
              <a:t>las firmas derivadas de K-means coinciden parcialmente con los arquetipos expertos, pero el grado de coincidencia cambia según cómo representamos los determinantes y cómo configuramos Greedy</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 importante recordar que los arquetipos expertos constituyen una referencia conceptual para la comparación. No estamos midiendo directamente la exactitud de los modelos ni la cobertura de participantes</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412c17598e8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4" name="Google Shape;734;g412c17598e8_0_3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Ahora repetimos la comparación con los prototipos obtenidos a partir de EFA.</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En este caso, las firmas se construyeron a partir de las cargas factoriales, en lugar de los centroides de K-means.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El gráfico muestra que también existen coincidencias parciales entre las firmas derivadas de EFA y los arquetipos expertos.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Por ejemplo, en Z_ABS, con H = 5 y P = 4, obtenemos una similitud del </a:t>
            </a:r>
            <a:r>
              <a:rPr b="1" lang="en" sz="1400">
                <a:solidFill>
                  <a:schemeClr val="dk1"/>
                </a:solidFill>
                <a:latin typeface="Nunito"/>
                <a:ea typeface="Nunito"/>
                <a:cs typeface="Nunito"/>
                <a:sym typeface="Nunito"/>
              </a:rPr>
              <a:t>42,3 %</a:t>
            </a:r>
            <a:r>
              <a:rPr lang="en" sz="1400">
                <a:solidFill>
                  <a:schemeClr val="dk1"/>
                </a:solidFill>
                <a:latin typeface="Nunito"/>
                <a:ea typeface="Nunito"/>
                <a:cs typeface="Nunito"/>
                <a:sym typeface="Nunito"/>
              </a:rPr>
              <a:t>. En RAW, con H = 8 y P = 8, la similitud es del </a:t>
            </a:r>
            <a:r>
              <a:rPr b="1" lang="en" sz="1400">
                <a:solidFill>
                  <a:schemeClr val="dk1"/>
                </a:solidFill>
                <a:latin typeface="Nunito"/>
                <a:ea typeface="Nunito"/>
                <a:cs typeface="Nunito"/>
                <a:sym typeface="Nunito"/>
              </a:rPr>
              <a:t>25,6 %</a:t>
            </a:r>
            <a:r>
              <a:rPr lang="en" sz="1400">
                <a:solidFill>
                  <a:schemeClr val="dk1"/>
                </a:solidFill>
                <a:latin typeface="Nunito"/>
                <a:ea typeface="Nunito"/>
                <a:cs typeface="Nunito"/>
                <a:sym typeface="Nunito"/>
              </a:rPr>
              <a:t>.</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Si comparamos estos resultados con el gráfico anterior, observamos que </a:t>
            </a:r>
            <a:r>
              <a:rPr b="1" lang="en" sz="1400">
                <a:solidFill>
                  <a:schemeClr val="dk1"/>
                </a:solidFill>
                <a:latin typeface="Nunito"/>
                <a:ea typeface="Nunito"/>
                <a:cs typeface="Nunito"/>
                <a:sym typeface="Nunito"/>
              </a:rPr>
              <a:t>las diferencias entre métodos dependen de la matriz y de la configuración concreta</a:t>
            </a:r>
            <a:r>
              <a:rPr lang="en" sz="1400">
                <a:solidFill>
                  <a:schemeClr val="dk1"/>
                </a:solidFill>
                <a:latin typeface="Nunito"/>
                <a:ea typeface="Nunito"/>
                <a:cs typeface="Nunito"/>
                <a:sym typeface="Nunito"/>
              </a:rPr>
              <a:t>. No existe una coincidencia uniforme entre todas las soluciones y los expertos.</a:t>
            </a:r>
            <a:endParaRPr sz="14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a:ea typeface="Nunito"/>
                <a:cs typeface="Nunito"/>
                <a:sym typeface="Nunito"/>
              </a:rPr>
              <a:t>Estos resultados nos permiten examinar qué determinantes comparten las estructuras empíricas y las firmas expertas, así como identificar dónde aparecen diferencias</a:t>
            </a:r>
            <a:endParaRPr sz="1400">
              <a:solidFill>
                <a:schemeClr val="dk1"/>
              </a:solidFill>
              <a:latin typeface="Nunito"/>
              <a:ea typeface="Nunito"/>
              <a:cs typeface="Nunito"/>
              <a:sym typeface="Nunito"/>
            </a:endParaRPr>
          </a:p>
          <a:p>
            <a:pPr indent="0" lvl="0" marL="0" rtl="0" algn="l">
              <a:lnSpc>
                <a:spcPct val="100000"/>
              </a:lnSpc>
              <a:spcBef>
                <a:spcPts val="1200"/>
              </a:spcBef>
              <a:spcAft>
                <a:spcPts val="0"/>
              </a:spcAft>
              <a:buSzPts val="1100"/>
              <a:buNone/>
            </a:pPr>
            <a:r>
              <a:t/>
            </a:r>
            <a:endParaRPr sz="1400">
              <a:latin typeface="Nunito"/>
              <a:ea typeface="Nunito"/>
              <a:cs typeface="Nunito"/>
              <a:sym typeface="Nunito"/>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e1caf1702d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2" name="Google Shape;742;g3e1caf1702d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412c17598e8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0" name="Google Shape;750;g412c17598e8_0_3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9" name="Shape 9"/>
        <p:cNvGrpSpPr/>
        <p:nvPr/>
      </p:nvGrpSpPr>
      <p:grpSpPr>
        <a:xfrm>
          <a:off x="0" y="0"/>
          <a:ext cx="0" cy="0"/>
          <a:chOff x="0" y="0"/>
          <a:chExt cx="0" cy="0"/>
        </a:xfrm>
      </p:grpSpPr>
      <p:pic>
        <p:nvPicPr>
          <p:cNvPr id="10" name="Google Shape;10;p57"/>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pic>
        <p:nvPicPr>
          <p:cNvPr id="11" name="Google Shape;11;p57"/>
          <p:cNvPicPr preferRelativeResize="0"/>
          <p:nvPr/>
        </p:nvPicPr>
        <p:blipFill rotWithShape="1">
          <a:blip r:embed="rId2">
            <a:alphaModFix/>
          </a:blip>
          <a:srcRect b="2272" l="-19690" r="19690" t="41478"/>
          <a:stretch/>
        </p:blipFill>
        <p:spPr>
          <a:xfrm>
            <a:off x="0" y="0"/>
            <a:ext cx="9144000" cy="5143500"/>
          </a:xfrm>
          <a:prstGeom prst="rect">
            <a:avLst/>
          </a:prstGeom>
          <a:noFill/>
          <a:ln>
            <a:noFill/>
          </a:ln>
        </p:spPr>
      </p:pic>
      <p:sp>
        <p:nvSpPr>
          <p:cNvPr id="12" name="Google Shape;12;p57"/>
          <p:cNvSpPr txBox="1"/>
          <p:nvPr>
            <p:ph type="ctrTitle"/>
          </p:nvPr>
        </p:nvSpPr>
        <p:spPr>
          <a:xfrm>
            <a:off x="711750" y="1958600"/>
            <a:ext cx="4280100" cy="26499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5200"/>
              <a:buNone/>
              <a:defRPr sz="9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57"/>
          <p:cNvSpPr txBox="1"/>
          <p:nvPr>
            <p:ph idx="1" type="subTitle"/>
          </p:nvPr>
        </p:nvSpPr>
        <p:spPr>
          <a:xfrm>
            <a:off x="4572000" y="535000"/>
            <a:ext cx="3860400" cy="3882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4" name="Google Shape;14;p5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solidFill>
          <a:schemeClr val="lt1"/>
        </a:solidFill>
      </p:bgPr>
    </p:bg>
    <p:spTree>
      <p:nvGrpSpPr>
        <p:cNvPr id="15" name="Shape 15"/>
        <p:cNvGrpSpPr/>
        <p:nvPr/>
      </p:nvGrpSpPr>
      <p:grpSpPr>
        <a:xfrm>
          <a:off x="0" y="0"/>
          <a:ext cx="0" cy="0"/>
          <a:chOff x="0" y="0"/>
          <a:chExt cx="0" cy="0"/>
        </a:xfrm>
      </p:grpSpPr>
      <p:pic>
        <p:nvPicPr>
          <p:cNvPr id="16" name="Google Shape;16;p59"/>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sp>
        <p:nvSpPr>
          <p:cNvPr id="17" name="Google Shape;17;p59"/>
          <p:cNvSpPr txBox="1"/>
          <p:nvPr>
            <p:ph type="title"/>
          </p:nvPr>
        </p:nvSpPr>
        <p:spPr>
          <a:xfrm>
            <a:off x="1070650" y="1367325"/>
            <a:ext cx="538500" cy="73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 name="Google Shape;18;p59"/>
          <p:cNvSpPr txBox="1"/>
          <p:nvPr>
            <p:ph idx="1" type="subTitle"/>
          </p:nvPr>
        </p:nvSpPr>
        <p:spPr>
          <a:xfrm>
            <a:off x="1609075" y="1367325"/>
            <a:ext cx="2607300" cy="73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9" name="Google Shape;19;p59"/>
          <p:cNvSpPr txBox="1"/>
          <p:nvPr>
            <p:ph idx="2"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None/>
              <a:defRPr>
                <a:solidFill>
                  <a:schemeClr val="dk1"/>
                </a:solidFill>
              </a:defRPr>
            </a:lvl1pPr>
            <a:lvl2pPr lvl="1" algn="l">
              <a:lnSpc>
                <a:spcPct val="100000"/>
              </a:lnSpc>
              <a:spcBef>
                <a:spcPts val="0"/>
              </a:spcBef>
              <a:spcAft>
                <a:spcPts val="0"/>
              </a:spcAft>
              <a:buClr>
                <a:schemeClr val="dk1"/>
              </a:buClr>
              <a:buSzPts val="3000"/>
              <a:buNone/>
              <a:defRPr sz="3000">
                <a:solidFill>
                  <a:schemeClr val="dk1"/>
                </a:solidFill>
              </a:defRPr>
            </a:lvl2pPr>
            <a:lvl3pPr lvl="2" algn="l">
              <a:lnSpc>
                <a:spcPct val="100000"/>
              </a:lnSpc>
              <a:spcBef>
                <a:spcPts val="0"/>
              </a:spcBef>
              <a:spcAft>
                <a:spcPts val="0"/>
              </a:spcAft>
              <a:buClr>
                <a:schemeClr val="dk1"/>
              </a:buClr>
              <a:buSzPts val="3000"/>
              <a:buNone/>
              <a:defRPr sz="3000">
                <a:solidFill>
                  <a:schemeClr val="dk1"/>
                </a:solidFill>
              </a:defRPr>
            </a:lvl3pPr>
            <a:lvl4pPr lvl="3" algn="l">
              <a:lnSpc>
                <a:spcPct val="100000"/>
              </a:lnSpc>
              <a:spcBef>
                <a:spcPts val="0"/>
              </a:spcBef>
              <a:spcAft>
                <a:spcPts val="0"/>
              </a:spcAft>
              <a:buClr>
                <a:schemeClr val="dk1"/>
              </a:buClr>
              <a:buSzPts val="3000"/>
              <a:buNone/>
              <a:defRPr sz="3000">
                <a:solidFill>
                  <a:schemeClr val="dk1"/>
                </a:solidFill>
              </a:defRPr>
            </a:lvl4pPr>
            <a:lvl5pPr lvl="4" algn="l">
              <a:lnSpc>
                <a:spcPct val="100000"/>
              </a:lnSpc>
              <a:spcBef>
                <a:spcPts val="0"/>
              </a:spcBef>
              <a:spcAft>
                <a:spcPts val="0"/>
              </a:spcAft>
              <a:buClr>
                <a:schemeClr val="dk1"/>
              </a:buClr>
              <a:buSzPts val="3000"/>
              <a:buNone/>
              <a:defRPr sz="3000">
                <a:solidFill>
                  <a:schemeClr val="dk1"/>
                </a:solidFill>
              </a:defRPr>
            </a:lvl5pPr>
            <a:lvl6pPr lvl="5" algn="l">
              <a:lnSpc>
                <a:spcPct val="100000"/>
              </a:lnSpc>
              <a:spcBef>
                <a:spcPts val="0"/>
              </a:spcBef>
              <a:spcAft>
                <a:spcPts val="0"/>
              </a:spcAft>
              <a:buClr>
                <a:schemeClr val="dk1"/>
              </a:buClr>
              <a:buSzPts val="3000"/>
              <a:buNone/>
              <a:defRPr sz="3000">
                <a:solidFill>
                  <a:schemeClr val="dk1"/>
                </a:solidFill>
              </a:defRPr>
            </a:lvl6pPr>
            <a:lvl7pPr lvl="6" algn="l">
              <a:lnSpc>
                <a:spcPct val="100000"/>
              </a:lnSpc>
              <a:spcBef>
                <a:spcPts val="0"/>
              </a:spcBef>
              <a:spcAft>
                <a:spcPts val="0"/>
              </a:spcAft>
              <a:buClr>
                <a:schemeClr val="dk1"/>
              </a:buClr>
              <a:buSzPts val="3000"/>
              <a:buNone/>
              <a:defRPr sz="3000">
                <a:solidFill>
                  <a:schemeClr val="dk1"/>
                </a:solidFill>
              </a:defRPr>
            </a:lvl7pPr>
            <a:lvl8pPr lvl="7" algn="l">
              <a:lnSpc>
                <a:spcPct val="100000"/>
              </a:lnSpc>
              <a:spcBef>
                <a:spcPts val="0"/>
              </a:spcBef>
              <a:spcAft>
                <a:spcPts val="0"/>
              </a:spcAft>
              <a:buClr>
                <a:schemeClr val="dk1"/>
              </a:buClr>
              <a:buSzPts val="3000"/>
              <a:buNone/>
              <a:defRPr sz="3000">
                <a:solidFill>
                  <a:schemeClr val="dk1"/>
                </a:solidFill>
              </a:defRPr>
            </a:lvl8pPr>
            <a:lvl9pPr lvl="8" algn="l">
              <a:lnSpc>
                <a:spcPct val="100000"/>
              </a:lnSpc>
              <a:spcBef>
                <a:spcPts val="0"/>
              </a:spcBef>
              <a:spcAft>
                <a:spcPts val="0"/>
              </a:spcAft>
              <a:buClr>
                <a:schemeClr val="dk1"/>
              </a:buClr>
              <a:buSzPts val="3000"/>
              <a:buNone/>
              <a:defRPr sz="3000">
                <a:solidFill>
                  <a:schemeClr val="dk1"/>
                </a:solidFill>
              </a:defRPr>
            </a:lvl9pPr>
          </a:lstStyle>
          <a:p/>
        </p:txBody>
      </p:sp>
      <p:sp>
        <p:nvSpPr>
          <p:cNvPr id="20" name="Google Shape;20;p59"/>
          <p:cNvSpPr txBox="1"/>
          <p:nvPr>
            <p:ph idx="3" type="title"/>
          </p:nvPr>
        </p:nvSpPr>
        <p:spPr>
          <a:xfrm>
            <a:off x="1070650" y="2103525"/>
            <a:ext cx="538500" cy="73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 name="Google Shape;21;p59"/>
          <p:cNvSpPr txBox="1"/>
          <p:nvPr>
            <p:ph idx="4" type="subTitle"/>
          </p:nvPr>
        </p:nvSpPr>
        <p:spPr>
          <a:xfrm>
            <a:off x="1609075" y="2103524"/>
            <a:ext cx="2607300" cy="73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22" name="Google Shape;22;p59"/>
          <p:cNvSpPr txBox="1"/>
          <p:nvPr>
            <p:ph idx="5" type="title"/>
          </p:nvPr>
        </p:nvSpPr>
        <p:spPr>
          <a:xfrm>
            <a:off x="1070650" y="2839750"/>
            <a:ext cx="538500" cy="73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 name="Google Shape;23;p59"/>
          <p:cNvSpPr txBox="1"/>
          <p:nvPr>
            <p:ph idx="6" type="subTitle"/>
          </p:nvPr>
        </p:nvSpPr>
        <p:spPr>
          <a:xfrm>
            <a:off x="1609075" y="2839748"/>
            <a:ext cx="2607300" cy="73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24" name="Google Shape;24;p59"/>
          <p:cNvSpPr txBox="1"/>
          <p:nvPr>
            <p:ph idx="7" type="title"/>
          </p:nvPr>
        </p:nvSpPr>
        <p:spPr>
          <a:xfrm>
            <a:off x="1070650" y="3575950"/>
            <a:ext cx="538500" cy="73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5" name="Google Shape;25;p59"/>
          <p:cNvSpPr txBox="1"/>
          <p:nvPr>
            <p:ph idx="8" type="subTitle"/>
          </p:nvPr>
        </p:nvSpPr>
        <p:spPr>
          <a:xfrm>
            <a:off x="1609075" y="3575948"/>
            <a:ext cx="2607300" cy="73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26" name="Google Shape;26;p59"/>
          <p:cNvSpPr txBox="1"/>
          <p:nvPr>
            <p:ph idx="9" type="title"/>
          </p:nvPr>
        </p:nvSpPr>
        <p:spPr>
          <a:xfrm>
            <a:off x="4927449" y="1367325"/>
            <a:ext cx="538500" cy="73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7" name="Google Shape;27;p59"/>
          <p:cNvSpPr txBox="1"/>
          <p:nvPr>
            <p:ph idx="13" type="subTitle"/>
          </p:nvPr>
        </p:nvSpPr>
        <p:spPr>
          <a:xfrm>
            <a:off x="5465950" y="1367325"/>
            <a:ext cx="2607300" cy="73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28" name="Google Shape;28;p59"/>
          <p:cNvSpPr txBox="1"/>
          <p:nvPr>
            <p:ph idx="14" type="title"/>
          </p:nvPr>
        </p:nvSpPr>
        <p:spPr>
          <a:xfrm>
            <a:off x="4927449" y="2103522"/>
            <a:ext cx="538500" cy="73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 name="Google Shape;29;p59"/>
          <p:cNvSpPr txBox="1"/>
          <p:nvPr>
            <p:ph idx="15" type="subTitle"/>
          </p:nvPr>
        </p:nvSpPr>
        <p:spPr>
          <a:xfrm>
            <a:off x="5465950" y="2103519"/>
            <a:ext cx="2607300" cy="73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30" name="Google Shape;30;p59"/>
          <p:cNvSpPr txBox="1"/>
          <p:nvPr>
            <p:ph idx="16" type="title"/>
          </p:nvPr>
        </p:nvSpPr>
        <p:spPr>
          <a:xfrm>
            <a:off x="4927449" y="2839728"/>
            <a:ext cx="538500" cy="73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1" name="Google Shape;31;p59"/>
          <p:cNvSpPr txBox="1"/>
          <p:nvPr>
            <p:ph idx="17" type="subTitle"/>
          </p:nvPr>
        </p:nvSpPr>
        <p:spPr>
          <a:xfrm>
            <a:off x="5465950" y="2839721"/>
            <a:ext cx="2607300" cy="73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32" name="Google Shape;32;p59"/>
          <p:cNvSpPr txBox="1"/>
          <p:nvPr>
            <p:ph idx="18" type="title"/>
          </p:nvPr>
        </p:nvSpPr>
        <p:spPr>
          <a:xfrm>
            <a:off x="4927449" y="3575925"/>
            <a:ext cx="538500" cy="73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3" name="Google Shape;33;p59"/>
          <p:cNvSpPr txBox="1"/>
          <p:nvPr>
            <p:ph idx="19" type="subTitle"/>
          </p:nvPr>
        </p:nvSpPr>
        <p:spPr>
          <a:xfrm>
            <a:off x="5465950" y="3575916"/>
            <a:ext cx="2607300" cy="73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34" name="Google Shape;34;p5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35" name="Shape 35"/>
        <p:cNvGrpSpPr/>
        <p:nvPr/>
      </p:nvGrpSpPr>
      <p:grpSpPr>
        <a:xfrm>
          <a:off x="0" y="0"/>
          <a:ext cx="0" cy="0"/>
          <a:chOff x="0" y="0"/>
          <a:chExt cx="0" cy="0"/>
        </a:xfrm>
      </p:grpSpPr>
      <p:pic>
        <p:nvPicPr>
          <p:cNvPr id="36" name="Google Shape;36;p61"/>
          <p:cNvPicPr preferRelativeResize="0"/>
          <p:nvPr/>
        </p:nvPicPr>
        <p:blipFill rotWithShape="1">
          <a:blip r:embed="rId2">
            <a:alphaModFix/>
          </a:blip>
          <a:srcRect b="-6812" l="-55210" r="55210" t="50562"/>
          <a:stretch/>
        </p:blipFill>
        <p:spPr>
          <a:xfrm flipH="1">
            <a:off x="0" y="0"/>
            <a:ext cx="9144000" cy="5143500"/>
          </a:xfrm>
          <a:prstGeom prst="rect">
            <a:avLst/>
          </a:prstGeom>
          <a:noFill/>
          <a:ln>
            <a:noFill/>
          </a:ln>
        </p:spPr>
      </p:pic>
      <p:pic>
        <p:nvPicPr>
          <p:cNvPr id="37" name="Google Shape;37;p61"/>
          <p:cNvPicPr preferRelativeResize="0"/>
          <p:nvPr/>
        </p:nvPicPr>
        <p:blipFill rotWithShape="1">
          <a:blip r:embed="rId3">
            <a:alphaModFix/>
          </a:blip>
          <a:srcRect b="-40" l="36284" r="-6" t="30"/>
          <a:stretch/>
        </p:blipFill>
        <p:spPr>
          <a:xfrm rot="10800000">
            <a:off x="5864950" y="-3275"/>
            <a:ext cx="3279050" cy="5146775"/>
          </a:xfrm>
          <a:prstGeom prst="rect">
            <a:avLst/>
          </a:prstGeom>
          <a:noFill/>
          <a:ln>
            <a:noFill/>
          </a:ln>
        </p:spPr>
      </p:pic>
      <p:sp>
        <p:nvSpPr>
          <p:cNvPr id="38" name="Google Shape;38;p61"/>
          <p:cNvSpPr txBox="1"/>
          <p:nvPr>
            <p:ph type="title"/>
          </p:nvPr>
        </p:nvSpPr>
        <p:spPr>
          <a:xfrm>
            <a:off x="715100" y="3328050"/>
            <a:ext cx="7708800" cy="125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7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9" name="Google Shape;39;p61"/>
          <p:cNvSpPr txBox="1"/>
          <p:nvPr>
            <p:ph idx="2" type="title"/>
          </p:nvPr>
        </p:nvSpPr>
        <p:spPr>
          <a:xfrm>
            <a:off x="715100" y="2074250"/>
            <a:ext cx="7708800" cy="12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2"/>
              </a:buClr>
              <a:buSzPts val="6000"/>
              <a:buNone/>
              <a:defRPr sz="7000">
                <a:solidFill>
                  <a:schemeClr val="lt2"/>
                </a:solidFill>
              </a:defRPr>
            </a:lvl1pPr>
            <a:lvl2pPr lvl="1" algn="ctr">
              <a:lnSpc>
                <a:spcPct val="100000"/>
              </a:lnSpc>
              <a:spcBef>
                <a:spcPts val="0"/>
              </a:spcBef>
              <a:spcAft>
                <a:spcPts val="0"/>
              </a:spcAft>
              <a:buClr>
                <a:schemeClr val="lt2"/>
              </a:buClr>
              <a:buSzPts val="6000"/>
              <a:buNone/>
              <a:defRPr sz="6000">
                <a:solidFill>
                  <a:schemeClr val="lt2"/>
                </a:solidFill>
              </a:defRPr>
            </a:lvl2pPr>
            <a:lvl3pPr lvl="2" algn="ctr">
              <a:lnSpc>
                <a:spcPct val="100000"/>
              </a:lnSpc>
              <a:spcBef>
                <a:spcPts val="0"/>
              </a:spcBef>
              <a:spcAft>
                <a:spcPts val="0"/>
              </a:spcAft>
              <a:buClr>
                <a:schemeClr val="lt2"/>
              </a:buClr>
              <a:buSzPts val="6000"/>
              <a:buNone/>
              <a:defRPr sz="6000">
                <a:solidFill>
                  <a:schemeClr val="lt2"/>
                </a:solidFill>
              </a:defRPr>
            </a:lvl3pPr>
            <a:lvl4pPr lvl="3" algn="ctr">
              <a:lnSpc>
                <a:spcPct val="100000"/>
              </a:lnSpc>
              <a:spcBef>
                <a:spcPts val="0"/>
              </a:spcBef>
              <a:spcAft>
                <a:spcPts val="0"/>
              </a:spcAft>
              <a:buClr>
                <a:schemeClr val="lt2"/>
              </a:buClr>
              <a:buSzPts val="6000"/>
              <a:buNone/>
              <a:defRPr sz="6000">
                <a:solidFill>
                  <a:schemeClr val="lt2"/>
                </a:solidFill>
              </a:defRPr>
            </a:lvl4pPr>
            <a:lvl5pPr lvl="4" algn="ctr">
              <a:lnSpc>
                <a:spcPct val="100000"/>
              </a:lnSpc>
              <a:spcBef>
                <a:spcPts val="0"/>
              </a:spcBef>
              <a:spcAft>
                <a:spcPts val="0"/>
              </a:spcAft>
              <a:buClr>
                <a:schemeClr val="lt2"/>
              </a:buClr>
              <a:buSzPts val="6000"/>
              <a:buNone/>
              <a:defRPr sz="6000">
                <a:solidFill>
                  <a:schemeClr val="lt2"/>
                </a:solidFill>
              </a:defRPr>
            </a:lvl5pPr>
            <a:lvl6pPr lvl="5" algn="ctr">
              <a:lnSpc>
                <a:spcPct val="100000"/>
              </a:lnSpc>
              <a:spcBef>
                <a:spcPts val="0"/>
              </a:spcBef>
              <a:spcAft>
                <a:spcPts val="0"/>
              </a:spcAft>
              <a:buClr>
                <a:schemeClr val="lt2"/>
              </a:buClr>
              <a:buSzPts val="6000"/>
              <a:buNone/>
              <a:defRPr sz="6000">
                <a:solidFill>
                  <a:schemeClr val="lt2"/>
                </a:solidFill>
              </a:defRPr>
            </a:lvl6pPr>
            <a:lvl7pPr lvl="6" algn="ctr">
              <a:lnSpc>
                <a:spcPct val="100000"/>
              </a:lnSpc>
              <a:spcBef>
                <a:spcPts val="0"/>
              </a:spcBef>
              <a:spcAft>
                <a:spcPts val="0"/>
              </a:spcAft>
              <a:buClr>
                <a:schemeClr val="lt2"/>
              </a:buClr>
              <a:buSzPts val="6000"/>
              <a:buNone/>
              <a:defRPr sz="6000">
                <a:solidFill>
                  <a:schemeClr val="lt2"/>
                </a:solidFill>
              </a:defRPr>
            </a:lvl7pPr>
            <a:lvl8pPr lvl="7" algn="ctr">
              <a:lnSpc>
                <a:spcPct val="100000"/>
              </a:lnSpc>
              <a:spcBef>
                <a:spcPts val="0"/>
              </a:spcBef>
              <a:spcAft>
                <a:spcPts val="0"/>
              </a:spcAft>
              <a:buClr>
                <a:schemeClr val="lt2"/>
              </a:buClr>
              <a:buSzPts val="6000"/>
              <a:buNone/>
              <a:defRPr sz="6000">
                <a:solidFill>
                  <a:schemeClr val="lt2"/>
                </a:solidFill>
              </a:defRPr>
            </a:lvl8pPr>
            <a:lvl9pPr lvl="8" algn="ctr">
              <a:lnSpc>
                <a:spcPct val="100000"/>
              </a:lnSpc>
              <a:spcBef>
                <a:spcPts val="0"/>
              </a:spcBef>
              <a:spcAft>
                <a:spcPts val="0"/>
              </a:spcAft>
              <a:buClr>
                <a:schemeClr val="lt2"/>
              </a:buClr>
              <a:buSzPts val="6000"/>
              <a:buNone/>
              <a:defRPr sz="6000">
                <a:solidFill>
                  <a:schemeClr val="lt2"/>
                </a:solidFill>
              </a:defRPr>
            </a:lvl9pPr>
          </a:lstStyle>
          <a:p/>
        </p:txBody>
      </p:sp>
      <p:sp>
        <p:nvSpPr>
          <p:cNvPr id="40" name="Google Shape;40;p61"/>
          <p:cNvSpPr txBox="1"/>
          <p:nvPr>
            <p:ph idx="1" type="subTitle"/>
          </p:nvPr>
        </p:nvSpPr>
        <p:spPr>
          <a:xfrm>
            <a:off x="4572000" y="535000"/>
            <a:ext cx="3856800" cy="388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1" name="Google Shape;41;p6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42" name="Shape 42"/>
        <p:cNvGrpSpPr/>
        <p:nvPr/>
      </p:nvGrpSpPr>
      <p:grpSpPr>
        <a:xfrm>
          <a:off x="0" y="0"/>
          <a:ext cx="0" cy="0"/>
          <a:chOff x="0" y="0"/>
          <a:chExt cx="0" cy="0"/>
        </a:xfrm>
      </p:grpSpPr>
      <p:pic>
        <p:nvPicPr>
          <p:cNvPr id="43" name="Google Shape;43;p63"/>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sp>
        <p:nvSpPr>
          <p:cNvPr id="44" name="Google Shape;44;p63"/>
          <p:cNvSpPr txBox="1"/>
          <p:nvPr>
            <p:ph idx="1" type="subTitle"/>
          </p:nvPr>
        </p:nvSpPr>
        <p:spPr>
          <a:xfrm>
            <a:off x="1189750" y="1742900"/>
            <a:ext cx="2907600" cy="217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5" name="Google Shape;45;p63"/>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46" name="Google Shape;46;p63"/>
          <p:cNvSpPr txBox="1"/>
          <p:nvPr>
            <p:ph idx="2" type="subTitle"/>
          </p:nvPr>
        </p:nvSpPr>
        <p:spPr>
          <a:xfrm>
            <a:off x="5046650" y="1742900"/>
            <a:ext cx="2907600" cy="217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 name="Google Shape;47;p6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48" name="Shape 48"/>
        <p:cNvGrpSpPr/>
        <p:nvPr/>
      </p:nvGrpSpPr>
      <p:grpSpPr>
        <a:xfrm>
          <a:off x="0" y="0"/>
          <a:ext cx="0" cy="0"/>
          <a:chOff x="0" y="0"/>
          <a:chExt cx="0" cy="0"/>
        </a:xfrm>
      </p:grpSpPr>
      <p:pic>
        <p:nvPicPr>
          <p:cNvPr id="49" name="Google Shape;49;p89"/>
          <p:cNvPicPr preferRelativeResize="0"/>
          <p:nvPr/>
        </p:nvPicPr>
        <p:blipFill rotWithShape="1">
          <a:blip r:embed="rId2">
            <a:alphaModFix/>
          </a:blip>
          <a:srcRect b="-6812" l="-55210" r="55210" t="50562"/>
          <a:stretch/>
        </p:blipFill>
        <p:spPr>
          <a:xfrm>
            <a:off x="0" y="0"/>
            <a:ext cx="9144000" cy="5143500"/>
          </a:xfrm>
          <a:prstGeom prst="rect">
            <a:avLst/>
          </a:prstGeom>
          <a:noFill/>
          <a:ln>
            <a:noFill/>
          </a:ln>
        </p:spPr>
      </p:pic>
      <p:pic>
        <p:nvPicPr>
          <p:cNvPr id="50" name="Google Shape;50;p89"/>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sp>
        <p:nvSpPr>
          <p:cNvPr id="51" name="Google Shape;51;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52" name="Shape 52"/>
        <p:cNvGrpSpPr/>
        <p:nvPr/>
      </p:nvGrpSpPr>
      <p:grpSpPr>
        <a:xfrm>
          <a:off x="0" y="0"/>
          <a:ext cx="0" cy="0"/>
          <a:chOff x="0" y="0"/>
          <a:chExt cx="0" cy="0"/>
        </a:xfrm>
      </p:grpSpPr>
      <p:pic>
        <p:nvPicPr>
          <p:cNvPr id="53" name="Google Shape;53;p58"/>
          <p:cNvPicPr preferRelativeResize="0"/>
          <p:nvPr/>
        </p:nvPicPr>
        <p:blipFill rotWithShape="1">
          <a:blip r:embed="rId2">
            <a:alphaModFix/>
          </a:blip>
          <a:srcRect b="47851" l="104756" r="280063" t="-108210"/>
          <a:stretch/>
        </p:blipFill>
        <p:spPr>
          <a:xfrm rot="10800000">
            <a:off x="1325" y="-1637"/>
            <a:ext cx="9141450" cy="5146775"/>
          </a:xfrm>
          <a:prstGeom prst="rect">
            <a:avLst/>
          </a:prstGeom>
          <a:noFill/>
          <a:ln>
            <a:noFill/>
          </a:ln>
        </p:spPr>
      </p:pic>
      <p:sp>
        <p:nvSpPr>
          <p:cNvPr id="54" name="Google Shape;54;p58"/>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55" name="Google Shape;55;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solidFill>
          <a:schemeClr val="lt1"/>
        </a:solidFill>
      </p:bgPr>
    </p:bg>
    <p:spTree>
      <p:nvGrpSpPr>
        <p:cNvPr id="56" name="Shape 56"/>
        <p:cNvGrpSpPr/>
        <p:nvPr/>
      </p:nvGrpSpPr>
      <p:grpSpPr>
        <a:xfrm>
          <a:off x="0" y="0"/>
          <a:ext cx="0" cy="0"/>
          <a:chOff x="0" y="0"/>
          <a:chExt cx="0" cy="0"/>
        </a:xfrm>
      </p:grpSpPr>
      <p:pic>
        <p:nvPicPr>
          <p:cNvPr id="57" name="Google Shape;57;p65"/>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58" name="Google Shape;58;p65"/>
          <p:cNvSpPr txBox="1"/>
          <p:nvPr>
            <p:ph idx="1" type="subTitle"/>
          </p:nvPr>
        </p:nvSpPr>
        <p:spPr>
          <a:xfrm>
            <a:off x="715100" y="2046500"/>
            <a:ext cx="5930100" cy="72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9" name="Google Shape;59;p65"/>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60" name="Google Shape;60;p65"/>
          <p:cNvSpPr txBox="1"/>
          <p:nvPr>
            <p:ph idx="2" type="subTitle"/>
          </p:nvPr>
        </p:nvSpPr>
        <p:spPr>
          <a:xfrm>
            <a:off x="715100" y="3299000"/>
            <a:ext cx="5930100" cy="72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1" name="Google Shape;61;p65"/>
          <p:cNvSpPr txBox="1"/>
          <p:nvPr>
            <p:ph idx="3" type="subTitle"/>
          </p:nvPr>
        </p:nvSpPr>
        <p:spPr>
          <a:xfrm>
            <a:off x="715100" y="1666700"/>
            <a:ext cx="5930100" cy="45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2" name="Google Shape;62;p65"/>
          <p:cNvSpPr txBox="1"/>
          <p:nvPr>
            <p:ph idx="4" type="subTitle"/>
          </p:nvPr>
        </p:nvSpPr>
        <p:spPr>
          <a:xfrm>
            <a:off x="715100" y="2919200"/>
            <a:ext cx="5930100" cy="45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3" name="Google Shape;63;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bg>
      <p:bgPr>
        <a:solidFill>
          <a:schemeClr val="lt1"/>
        </a:solidFill>
      </p:bgPr>
    </p:bg>
    <p:spTree>
      <p:nvGrpSpPr>
        <p:cNvPr id="64" name="Shape 64"/>
        <p:cNvGrpSpPr/>
        <p:nvPr/>
      </p:nvGrpSpPr>
      <p:grpSpPr>
        <a:xfrm>
          <a:off x="0" y="0"/>
          <a:ext cx="0" cy="0"/>
          <a:chOff x="0" y="0"/>
          <a:chExt cx="0" cy="0"/>
        </a:xfrm>
      </p:grpSpPr>
      <p:sp>
        <p:nvSpPr>
          <p:cNvPr id="65" name="Google Shape;65;p66"/>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66" name="Google Shape;66;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bg>
      <p:bgPr>
        <a:solidFill>
          <a:schemeClr val="lt1"/>
        </a:solidFill>
      </p:bgPr>
    </p:bg>
    <p:spTree>
      <p:nvGrpSpPr>
        <p:cNvPr id="67" name="Shape 67"/>
        <p:cNvGrpSpPr/>
        <p:nvPr/>
      </p:nvGrpSpPr>
      <p:grpSpPr>
        <a:xfrm>
          <a:off x="0" y="0"/>
          <a:ext cx="0" cy="0"/>
          <a:chOff x="0" y="0"/>
          <a:chExt cx="0" cy="0"/>
        </a:xfrm>
      </p:grpSpPr>
      <p:pic>
        <p:nvPicPr>
          <p:cNvPr id="68" name="Google Shape;68;p68"/>
          <p:cNvPicPr preferRelativeResize="0"/>
          <p:nvPr/>
        </p:nvPicPr>
        <p:blipFill rotWithShape="1">
          <a:blip r:embed="rId2">
            <a:alphaModFix/>
          </a:blip>
          <a:srcRect b="47851" l="104756" r="280063" t="-108210"/>
          <a:stretch/>
        </p:blipFill>
        <p:spPr>
          <a:xfrm rot="10800000">
            <a:off x="1325" y="-1637"/>
            <a:ext cx="9141450" cy="5146775"/>
          </a:xfrm>
          <a:prstGeom prst="rect">
            <a:avLst/>
          </a:prstGeom>
          <a:noFill/>
          <a:ln>
            <a:noFill/>
          </a:ln>
        </p:spPr>
      </p:pic>
      <p:sp>
        <p:nvSpPr>
          <p:cNvPr id="69" name="Google Shape;69;p68"/>
          <p:cNvSpPr txBox="1"/>
          <p:nvPr>
            <p:ph idx="1" type="subTitle"/>
          </p:nvPr>
        </p:nvSpPr>
        <p:spPr>
          <a:xfrm>
            <a:off x="715100" y="2046500"/>
            <a:ext cx="3780600" cy="72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0" name="Google Shape;70;p68"/>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71" name="Google Shape;71;p68"/>
          <p:cNvSpPr txBox="1"/>
          <p:nvPr>
            <p:ph idx="2" type="subTitle"/>
          </p:nvPr>
        </p:nvSpPr>
        <p:spPr>
          <a:xfrm>
            <a:off x="715100" y="3299000"/>
            <a:ext cx="3780600" cy="72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2" name="Google Shape;72;p68"/>
          <p:cNvSpPr txBox="1"/>
          <p:nvPr>
            <p:ph idx="3" type="subTitle"/>
          </p:nvPr>
        </p:nvSpPr>
        <p:spPr>
          <a:xfrm>
            <a:off x="715100" y="1666700"/>
            <a:ext cx="3780600" cy="45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73" name="Google Shape;73;p68"/>
          <p:cNvSpPr txBox="1"/>
          <p:nvPr>
            <p:ph idx="4" type="subTitle"/>
          </p:nvPr>
        </p:nvSpPr>
        <p:spPr>
          <a:xfrm>
            <a:off x="715100" y="2919200"/>
            <a:ext cx="3780600" cy="45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74" name="Google Shape;74;p68"/>
          <p:cNvSpPr txBox="1"/>
          <p:nvPr>
            <p:ph idx="5" type="subTitle"/>
          </p:nvPr>
        </p:nvSpPr>
        <p:spPr>
          <a:xfrm>
            <a:off x="4648300" y="2046500"/>
            <a:ext cx="3780600" cy="72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5" name="Google Shape;75;p68"/>
          <p:cNvSpPr txBox="1"/>
          <p:nvPr>
            <p:ph idx="6" type="subTitle"/>
          </p:nvPr>
        </p:nvSpPr>
        <p:spPr>
          <a:xfrm>
            <a:off x="4648300" y="3299000"/>
            <a:ext cx="3780600" cy="72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6" name="Google Shape;76;p68"/>
          <p:cNvSpPr txBox="1"/>
          <p:nvPr>
            <p:ph idx="7" type="subTitle"/>
          </p:nvPr>
        </p:nvSpPr>
        <p:spPr>
          <a:xfrm>
            <a:off x="4648300" y="1666700"/>
            <a:ext cx="3780600" cy="45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77" name="Google Shape;77;p68"/>
          <p:cNvSpPr txBox="1"/>
          <p:nvPr>
            <p:ph idx="8" type="subTitle"/>
          </p:nvPr>
        </p:nvSpPr>
        <p:spPr>
          <a:xfrm>
            <a:off x="4648300" y="2919200"/>
            <a:ext cx="3780600" cy="45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78" name="Google Shape;78;p6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lt1"/>
        </a:solidFill>
      </p:bgPr>
    </p:bg>
    <p:spTree>
      <p:nvGrpSpPr>
        <p:cNvPr id="79" name="Shape 79"/>
        <p:cNvGrpSpPr/>
        <p:nvPr/>
      </p:nvGrpSpPr>
      <p:grpSpPr>
        <a:xfrm>
          <a:off x="0" y="0"/>
          <a:ext cx="0" cy="0"/>
          <a:chOff x="0" y="0"/>
          <a:chExt cx="0" cy="0"/>
        </a:xfrm>
      </p:grpSpPr>
      <p:pic>
        <p:nvPicPr>
          <p:cNvPr id="80" name="Google Shape;80;p62"/>
          <p:cNvPicPr preferRelativeResize="0"/>
          <p:nvPr/>
        </p:nvPicPr>
        <p:blipFill rotWithShape="1">
          <a:blip r:embed="rId2">
            <a:alphaModFix/>
          </a:blip>
          <a:srcRect b="-26995" l="7044" r="-48487" t="47434"/>
          <a:stretch/>
        </p:blipFill>
        <p:spPr>
          <a:xfrm flipH="1" rot="10800000">
            <a:off x="-12" y="-2285"/>
            <a:ext cx="9144000" cy="5148070"/>
          </a:xfrm>
          <a:prstGeom prst="rect">
            <a:avLst/>
          </a:prstGeom>
          <a:noFill/>
          <a:ln>
            <a:noFill/>
          </a:ln>
        </p:spPr>
      </p:pic>
      <p:sp>
        <p:nvSpPr>
          <p:cNvPr id="81" name="Google Shape;81;p62"/>
          <p:cNvSpPr txBox="1"/>
          <p:nvPr>
            <p:ph type="title"/>
          </p:nvPr>
        </p:nvSpPr>
        <p:spPr>
          <a:xfrm>
            <a:off x="720000" y="535000"/>
            <a:ext cx="5925300" cy="1250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7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2" name="Google Shape;82;p62"/>
          <p:cNvSpPr txBox="1"/>
          <p:nvPr>
            <p:ph idx="1" type="subTitle"/>
          </p:nvPr>
        </p:nvSpPr>
        <p:spPr>
          <a:xfrm>
            <a:off x="4572000" y="3358100"/>
            <a:ext cx="3856800" cy="1250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3" name="Google Shape;83;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bg>
      <p:bgPr>
        <a:solidFill>
          <a:schemeClr val="lt1"/>
        </a:solidFill>
      </p:bgPr>
    </p:bg>
    <p:spTree>
      <p:nvGrpSpPr>
        <p:cNvPr id="84" name="Shape 84"/>
        <p:cNvGrpSpPr/>
        <p:nvPr/>
      </p:nvGrpSpPr>
      <p:grpSpPr>
        <a:xfrm>
          <a:off x="0" y="0"/>
          <a:ext cx="0" cy="0"/>
          <a:chOff x="0" y="0"/>
          <a:chExt cx="0" cy="0"/>
        </a:xfrm>
      </p:grpSpPr>
      <p:pic>
        <p:nvPicPr>
          <p:cNvPr id="85" name="Google Shape;85;p60"/>
          <p:cNvPicPr preferRelativeResize="0"/>
          <p:nvPr/>
        </p:nvPicPr>
        <p:blipFill rotWithShape="1">
          <a:blip r:embed="rId2">
            <a:alphaModFix/>
          </a:blip>
          <a:srcRect b="2272" l="-19690" r="19690" t="41478"/>
          <a:stretch/>
        </p:blipFill>
        <p:spPr>
          <a:xfrm flipH="1" rot="10800000">
            <a:off x="0" y="-2285"/>
            <a:ext cx="9144000" cy="5148070"/>
          </a:xfrm>
          <a:prstGeom prst="rect">
            <a:avLst/>
          </a:prstGeom>
          <a:noFill/>
          <a:ln>
            <a:noFill/>
          </a:ln>
        </p:spPr>
      </p:pic>
      <p:sp>
        <p:nvSpPr>
          <p:cNvPr id="86" name="Google Shape;86;p60"/>
          <p:cNvSpPr txBox="1"/>
          <p:nvPr>
            <p:ph type="title"/>
          </p:nvPr>
        </p:nvSpPr>
        <p:spPr>
          <a:xfrm>
            <a:off x="715100" y="2259575"/>
            <a:ext cx="4276800" cy="231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70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87" name="Google Shape;87;p60"/>
          <p:cNvSpPr txBox="1"/>
          <p:nvPr>
            <p:ph idx="1" type="body"/>
          </p:nvPr>
        </p:nvSpPr>
        <p:spPr>
          <a:xfrm>
            <a:off x="4572000" y="535000"/>
            <a:ext cx="3856500" cy="809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Char char="●"/>
              <a:defRPr sz="1400">
                <a:solidFill>
                  <a:schemeClr val="dk1"/>
                </a:solidFill>
              </a:defRPr>
            </a:lvl1pPr>
            <a:lvl2pPr indent="-304800" lvl="1" marL="914400" algn="l">
              <a:lnSpc>
                <a:spcPct val="100000"/>
              </a:lnSpc>
              <a:spcBef>
                <a:spcPts val="0"/>
              </a:spcBef>
              <a:spcAft>
                <a:spcPts val="0"/>
              </a:spcAft>
              <a:buClr>
                <a:schemeClr val="dk1"/>
              </a:buClr>
              <a:buSzPts val="1200"/>
              <a:buChar char="○"/>
              <a:defRPr sz="1200">
                <a:solidFill>
                  <a:schemeClr val="dk1"/>
                </a:solidFill>
              </a:defRPr>
            </a:lvl2pPr>
            <a:lvl3pPr indent="-304800" lvl="2" marL="1371600" algn="l">
              <a:lnSpc>
                <a:spcPct val="100000"/>
              </a:lnSpc>
              <a:spcBef>
                <a:spcPts val="0"/>
              </a:spcBef>
              <a:spcAft>
                <a:spcPts val="0"/>
              </a:spcAft>
              <a:buClr>
                <a:schemeClr val="dk1"/>
              </a:buClr>
              <a:buSzPts val="1200"/>
              <a:buChar char="■"/>
              <a:defRPr sz="1200">
                <a:solidFill>
                  <a:schemeClr val="dk1"/>
                </a:solidFill>
              </a:defRPr>
            </a:lvl3pPr>
            <a:lvl4pPr indent="-304800" lvl="3" marL="1828800" algn="l">
              <a:lnSpc>
                <a:spcPct val="100000"/>
              </a:lnSpc>
              <a:spcBef>
                <a:spcPts val="0"/>
              </a:spcBef>
              <a:spcAft>
                <a:spcPts val="0"/>
              </a:spcAft>
              <a:buClr>
                <a:schemeClr val="dk1"/>
              </a:buClr>
              <a:buSzPts val="1200"/>
              <a:buChar char="●"/>
              <a:defRPr sz="1200">
                <a:solidFill>
                  <a:schemeClr val="dk1"/>
                </a:solidFill>
              </a:defRPr>
            </a:lvl4pPr>
            <a:lvl5pPr indent="-304800" lvl="4" marL="2286000" algn="l">
              <a:lnSpc>
                <a:spcPct val="100000"/>
              </a:lnSpc>
              <a:spcBef>
                <a:spcPts val="0"/>
              </a:spcBef>
              <a:spcAft>
                <a:spcPts val="0"/>
              </a:spcAft>
              <a:buClr>
                <a:schemeClr val="dk1"/>
              </a:buClr>
              <a:buSzPts val="1200"/>
              <a:buChar char="○"/>
              <a:defRPr sz="1200">
                <a:solidFill>
                  <a:schemeClr val="dk1"/>
                </a:solidFill>
              </a:defRPr>
            </a:lvl5pPr>
            <a:lvl6pPr indent="-304800" lvl="5" marL="2743200" algn="l">
              <a:lnSpc>
                <a:spcPct val="100000"/>
              </a:lnSpc>
              <a:spcBef>
                <a:spcPts val="0"/>
              </a:spcBef>
              <a:spcAft>
                <a:spcPts val="0"/>
              </a:spcAft>
              <a:buClr>
                <a:schemeClr val="dk1"/>
              </a:buClr>
              <a:buSzPts val="1200"/>
              <a:buChar char="■"/>
              <a:defRPr sz="1200">
                <a:solidFill>
                  <a:schemeClr val="dk1"/>
                </a:solidFill>
              </a:defRPr>
            </a:lvl6pPr>
            <a:lvl7pPr indent="-304800" lvl="6" marL="3200400" algn="l">
              <a:lnSpc>
                <a:spcPct val="100000"/>
              </a:lnSpc>
              <a:spcBef>
                <a:spcPts val="0"/>
              </a:spcBef>
              <a:spcAft>
                <a:spcPts val="0"/>
              </a:spcAft>
              <a:buClr>
                <a:schemeClr val="dk1"/>
              </a:buClr>
              <a:buSzPts val="1200"/>
              <a:buChar char="●"/>
              <a:defRPr sz="1200">
                <a:solidFill>
                  <a:schemeClr val="dk1"/>
                </a:solidFill>
              </a:defRPr>
            </a:lvl7pPr>
            <a:lvl8pPr indent="-304800" lvl="7" marL="3657600" algn="l">
              <a:lnSpc>
                <a:spcPct val="100000"/>
              </a:lnSpc>
              <a:spcBef>
                <a:spcPts val="0"/>
              </a:spcBef>
              <a:spcAft>
                <a:spcPts val="0"/>
              </a:spcAft>
              <a:buClr>
                <a:schemeClr val="dk1"/>
              </a:buClr>
              <a:buSzPts val="1200"/>
              <a:buChar char="○"/>
              <a:defRPr sz="1200">
                <a:solidFill>
                  <a:schemeClr val="dk1"/>
                </a:solidFill>
              </a:defRPr>
            </a:lvl8pPr>
            <a:lvl9pPr indent="-304800" lvl="8" marL="4114800" algn="l">
              <a:lnSpc>
                <a:spcPct val="100000"/>
              </a:lnSpc>
              <a:spcBef>
                <a:spcPts val="0"/>
              </a:spcBef>
              <a:spcAft>
                <a:spcPts val="0"/>
              </a:spcAft>
              <a:buClr>
                <a:schemeClr val="dk1"/>
              </a:buClr>
              <a:buSzPts val="1200"/>
              <a:buChar char="■"/>
              <a:defRPr sz="1200">
                <a:solidFill>
                  <a:schemeClr val="dk1"/>
                </a:solidFill>
              </a:defRPr>
            </a:lvl9pPr>
          </a:lstStyle>
          <a:p/>
        </p:txBody>
      </p:sp>
      <p:sp>
        <p:nvSpPr>
          <p:cNvPr id="88" name="Google Shape;88;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89" name="Shape 89"/>
        <p:cNvGrpSpPr/>
        <p:nvPr/>
      </p:nvGrpSpPr>
      <p:grpSpPr>
        <a:xfrm>
          <a:off x="0" y="0"/>
          <a:ext cx="0" cy="0"/>
          <a:chOff x="0" y="0"/>
          <a:chExt cx="0" cy="0"/>
        </a:xfrm>
      </p:grpSpPr>
      <p:pic>
        <p:nvPicPr>
          <p:cNvPr id="90" name="Google Shape;90;p64"/>
          <p:cNvPicPr preferRelativeResize="0"/>
          <p:nvPr/>
        </p:nvPicPr>
        <p:blipFill rotWithShape="1">
          <a:blip r:embed="rId2">
            <a:alphaModFix/>
          </a:blip>
          <a:srcRect b="41636" l="174698" r="177064" t="-83399"/>
          <a:stretch/>
        </p:blipFill>
        <p:spPr>
          <a:xfrm>
            <a:off x="1325" y="-1637"/>
            <a:ext cx="9141450" cy="5146775"/>
          </a:xfrm>
          <a:prstGeom prst="rect">
            <a:avLst/>
          </a:prstGeom>
          <a:noFill/>
          <a:ln>
            <a:noFill/>
          </a:ln>
        </p:spPr>
      </p:pic>
      <p:sp>
        <p:nvSpPr>
          <p:cNvPr id="91" name="Google Shape;91;p64"/>
          <p:cNvSpPr txBox="1"/>
          <p:nvPr>
            <p:ph type="title"/>
          </p:nvPr>
        </p:nvSpPr>
        <p:spPr>
          <a:xfrm>
            <a:off x="715100" y="535000"/>
            <a:ext cx="3856800" cy="94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92" name="Google Shape;92;p64"/>
          <p:cNvSpPr txBox="1"/>
          <p:nvPr>
            <p:ph idx="1" type="body"/>
          </p:nvPr>
        </p:nvSpPr>
        <p:spPr>
          <a:xfrm>
            <a:off x="715100" y="1636300"/>
            <a:ext cx="3856800" cy="18948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0"/>
              </a:spcBef>
              <a:spcAft>
                <a:spcPts val="0"/>
              </a:spcAft>
              <a:buClr>
                <a:schemeClr val="dk1"/>
              </a:buClr>
              <a:buSzPts val="1200"/>
              <a:buChar char="○"/>
              <a:defRPr sz="1200">
                <a:solidFill>
                  <a:schemeClr val="dk1"/>
                </a:solidFill>
              </a:defRPr>
            </a:lvl2pPr>
            <a:lvl3pPr indent="-304800" lvl="2" marL="1371600" algn="l">
              <a:lnSpc>
                <a:spcPct val="100000"/>
              </a:lnSpc>
              <a:spcBef>
                <a:spcPts val="0"/>
              </a:spcBef>
              <a:spcAft>
                <a:spcPts val="0"/>
              </a:spcAft>
              <a:buClr>
                <a:schemeClr val="dk1"/>
              </a:buClr>
              <a:buSzPts val="1200"/>
              <a:buChar char="■"/>
              <a:defRPr sz="1200">
                <a:solidFill>
                  <a:schemeClr val="dk1"/>
                </a:solidFill>
              </a:defRPr>
            </a:lvl3pPr>
            <a:lvl4pPr indent="-304800" lvl="3" marL="1828800" algn="l">
              <a:lnSpc>
                <a:spcPct val="100000"/>
              </a:lnSpc>
              <a:spcBef>
                <a:spcPts val="0"/>
              </a:spcBef>
              <a:spcAft>
                <a:spcPts val="0"/>
              </a:spcAft>
              <a:buClr>
                <a:schemeClr val="dk1"/>
              </a:buClr>
              <a:buSzPts val="1200"/>
              <a:buChar char="●"/>
              <a:defRPr sz="1200">
                <a:solidFill>
                  <a:schemeClr val="dk1"/>
                </a:solidFill>
              </a:defRPr>
            </a:lvl4pPr>
            <a:lvl5pPr indent="-304800" lvl="4" marL="2286000" algn="l">
              <a:lnSpc>
                <a:spcPct val="100000"/>
              </a:lnSpc>
              <a:spcBef>
                <a:spcPts val="0"/>
              </a:spcBef>
              <a:spcAft>
                <a:spcPts val="0"/>
              </a:spcAft>
              <a:buClr>
                <a:schemeClr val="dk1"/>
              </a:buClr>
              <a:buSzPts val="1200"/>
              <a:buChar char="○"/>
              <a:defRPr sz="1200">
                <a:solidFill>
                  <a:schemeClr val="dk1"/>
                </a:solidFill>
              </a:defRPr>
            </a:lvl5pPr>
            <a:lvl6pPr indent="-304800" lvl="5" marL="2743200" algn="l">
              <a:lnSpc>
                <a:spcPct val="100000"/>
              </a:lnSpc>
              <a:spcBef>
                <a:spcPts val="0"/>
              </a:spcBef>
              <a:spcAft>
                <a:spcPts val="0"/>
              </a:spcAft>
              <a:buClr>
                <a:schemeClr val="dk1"/>
              </a:buClr>
              <a:buSzPts val="1200"/>
              <a:buChar char="■"/>
              <a:defRPr sz="1200">
                <a:solidFill>
                  <a:schemeClr val="dk1"/>
                </a:solidFill>
              </a:defRPr>
            </a:lvl6pPr>
            <a:lvl7pPr indent="-304800" lvl="6" marL="3200400" algn="l">
              <a:lnSpc>
                <a:spcPct val="100000"/>
              </a:lnSpc>
              <a:spcBef>
                <a:spcPts val="0"/>
              </a:spcBef>
              <a:spcAft>
                <a:spcPts val="0"/>
              </a:spcAft>
              <a:buClr>
                <a:schemeClr val="dk1"/>
              </a:buClr>
              <a:buSzPts val="1200"/>
              <a:buChar char="●"/>
              <a:defRPr sz="1200">
                <a:solidFill>
                  <a:schemeClr val="dk1"/>
                </a:solidFill>
              </a:defRPr>
            </a:lvl7pPr>
            <a:lvl8pPr indent="-304800" lvl="7" marL="3657600" algn="l">
              <a:lnSpc>
                <a:spcPct val="100000"/>
              </a:lnSpc>
              <a:spcBef>
                <a:spcPts val="0"/>
              </a:spcBef>
              <a:spcAft>
                <a:spcPts val="0"/>
              </a:spcAft>
              <a:buClr>
                <a:schemeClr val="dk1"/>
              </a:buClr>
              <a:buSzPts val="1200"/>
              <a:buChar char="○"/>
              <a:defRPr sz="1200">
                <a:solidFill>
                  <a:schemeClr val="dk1"/>
                </a:solidFill>
              </a:defRPr>
            </a:lvl8pPr>
            <a:lvl9pPr indent="-304800" lvl="8" marL="4114800" algn="l">
              <a:lnSpc>
                <a:spcPct val="100000"/>
              </a:lnSpc>
              <a:spcBef>
                <a:spcPts val="0"/>
              </a:spcBef>
              <a:spcAft>
                <a:spcPts val="0"/>
              </a:spcAft>
              <a:buClr>
                <a:schemeClr val="dk1"/>
              </a:buClr>
              <a:buSzPts val="1200"/>
              <a:buChar char="■"/>
              <a:defRPr sz="1200">
                <a:solidFill>
                  <a:schemeClr val="dk1"/>
                </a:solidFill>
              </a:defRPr>
            </a:lvl9pPr>
          </a:lstStyle>
          <a:p/>
        </p:txBody>
      </p:sp>
      <p:sp>
        <p:nvSpPr>
          <p:cNvPr id="93" name="Google Shape;93;p64"/>
          <p:cNvSpPr/>
          <p:nvPr>
            <p:ph idx="2" type="pic"/>
          </p:nvPr>
        </p:nvSpPr>
        <p:spPr>
          <a:xfrm>
            <a:off x="5715175" y="75"/>
            <a:ext cx="3429000" cy="5143500"/>
          </a:xfrm>
          <a:prstGeom prst="rect">
            <a:avLst/>
          </a:prstGeom>
          <a:noFill/>
          <a:ln>
            <a:noFill/>
          </a:ln>
        </p:spPr>
      </p:sp>
      <p:sp>
        <p:nvSpPr>
          <p:cNvPr id="94" name="Google Shape;94;p6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solidFill>
          <a:schemeClr val="lt1"/>
        </a:solidFill>
      </p:bgPr>
    </p:bg>
    <p:spTree>
      <p:nvGrpSpPr>
        <p:cNvPr id="95" name="Shape 95"/>
        <p:cNvGrpSpPr/>
        <p:nvPr/>
      </p:nvGrpSpPr>
      <p:grpSpPr>
        <a:xfrm>
          <a:off x="0" y="0"/>
          <a:ext cx="0" cy="0"/>
          <a:chOff x="0" y="0"/>
          <a:chExt cx="0" cy="0"/>
        </a:xfrm>
      </p:grpSpPr>
      <p:pic>
        <p:nvPicPr>
          <p:cNvPr id="96" name="Google Shape;96;p67"/>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pic>
        <p:nvPicPr>
          <p:cNvPr id="97" name="Google Shape;97;p67"/>
          <p:cNvPicPr preferRelativeResize="0"/>
          <p:nvPr/>
        </p:nvPicPr>
        <p:blipFill rotWithShape="1">
          <a:blip r:embed="rId2">
            <a:alphaModFix/>
          </a:blip>
          <a:srcRect b="-108521" l="-235243" r="44461" t="44962"/>
          <a:stretch/>
        </p:blipFill>
        <p:spPr>
          <a:xfrm flipH="1" rot="10800000">
            <a:off x="-4572" y="-2437"/>
            <a:ext cx="9153145" cy="5148375"/>
          </a:xfrm>
          <a:prstGeom prst="rect">
            <a:avLst/>
          </a:prstGeom>
          <a:noFill/>
          <a:ln>
            <a:noFill/>
          </a:ln>
        </p:spPr>
      </p:pic>
      <p:sp>
        <p:nvSpPr>
          <p:cNvPr id="98" name="Google Shape;98;p67"/>
          <p:cNvSpPr txBox="1"/>
          <p:nvPr>
            <p:ph idx="1" type="subTitle"/>
          </p:nvPr>
        </p:nvSpPr>
        <p:spPr>
          <a:xfrm>
            <a:off x="715100" y="2328775"/>
            <a:ext cx="2131800" cy="145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9" name="Google Shape;99;p67"/>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100" name="Google Shape;100;p67"/>
          <p:cNvSpPr txBox="1"/>
          <p:nvPr>
            <p:ph idx="2" type="subTitle"/>
          </p:nvPr>
        </p:nvSpPr>
        <p:spPr>
          <a:xfrm>
            <a:off x="715100" y="1666700"/>
            <a:ext cx="2131800" cy="73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1" name="Google Shape;101;p67"/>
          <p:cNvSpPr txBox="1"/>
          <p:nvPr>
            <p:ph idx="3" type="subTitle"/>
          </p:nvPr>
        </p:nvSpPr>
        <p:spPr>
          <a:xfrm>
            <a:off x="3506100" y="2328775"/>
            <a:ext cx="2131800" cy="145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2" name="Google Shape;102;p67"/>
          <p:cNvSpPr txBox="1"/>
          <p:nvPr>
            <p:ph idx="4" type="subTitle"/>
          </p:nvPr>
        </p:nvSpPr>
        <p:spPr>
          <a:xfrm>
            <a:off x="3506099" y="1666700"/>
            <a:ext cx="2131800" cy="73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3" name="Google Shape;103;p67"/>
          <p:cNvSpPr txBox="1"/>
          <p:nvPr>
            <p:ph idx="5" type="subTitle"/>
          </p:nvPr>
        </p:nvSpPr>
        <p:spPr>
          <a:xfrm>
            <a:off x="6297202" y="2328775"/>
            <a:ext cx="2131800" cy="145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4" name="Google Shape;104;p67"/>
          <p:cNvSpPr txBox="1"/>
          <p:nvPr>
            <p:ph idx="6" type="subTitle"/>
          </p:nvPr>
        </p:nvSpPr>
        <p:spPr>
          <a:xfrm>
            <a:off x="6297200" y="1666700"/>
            <a:ext cx="2131800" cy="73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5" name="Google Shape;105;p6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bg>
      <p:bgPr>
        <a:solidFill>
          <a:schemeClr val="lt1"/>
        </a:solidFill>
      </p:bgPr>
    </p:bg>
    <p:spTree>
      <p:nvGrpSpPr>
        <p:cNvPr id="106" name="Shape 106"/>
        <p:cNvGrpSpPr/>
        <p:nvPr/>
      </p:nvGrpSpPr>
      <p:grpSpPr>
        <a:xfrm>
          <a:off x="0" y="0"/>
          <a:ext cx="0" cy="0"/>
          <a:chOff x="0" y="0"/>
          <a:chExt cx="0" cy="0"/>
        </a:xfrm>
      </p:grpSpPr>
      <p:sp>
        <p:nvSpPr>
          <p:cNvPr id="107" name="Google Shape;107;p69"/>
          <p:cNvSpPr txBox="1"/>
          <p:nvPr>
            <p:ph idx="1" type="subTitle"/>
          </p:nvPr>
        </p:nvSpPr>
        <p:spPr>
          <a:xfrm>
            <a:off x="715100" y="1879700"/>
            <a:ext cx="2432400" cy="88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8" name="Google Shape;108;p69"/>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109" name="Google Shape;109;p69"/>
          <p:cNvSpPr txBox="1"/>
          <p:nvPr>
            <p:ph idx="2" type="subTitle"/>
          </p:nvPr>
        </p:nvSpPr>
        <p:spPr>
          <a:xfrm>
            <a:off x="715100" y="3574400"/>
            <a:ext cx="2432400" cy="88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0" name="Google Shape;110;p69"/>
          <p:cNvSpPr txBox="1"/>
          <p:nvPr>
            <p:ph idx="3" type="subTitle"/>
          </p:nvPr>
        </p:nvSpPr>
        <p:spPr>
          <a:xfrm>
            <a:off x="715100" y="1224500"/>
            <a:ext cx="2432400" cy="731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1" name="Google Shape;111;p69"/>
          <p:cNvSpPr txBox="1"/>
          <p:nvPr>
            <p:ph idx="4" type="subTitle"/>
          </p:nvPr>
        </p:nvSpPr>
        <p:spPr>
          <a:xfrm>
            <a:off x="715100" y="2919200"/>
            <a:ext cx="2432400" cy="731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2" name="Google Shape;112;p69"/>
          <p:cNvSpPr txBox="1"/>
          <p:nvPr>
            <p:ph idx="5" type="subTitle"/>
          </p:nvPr>
        </p:nvSpPr>
        <p:spPr>
          <a:xfrm>
            <a:off x="3355799" y="1879700"/>
            <a:ext cx="2432400" cy="88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3" name="Google Shape;113;p69"/>
          <p:cNvSpPr txBox="1"/>
          <p:nvPr>
            <p:ph idx="6" type="subTitle"/>
          </p:nvPr>
        </p:nvSpPr>
        <p:spPr>
          <a:xfrm>
            <a:off x="3355799" y="3574400"/>
            <a:ext cx="2432400" cy="88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4" name="Google Shape;114;p69"/>
          <p:cNvSpPr txBox="1"/>
          <p:nvPr>
            <p:ph idx="7" type="subTitle"/>
          </p:nvPr>
        </p:nvSpPr>
        <p:spPr>
          <a:xfrm>
            <a:off x="3355800" y="1224500"/>
            <a:ext cx="2432400" cy="731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5" name="Google Shape;115;p69"/>
          <p:cNvSpPr txBox="1"/>
          <p:nvPr>
            <p:ph idx="8" type="subTitle"/>
          </p:nvPr>
        </p:nvSpPr>
        <p:spPr>
          <a:xfrm>
            <a:off x="3355800" y="2919200"/>
            <a:ext cx="2432400" cy="731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6" name="Google Shape;116;p69"/>
          <p:cNvSpPr txBox="1"/>
          <p:nvPr>
            <p:ph idx="9" type="subTitle"/>
          </p:nvPr>
        </p:nvSpPr>
        <p:spPr>
          <a:xfrm>
            <a:off x="5996501" y="1879700"/>
            <a:ext cx="2432400" cy="88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7" name="Google Shape;117;p69"/>
          <p:cNvSpPr txBox="1"/>
          <p:nvPr>
            <p:ph idx="13" type="subTitle"/>
          </p:nvPr>
        </p:nvSpPr>
        <p:spPr>
          <a:xfrm>
            <a:off x="5996501" y="3574400"/>
            <a:ext cx="2432400" cy="88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 name="Google Shape;118;p69"/>
          <p:cNvSpPr txBox="1"/>
          <p:nvPr>
            <p:ph idx="14" type="subTitle"/>
          </p:nvPr>
        </p:nvSpPr>
        <p:spPr>
          <a:xfrm>
            <a:off x="5996503" y="1224500"/>
            <a:ext cx="2432400" cy="731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9" name="Google Shape;119;p69"/>
          <p:cNvSpPr txBox="1"/>
          <p:nvPr>
            <p:ph idx="15" type="subTitle"/>
          </p:nvPr>
        </p:nvSpPr>
        <p:spPr>
          <a:xfrm>
            <a:off x="5996503" y="2919200"/>
            <a:ext cx="2432400" cy="731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0" name="Google Shape;120;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1"/>
        </a:solidFill>
      </p:bgPr>
    </p:bg>
    <p:spTree>
      <p:nvGrpSpPr>
        <p:cNvPr id="121" name="Shape 121"/>
        <p:cNvGrpSpPr/>
        <p:nvPr/>
      </p:nvGrpSpPr>
      <p:grpSpPr>
        <a:xfrm>
          <a:off x="0" y="0"/>
          <a:ext cx="0" cy="0"/>
          <a:chOff x="0" y="0"/>
          <a:chExt cx="0" cy="0"/>
        </a:xfrm>
      </p:grpSpPr>
      <p:pic>
        <p:nvPicPr>
          <p:cNvPr id="122" name="Google Shape;122;p70"/>
          <p:cNvPicPr preferRelativeResize="0"/>
          <p:nvPr/>
        </p:nvPicPr>
        <p:blipFill rotWithShape="1">
          <a:blip r:embed="rId2">
            <a:alphaModFix/>
          </a:blip>
          <a:srcRect b="2272" l="-19690" r="19690" t="41478"/>
          <a:stretch/>
        </p:blipFill>
        <p:spPr>
          <a:xfrm>
            <a:off x="0" y="0"/>
            <a:ext cx="9144000" cy="5143500"/>
          </a:xfrm>
          <a:prstGeom prst="rect">
            <a:avLst/>
          </a:prstGeom>
          <a:noFill/>
          <a:ln>
            <a:noFill/>
          </a:ln>
        </p:spPr>
      </p:pic>
      <p:sp>
        <p:nvSpPr>
          <p:cNvPr id="123" name="Google Shape;123;p70"/>
          <p:cNvSpPr txBox="1"/>
          <p:nvPr>
            <p:ph type="title"/>
          </p:nvPr>
        </p:nvSpPr>
        <p:spPr>
          <a:xfrm>
            <a:off x="715100" y="535000"/>
            <a:ext cx="7713900" cy="231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6000"/>
              <a:buNone/>
              <a:defRPr sz="7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24" name="Google Shape;124;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lt1"/>
        </a:solidFill>
      </p:bgPr>
    </p:bg>
    <p:spTree>
      <p:nvGrpSpPr>
        <p:cNvPr id="125" name="Shape 125"/>
        <p:cNvGrpSpPr/>
        <p:nvPr/>
      </p:nvGrpSpPr>
      <p:grpSpPr>
        <a:xfrm>
          <a:off x="0" y="0"/>
          <a:ext cx="0" cy="0"/>
          <a:chOff x="0" y="0"/>
          <a:chExt cx="0" cy="0"/>
        </a:xfrm>
      </p:grpSpPr>
      <p:pic>
        <p:nvPicPr>
          <p:cNvPr id="126" name="Google Shape;126;p71"/>
          <p:cNvPicPr preferRelativeResize="0"/>
          <p:nvPr/>
        </p:nvPicPr>
        <p:blipFill rotWithShape="1">
          <a:blip r:embed="rId2">
            <a:alphaModFix/>
          </a:blip>
          <a:srcRect b="-35825" l="-6644" r="27549" t="13471"/>
          <a:stretch/>
        </p:blipFill>
        <p:spPr>
          <a:xfrm>
            <a:off x="5819050" y="0"/>
            <a:ext cx="3324950" cy="5143500"/>
          </a:xfrm>
          <a:prstGeom prst="rect">
            <a:avLst/>
          </a:prstGeom>
          <a:noFill/>
          <a:ln>
            <a:noFill/>
          </a:ln>
        </p:spPr>
      </p:pic>
      <p:pic>
        <p:nvPicPr>
          <p:cNvPr id="127" name="Google Shape;127;p71"/>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sp>
        <p:nvSpPr>
          <p:cNvPr id="128" name="Google Shape;128;p71"/>
          <p:cNvSpPr txBox="1"/>
          <p:nvPr>
            <p:ph idx="1" type="subTitle"/>
          </p:nvPr>
        </p:nvSpPr>
        <p:spPr>
          <a:xfrm>
            <a:off x="715100" y="1503175"/>
            <a:ext cx="5930100" cy="200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sz="3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29" name="Google Shape;129;p71"/>
          <p:cNvSpPr txBox="1"/>
          <p:nvPr>
            <p:ph idx="2" type="subTitle"/>
          </p:nvPr>
        </p:nvSpPr>
        <p:spPr>
          <a:xfrm>
            <a:off x="715100" y="3965300"/>
            <a:ext cx="5930100" cy="45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0" name="Google Shape;130;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1" name="Shape 131"/>
        <p:cNvGrpSpPr/>
        <p:nvPr/>
      </p:nvGrpSpPr>
      <p:grpSpPr>
        <a:xfrm>
          <a:off x="0" y="0"/>
          <a:ext cx="0" cy="0"/>
          <a:chOff x="0" y="0"/>
          <a:chExt cx="0" cy="0"/>
        </a:xfrm>
      </p:grpSpPr>
      <p:sp>
        <p:nvSpPr>
          <p:cNvPr id="132" name="Google Shape;132;p72"/>
          <p:cNvSpPr/>
          <p:nvPr>
            <p:ph idx="2" type="pic"/>
          </p:nvPr>
        </p:nvSpPr>
        <p:spPr>
          <a:xfrm>
            <a:off x="0" y="0"/>
            <a:ext cx="9144000" cy="5143500"/>
          </a:xfrm>
          <a:prstGeom prst="rect">
            <a:avLst/>
          </a:prstGeom>
          <a:noFill/>
          <a:ln>
            <a:noFill/>
          </a:ln>
        </p:spPr>
      </p:sp>
      <p:sp>
        <p:nvSpPr>
          <p:cNvPr id="133" name="Google Shape;133;p72"/>
          <p:cNvSpPr txBox="1"/>
          <p:nvPr>
            <p:ph type="title"/>
          </p:nvPr>
        </p:nvSpPr>
        <p:spPr>
          <a:xfrm>
            <a:off x="715100" y="4059800"/>
            <a:ext cx="7713600" cy="5487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a:lvl1pPr>
            <a:lvl2pPr lvl="1" algn="ctr">
              <a:lnSpc>
                <a:spcPct val="100000"/>
              </a:lnSpc>
              <a:spcBef>
                <a:spcPts val="0"/>
              </a:spcBef>
              <a:spcAft>
                <a:spcPts val="0"/>
              </a:spcAft>
              <a:buSzPts val="2500"/>
              <a:buNone/>
              <a:defRPr/>
            </a:lvl2pPr>
            <a:lvl3pPr lvl="2" algn="ctr">
              <a:lnSpc>
                <a:spcPct val="100000"/>
              </a:lnSpc>
              <a:spcBef>
                <a:spcPts val="0"/>
              </a:spcBef>
              <a:spcAft>
                <a:spcPts val="0"/>
              </a:spcAft>
              <a:buSzPts val="2500"/>
              <a:buNone/>
              <a:defRPr/>
            </a:lvl3pPr>
            <a:lvl4pPr lvl="3" algn="ctr">
              <a:lnSpc>
                <a:spcPct val="100000"/>
              </a:lnSpc>
              <a:spcBef>
                <a:spcPts val="0"/>
              </a:spcBef>
              <a:spcAft>
                <a:spcPts val="0"/>
              </a:spcAft>
              <a:buSzPts val="2500"/>
              <a:buNone/>
              <a:defRPr/>
            </a:lvl4pPr>
            <a:lvl5pPr lvl="4" algn="ctr">
              <a:lnSpc>
                <a:spcPct val="100000"/>
              </a:lnSpc>
              <a:spcBef>
                <a:spcPts val="0"/>
              </a:spcBef>
              <a:spcAft>
                <a:spcPts val="0"/>
              </a:spcAft>
              <a:buSzPts val="2500"/>
              <a:buNone/>
              <a:defRPr/>
            </a:lvl5pPr>
            <a:lvl6pPr lvl="5" algn="ctr">
              <a:lnSpc>
                <a:spcPct val="100000"/>
              </a:lnSpc>
              <a:spcBef>
                <a:spcPts val="0"/>
              </a:spcBef>
              <a:spcAft>
                <a:spcPts val="0"/>
              </a:spcAft>
              <a:buSzPts val="2500"/>
              <a:buNone/>
              <a:defRPr/>
            </a:lvl6pPr>
            <a:lvl7pPr lvl="6" algn="ctr">
              <a:lnSpc>
                <a:spcPct val="100000"/>
              </a:lnSpc>
              <a:spcBef>
                <a:spcPts val="0"/>
              </a:spcBef>
              <a:spcAft>
                <a:spcPts val="0"/>
              </a:spcAft>
              <a:buSzPts val="2500"/>
              <a:buNone/>
              <a:defRPr/>
            </a:lvl7pPr>
            <a:lvl8pPr lvl="7" algn="ctr">
              <a:lnSpc>
                <a:spcPct val="100000"/>
              </a:lnSpc>
              <a:spcBef>
                <a:spcPts val="0"/>
              </a:spcBef>
              <a:spcAft>
                <a:spcPts val="0"/>
              </a:spcAft>
              <a:buSzPts val="2500"/>
              <a:buNone/>
              <a:defRPr/>
            </a:lvl8pPr>
            <a:lvl9pPr lvl="8" algn="ctr">
              <a:lnSpc>
                <a:spcPct val="100000"/>
              </a:lnSpc>
              <a:spcBef>
                <a:spcPts val="0"/>
              </a:spcBef>
              <a:spcAft>
                <a:spcPts val="0"/>
              </a:spcAft>
              <a:buSzPts val="2500"/>
              <a:buNone/>
              <a:defRPr/>
            </a:lvl9pPr>
          </a:lstStyle>
          <a:p/>
        </p:txBody>
      </p:sp>
      <p:sp>
        <p:nvSpPr>
          <p:cNvPr id="134" name="Google Shape;134;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135" name="Shape 135"/>
        <p:cNvGrpSpPr/>
        <p:nvPr/>
      </p:nvGrpSpPr>
      <p:grpSpPr>
        <a:xfrm>
          <a:off x="0" y="0"/>
          <a:ext cx="0" cy="0"/>
          <a:chOff x="0" y="0"/>
          <a:chExt cx="0" cy="0"/>
        </a:xfrm>
      </p:grpSpPr>
      <p:pic>
        <p:nvPicPr>
          <p:cNvPr id="136" name="Google Shape;136;p73"/>
          <p:cNvPicPr preferRelativeResize="0"/>
          <p:nvPr/>
        </p:nvPicPr>
        <p:blipFill rotWithShape="1">
          <a:blip r:embed="rId2">
            <a:alphaModFix/>
          </a:blip>
          <a:srcRect b="34586" l="130684" r="175247" t="-50528"/>
          <a:stretch/>
        </p:blipFill>
        <p:spPr>
          <a:xfrm>
            <a:off x="1325" y="-1637"/>
            <a:ext cx="9141450" cy="5146775"/>
          </a:xfrm>
          <a:prstGeom prst="rect">
            <a:avLst/>
          </a:prstGeom>
          <a:noFill/>
          <a:ln>
            <a:noFill/>
          </a:ln>
        </p:spPr>
      </p:pic>
      <p:sp>
        <p:nvSpPr>
          <p:cNvPr id="137" name="Google Shape;137;p73"/>
          <p:cNvSpPr txBox="1"/>
          <p:nvPr>
            <p:ph type="title"/>
          </p:nvPr>
        </p:nvSpPr>
        <p:spPr>
          <a:xfrm>
            <a:off x="715100" y="535000"/>
            <a:ext cx="3856800" cy="95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138" name="Google Shape;138;p73"/>
          <p:cNvSpPr txBox="1"/>
          <p:nvPr>
            <p:ph idx="1" type="body"/>
          </p:nvPr>
        </p:nvSpPr>
        <p:spPr>
          <a:xfrm>
            <a:off x="715100" y="1641400"/>
            <a:ext cx="3856800" cy="7263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0"/>
              </a:spcBef>
              <a:spcAft>
                <a:spcPts val="0"/>
              </a:spcAft>
              <a:buClr>
                <a:schemeClr val="dk1"/>
              </a:buClr>
              <a:buSzPts val="1200"/>
              <a:buChar char="○"/>
              <a:defRPr sz="1200">
                <a:solidFill>
                  <a:schemeClr val="dk1"/>
                </a:solidFill>
              </a:defRPr>
            </a:lvl2pPr>
            <a:lvl3pPr indent="-304800" lvl="2" marL="1371600" algn="l">
              <a:lnSpc>
                <a:spcPct val="100000"/>
              </a:lnSpc>
              <a:spcBef>
                <a:spcPts val="0"/>
              </a:spcBef>
              <a:spcAft>
                <a:spcPts val="0"/>
              </a:spcAft>
              <a:buClr>
                <a:schemeClr val="dk1"/>
              </a:buClr>
              <a:buSzPts val="1200"/>
              <a:buChar char="■"/>
              <a:defRPr sz="1200">
                <a:solidFill>
                  <a:schemeClr val="dk1"/>
                </a:solidFill>
              </a:defRPr>
            </a:lvl3pPr>
            <a:lvl4pPr indent="-304800" lvl="3" marL="1828800" algn="l">
              <a:lnSpc>
                <a:spcPct val="100000"/>
              </a:lnSpc>
              <a:spcBef>
                <a:spcPts val="0"/>
              </a:spcBef>
              <a:spcAft>
                <a:spcPts val="0"/>
              </a:spcAft>
              <a:buClr>
                <a:schemeClr val="dk1"/>
              </a:buClr>
              <a:buSzPts val="1200"/>
              <a:buChar char="●"/>
              <a:defRPr sz="1200">
                <a:solidFill>
                  <a:schemeClr val="dk1"/>
                </a:solidFill>
              </a:defRPr>
            </a:lvl4pPr>
            <a:lvl5pPr indent="-304800" lvl="4" marL="2286000" algn="l">
              <a:lnSpc>
                <a:spcPct val="100000"/>
              </a:lnSpc>
              <a:spcBef>
                <a:spcPts val="0"/>
              </a:spcBef>
              <a:spcAft>
                <a:spcPts val="0"/>
              </a:spcAft>
              <a:buClr>
                <a:schemeClr val="dk1"/>
              </a:buClr>
              <a:buSzPts val="1200"/>
              <a:buChar char="○"/>
              <a:defRPr sz="1200">
                <a:solidFill>
                  <a:schemeClr val="dk1"/>
                </a:solidFill>
              </a:defRPr>
            </a:lvl5pPr>
            <a:lvl6pPr indent="-304800" lvl="5" marL="2743200" algn="l">
              <a:lnSpc>
                <a:spcPct val="100000"/>
              </a:lnSpc>
              <a:spcBef>
                <a:spcPts val="0"/>
              </a:spcBef>
              <a:spcAft>
                <a:spcPts val="0"/>
              </a:spcAft>
              <a:buClr>
                <a:schemeClr val="dk1"/>
              </a:buClr>
              <a:buSzPts val="1200"/>
              <a:buChar char="■"/>
              <a:defRPr sz="1200">
                <a:solidFill>
                  <a:schemeClr val="dk1"/>
                </a:solidFill>
              </a:defRPr>
            </a:lvl6pPr>
            <a:lvl7pPr indent="-304800" lvl="6" marL="3200400" algn="l">
              <a:lnSpc>
                <a:spcPct val="100000"/>
              </a:lnSpc>
              <a:spcBef>
                <a:spcPts val="0"/>
              </a:spcBef>
              <a:spcAft>
                <a:spcPts val="0"/>
              </a:spcAft>
              <a:buClr>
                <a:schemeClr val="dk1"/>
              </a:buClr>
              <a:buSzPts val="1200"/>
              <a:buChar char="●"/>
              <a:defRPr sz="1200">
                <a:solidFill>
                  <a:schemeClr val="dk1"/>
                </a:solidFill>
              </a:defRPr>
            </a:lvl7pPr>
            <a:lvl8pPr indent="-304800" lvl="7" marL="3657600" algn="l">
              <a:lnSpc>
                <a:spcPct val="100000"/>
              </a:lnSpc>
              <a:spcBef>
                <a:spcPts val="0"/>
              </a:spcBef>
              <a:spcAft>
                <a:spcPts val="0"/>
              </a:spcAft>
              <a:buClr>
                <a:schemeClr val="dk1"/>
              </a:buClr>
              <a:buSzPts val="1200"/>
              <a:buChar char="○"/>
              <a:defRPr sz="1200">
                <a:solidFill>
                  <a:schemeClr val="dk1"/>
                </a:solidFill>
              </a:defRPr>
            </a:lvl8pPr>
            <a:lvl9pPr indent="-304800" lvl="8" marL="4114800" algn="l">
              <a:lnSpc>
                <a:spcPct val="100000"/>
              </a:lnSpc>
              <a:spcBef>
                <a:spcPts val="0"/>
              </a:spcBef>
              <a:spcAft>
                <a:spcPts val="0"/>
              </a:spcAft>
              <a:buClr>
                <a:schemeClr val="dk1"/>
              </a:buClr>
              <a:buSzPts val="1200"/>
              <a:buChar char="■"/>
              <a:defRPr sz="1200">
                <a:solidFill>
                  <a:schemeClr val="dk1"/>
                </a:solidFill>
              </a:defRPr>
            </a:lvl9pPr>
          </a:lstStyle>
          <a:p/>
        </p:txBody>
      </p:sp>
      <p:sp>
        <p:nvSpPr>
          <p:cNvPr id="139" name="Google Shape;139;p73"/>
          <p:cNvSpPr/>
          <p:nvPr>
            <p:ph idx="2" type="pic"/>
          </p:nvPr>
        </p:nvSpPr>
        <p:spPr>
          <a:xfrm>
            <a:off x="5714900" y="-75"/>
            <a:ext cx="3429000" cy="5143500"/>
          </a:xfrm>
          <a:prstGeom prst="rect">
            <a:avLst/>
          </a:prstGeom>
          <a:noFill/>
          <a:ln>
            <a:noFill/>
          </a:ln>
        </p:spPr>
      </p:sp>
      <p:sp>
        <p:nvSpPr>
          <p:cNvPr id="140" name="Google Shape;140;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bg>
      <p:bgPr>
        <a:solidFill>
          <a:schemeClr val="lt1"/>
        </a:solidFill>
      </p:bgPr>
    </p:bg>
    <p:spTree>
      <p:nvGrpSpPr>
        <p:cNvPr id="141" name="Shape 141"/>
        <p:cNvGrpSpPr/>
        <p:nvPr/>
      </p:nvGrpSpPr>
      <p:grpSpPr>
        <a:xfrm>
          <a:off x="0" y="0"/>
          <a:ext cx="0" cy="0"/>
          <a:chOff x="0" y="0"/>
          <a:chExt cx="0" cy="0"/>
        </a:xfrm>
      </p:grpSpPr>
      <p:pic>
        <p:nvPicPr>
          <p:cNvPr id="142" name="Google Shape;142;p74"/>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pic>
        <p:nvPicPr>
          <p:cNvPr id="143" name="Google Shape;143;p74"/>
          <p:cNvPicPr preferRelativeResize="0"/>
          <p:nvPr/>
        </p:nvPicPr>
        <p:blipFill rotWithShape="1">
          <a:blip r:embed="rId2">
            <a:alphaModFix/>
          </a:blip>
          <a:srcRect b="-108521" l="-235243" r="44461" t="44962"/>
          <a:stretch/>
        </p:blipFill>
        <p:spPr>
          <a:xfrm flipH="1" rot="10800000">
            <a:off x="-4572" y="-2437"/>
            <a:ext cx="9153145" cy="5148375"/>
          </a:xfrm>
          <a:prstGeom prst="rect">
            <a:avLst/>
          </a:prstGeom>
          <a:noFill/>
          <a:ln>
            <a:noFill/>
          </a:ln>
        </p:spPr>
      </p:pic>
      <p:sp>
        <p:nvSpPr>
          <p:cNvPr id="144" name="Google Shape;144;p74"/>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145" name="Google Shape;145;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146" name="Shape 146"/>
        <p:cNvGrpSpPr/>
        <p:nvPr/>
      </p:nvGrpSpPr>
      <p:grpSpPr>
        <a:xfrm>
          <a:off x="0" y="0"/>
          <a:ext cx="0" cy="0"/>
          <a:chOff x="0" y="0"/>
          <a:chExt cx="0" cy="0"/>
        </a:xfrm>
      </p:grpSpPr>
      <p:pic>
        <p:nvPicPr>
          <p:cNvPr id="147" name="Google Shape;147;p75"/>
          <p:cNvPicPr preferRelativeResize="0"/>
          <p:nvPr/>
        </p:nvPicPr>
        <p:blipFill rotWithShape="1">
          <a:blip r:embed="rId2">
            <a:alphaModFix/>
          </a:blip>
          <a:srcRect b="-6812" l="-55210" r="55210" t="50562"/>
          <a:stretch/>
        </p:blipFill>
        <p:spPr>
          <a:xfrm flipH="1">
            <a:off x="0" y="0"/>
            <a:ext cx="9144000" cy="5143500"/>
          </a:xfrm>
          <a:prstGeom prst="rect">
            <a:avLst/>
          </a:prstGeom>
          <a:noFill/>
          <a:ln>
            <a:noFill/>
          </a:ln>
        </p:spPr>
      </p:pic>
      <p:pic>
        <p:nvPicPr>
          <p:cNvPr id="148" name="Google Shape;148;p75"/>
          <p:cNvPicPr preferRelativeResize="0"/>
          <p:nvPr/>
        </p:nvPicPr>
        <p:blipFill rotWithShape="1">
          <a:blip r:embed="rId2">
            <a:alphaModFix/>
          </a:blip>
          <a:srcRect b="-6812" l="-55210" r="55210" t="50562"/>
          <a:stretch/>
        </p:blipFill>
        <p:spPr>
          <a:xfrm flipH="1" rot="10800000">
            <a:off x="0" y="0"/>
            <a:ext cx="9144000" cy="5143500"/>
          </a:xfrm>
          <a:prstGeom prst="rect">
            <a:avLst/>
          </a:prstGeom>
          <a:noFill/>
          <a:ln>
            <a:noFill/>
          </a:ln>
        </p:spPr>
      </p:pic>
      <p:sp>
        <p:nvSpPr>
          <p:cNvPr id="149" name="Google Shape;149;p75"/>
          <p:cNvSpPr txBox="1"/>
          <p:nvPr>
            <p:ph hasCustomPrompt="1" type="title"/>
          </p:nvPr>
        </p:nvSpPr>
        <p:spPr>
          <a:xfrm>
            <a:off x="715100" y="3068600"/>
            <a:ext cx="7713900" cy="1539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600"/>
              <a:buNone/>
              <a:defRPr sz="9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50" name="Google Shape;150;p75"/>
          <p:cNvSpPr txBox="1"/>
          <p:nvPr>
            <p:ph idx="1" type="subTitle"/>
          </p:nvPr>
        </p:nvSpPr>
        <p:spPr>
          <a:xfrm>
            <a:off x="4572000" y="535000"/>
            <a:ext cx="3856800" cy="388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151" name="Google Shape;151;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chemeClr val="lt1"/>
        </a:solidFill>
      </p:bgPr>
    </p:bg>
    <p:spTree>
      <p:nvGrpSpPr>
        <p:cNvPr id="152" name="Shape 152"/>
        <p:cNvGrpSpPr/>
        <p:nvPr/>
      </p:nvGrpSpPr>
      <p:grpSpPr>
        <a:xfrm>
          <a:off x="0" y="0"/>
          <a:ext cx="0" cy="0"/>
          <a:chOff x="0" y="0"/>
          <a:chExt cx="0" cy="0"/>
        </a:xfrm>
      </p:grpSpPr>
      <p:pic>
        <p:nvPicPr>
          <p:cNvPr id="153" name="Google Shape;153;p76"/>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154" name="Google Shape;154;p76"/>
          <p:cNvSpPr txBox="1"/>
          <p:nvPr>
            <p:ph type="title"/>
          </p:nvPr>
        </p:nvSpPr>
        <p:spPr>
          <a:xfrm>
            <a:off x="715100" y="983000"/>
            <a:ext cx="7713900" cy="951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5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55" name="Google Shape;155;p76"/>
          <p:cNvSpPr txBox="1"/>
          <p:nvPr>
            <p:ph idx="1" type="subTitle"/>
          </p:nvPr>
        </p:nvSpPr>
        <p:spPr>
          <a:xfrm>
            <a:off x="715100" y="1858700"/>
            <a:ext cx="7713900" cy="60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6" name="Google Shape;156;p76"/>
          <p:cNvSpPr txBox="1"/>
          <p:nvPr>
            <p:ph idx="2" type="title"/>
          </p:nvPr>
        </p:nvSpPr>
        <p:spPr>
          <a:xfrm>
            <a:off x="715100" y="2921600"/>
            <a:ext cx="7713900" cy="951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5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57" name="Google Shape;157;p76"/>
          <p:cNvSpPr txBox="1"/>
          <p:nvPr>
            <p:ph idx="3" type="subTitle"/>
          </p:nvPr>
        </p:nvSpPr>
        <p:spPr>
          <a:xfrm>
            <a:off x="715100" y="3797300"/>
            <a:ext cx="7713900" cy="60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8" name="Google Shape;158;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1_1_1_3">
    <p:bg>
      <p:bgPr>
        <a:solidFill>
          <a:schemeClr val="lt1"/>
        </a:solidFill>
      </p:bgPr>
    </p:bg>
    <p:spTree>
      <p:nvGrpSpPr>
        <p:cNvPr id="159" name="Shape 159"/>
        <p:cNvGrpSpPr/>
        <p:nvPr/>
      </p:nvGrpSpPr>
      <p:grpSpPr>
        <a:xfrm>
          <a:off x="0" y="0"/>
          <a:ext cx="0" cy="0"/>
          <a:chOff x="0" y="0"/>
          <a:chExt cx="0" cy="0"/>
        </a:xfrm>
      </p:grpSpPr>
      <p:pic>
        <p:nvPicPr>
          <p:cNvPr id="160" name="Google Shape;160;p77"/>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sp>
        <p:nvSpPr>
          <p:cNvPr id="161" name="Google Shape;161;p77"/>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None/>
              <a:defRPr>
                <a:solidFill>
                  <a:schemeClr val="dk1"/>
                </a:solidFill>
              </a:defRPr>
            </a:lvl1pPr>
            <a:lvl2pPr lvl="1" algn="l">
              <a:lnSpc>
                <a:spcPct val="100000"/>
              </a:lnSpc>
              <a:spcBef>
                <a:spcPts val="0"/>
              </a:spcBef>
              <a:spcAft>
                <a:spcPts val="0"/>
              </a:spcAft>
              <a:buClr>
                <a:schemeClr val="dk1"/>
              </a:buClr>
              <a:buSzPts val="3000"/>
              <a:buNone/>
              <a:defRPr sz="3000">
                <a:solidFill>
                  <a:schemeClr val="dk1"/>
                </a:solidFill>
              </a:defRPr>
            </a:lvl2pPr>
            <a:lvl3pPr lvl="2" algn="l">
              <a:lnSpc>
                <a:spcPct val="100000"/>
              </a:lnSpc>
              <a:spcBef>
                <a:spcPts val="0"/>
              </a:spcBef>
              <a:spcAft>
                <a:spcPts val="0"/>
              </a:spcAft>
              <a:buClr>
                <a:schemeClr val="dk1"/>
              </a:buClr>
              <a:buSzPts val="3000"/>
              <a:buNone/>
              <a:defRPr sz="3000">
                <a:solidFill>
                  <a:schemeClr val="dk1"/>
                </a:solidFill>
              </a:defRPr>
            </a:lvl3pPr>
            <a:lvl4pPr lvl="3" algn="l">
              <a:lnSpc>
                <a:spcPct val="100000"/>
              </a:lnSpc>
              <a:spcBef>
                <a:spcPts val="0"/>
              </a:spcBef>
              <a:spcAft>
                <a:spcPts val="0"/>
              </a:spcAft>
              <a:buClr>
                <a:schemeClr val="dk1"/>
              </a:buClr>
              <a:buSzPts val="3000"/>
              <a:buNone/>
              <a:defRPr sz="3000">
                <a:solidFill>
                  <a:schemeClr val="dk1"/>
                </a:solidFill>
              </a:defRPr>
            </a:lvl4pPr>
            <a:lvl5pPr lvl="4" algn="l">
              <a:lnSpc>
                <a:spcPct val="100000"/>
              </a:lnSpc>
              <a:spcBef>
                <a:spcPts val="0"/>
              </a:spcBef>
              <a:spcAft>
                <a:spcPts val="0"/>
              </a:spcAft>
              <a:buClr>
                <a:schemeClr val="dk1"/>
              </a:buClr>
              <a:buSzPts val="3000"/>
              <a:buNone/>
              <a:defRPr sz="3000">
                <a:solidFill>
                  <a:schemeClr val="dk1"/>
                </a:solidFill>
              </a:defRPr>
            </a:lvl5pPr>
            <a:lvl6pPr lvl="5" algn="l">
              <a:lnSpc>
                <a:spcPct val="100000"/>
              </a:lnSpc>
              <a:spcBef>
                <a:spcPts val="0"/>
              </a:spcBef>
              <a:spcAft>
                <a:spcPts val="0"/>
              </a:spcAft>
              <a:buClr>
                <a:schemeClr val="dk1"/>
              </a:buClr>
              <a:buSzPts val="3000"/>
              <a:buNone/>
              <a:defRPr sz="3000">
                <a:solidFill>
                  <a:schemeClr val="dk1"/>
                </a:solidFill>
              </a:defRPr>
            </a:lvl6pPr>
            <a:lvl7pPr lvl="6" algn="l">
              <a:lnSpc>
                <a:spcPct val="100000"/>
              </a:lnSpc>
              <a:spcBef>
                <a:spcPts val="0"/>
              </a:spcBef>
              <a:spcAft>
                <a:spcPts val="0"/>
              </a:spcAft>
              <a:buClr>
                <a:schemeClr val="dk1"/>
              </a:buClr>
              <a:buSzPts val="3000"/>
              <a:buNone/>
              <a:defRPr sz="3000">
                <a:solidFill>
                  <a:schemeClr val="dk1"/>
                </a:solidFill>
              </a:defRPr>
            </a:lvl7pPr>
            <a:lvl8pPr lvl="7" algn="l">
              <a:lnSpc>
                <a:spcPct val="100000"/>
              </a:lnSpc>
              <a:spcBef>
                <a:spcPts val="0"/>
              </a:spcBef>
              <a:spcAft>
                <a:spcPts val="0"/>
              </a:spcAft>
              <a:buClr>
                <a:schemeClr val="dk1"/>
              </a:buClr>
              <a:buSzPts val="3000"/>
              <a:buNone/>
              <a:defRPr sz="3000">
                <a:solidFill>
                  <a:schemeClr val="dk1"/>
                </a:solidFill>
              </a:defRPr>
            </a:lvl8pPr>
            <a:lvl9pPr lvl="8" algn="l">
              <a:lnSpc>
                <a:spcPct val="100000"/>
              </a:lnSpc>
              <a:spcBef>
                <a:spcPts val="0"/>
              </a:spcBef>
              <a:spcAft>
                <a:spcPts val="0"/>
              </a:spcAft>
              <a:buClr>
                <a:schemeClr val="dk1"/>
              </a:buClr>
              <a:buSzPts val="3000"/>
              <a:buNone/>
              <a:defRPr sz="3000">
                <a:solidFill>
                  <a:schemeClr val="dk1"/>
                </a:solidFill>
              </a:defRPr>
            </a:lvl9pPr>
          </a:lstStyle>
          <a:p/>
        </p:txBody>
      </p:sp>
      <p:sp>
        <p:nvSpPr>
          <p:cNvPr id="162" name="Google Shape;162;p77"/>
          <p:cNvSpPr txBox="1"/>
          <p:nvPr>
            <p:ph idx="2" type="title"/>
          </p:nvPr>
        </p:nvSpPr>
        <p:spPr>
          <a:xfrm>
            <a:off x="715100" y="2532350"/>
            <a:ext cx="3780600" cy="456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3" name="Google Shape;163;p77"/>
          <p:cNvSpPr txBox="1"/>
          <p:nvPr>
            <p:ph idx="1" type="subTitle"/>
          </p:nvPr>
        </p:nvSpPr>
        <p:spPr>
          <a:xfrm>
            <a:off x="715100" y="3291950"/>
            <a:ext cx="3780600" cy="89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4" name="Google Shape;164;p77"/>
          <p:cNvSpPr txBox="1"/>
          <p:nvPr>
            <p:ph idx="3" type="subTitle"/>
          </p:nvPr>
        </p:nvSpPr>
        <p:spPr>
          <a:xfrm>
            <a:off x="715100" y="2912150"/>
            <a:ext cx="3780600" cy="45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65" name="Google Shape;165;p77"/>
          <p:cNvSpPr txBox="1"/>
          <p:nvPr>
            <p:ph idx="4" type="subTitle"/>
          </p:nvPr>
        </p:nvSpPr>
        <p:spPr>
          <a:xfrm>
            <a:off x="4648300" y="3291950"/>
            <a:ext cx="3780600" cy="89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6" name="Google Shape;166;p77"/>
          <p:cNvSpPr txBox="1"/>
          <p:nvPr>
            <p:ph idx="5" type="subTitle"/>
          </p:nvPr>
        </p:nvSpPr>
        <p:spPr>
          <a:xfrm>
            <a:off x="4648300" y="2912150"/>
            <a:ext cx="3780600" cy="45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67" name="Google Shape;167;p77"/>
          <p:cNvSpPr txBox="1"/>
          <p:nvPr>
            <p:ph idx="6" type="title"/>
          </p:nvPr>
        </p:nvSpPr>
        <p:spPr>
          <a:xfrm>
            <a:off x="4648300" y="2532350"/>
            <a:ext cx="3780600" cy="456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18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8" name="Google Shape;168;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
    <p:bg>
      <p:bgPr>
        <a:solidFill>
          <a:schemeClr val="lt1"/>
        </a:solidFill>
      </p:bgPr>
    </p:bg>
    <p:spTree>
      <p:nvGrpSpPr>
        <p:cNvPr id="169" name="Shape 169"/>
        <p:cNvGrpSpPr/>
        <p:nvPr/>
      </p:nvGrpSpPr>
      <p:grpSpPr>
        <a:xfrm>
          <a:off x="0" y="0"/>
          <a:ext cx="0" cy="0"/>
          <a:chOff x="0" y="0"/>
          <a:chExt cx="0" cy="0"/>
        </a:xfrm>
      </p:grpSpPr>
      <p:pic>
        <p:nvPicPr>
          <p:cNvPr id="170" name="Google Shape;170;p78"/>
          <p:cNvPicPr preferRelativeResize="0"/>
          <p:nvPr/>
        </p:nvPicPr>
        <p:blipFill rotWithShape="1">
          <a:blip r:embed="rId2">
            <a:alphaModFix/>
          </a:blip>
          <a:srcRect b="-26995" l="7044" r="-48487" t="47434"/>
          <a:stretch/>
        </p:blipFill>
        <p:spPr>
          <a:xfrm flipH="1" rot="10800000">
            <a:off x="-12" y="-2285"/>
            <a:ext cx="9144000" cy="5148070"/>
          </a:xfrm>
          <a:prstGeom prst="rect">
            <a:avLst/>
          </a:prstGeom>
          <a:noFill/>
          <a:ln>
            <a:noFill/>
          </a:ln>
        </p:spPr>
      </p:pic>
      <p:sp>
        <p:nvSpPr>
          <p:cNvPr id="171" name="Google Shape;171;p78"/>
          <p:cNvSpPr txBox="1"/>
          <p:nvPr>
            <p:ph type="title"/>
          </p:nvPr>
        </p:nvSpPr>
        <p:spPr>
          <a:xfrm>
            <a:off x="715100" y="1931850"/>
            <a:ext cx="3704400" cy="548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172" name="Google Shape;172;p78"/>
          <p:cNvSpPr txBox="1"/>
          <p:nvPr>
            <p:ph idx="1" type="body"/>
          </p:nvPr>
        </p:nvSpPr>
        <p:spPr>
          <a:xfrm>
            <a:off x="715100" y="2480550"/>
            <a:ext cx="3704400" cy="731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0"/>
              </a:spcBef>
              <a:spcAft>
                <a:spcPts val="0"/>
              </a:spcAft>
              <a:buClr>
                <a:schemeClr val="dk1"/>
              </a:buClr>
              <a:buSzPts val="1200"/>
              <a:buChar char="○"/>
              <a:defRPr sz="1200">
                <a:solidFill>
                  <a:schemeClr val="dk1"/>
                </a:solidFill>
              </a:defRPr>
            </a:lvl2pPr>
            <a:lvl3pPr indent="-304800" lvl="2" marL="1371600" algn="l">
              <a:lnSpc>
                <a:spcPct val="100000"/>
              </a:lnSpc>
              <a:spcBef>
                <a:spcPts val="0"/>
              </a:spcBef>
              <a:spcAft>
                <a:spcPts val="0"/>
              </a:spcAft>
              <a:buClr>
                <a:schemeClr val="dk1"/>
              </a:buClr>
              <a:buSzPts val="1200"/>
              <a:buChar char="■"/>
              <a:defRPr sz="1200">
                <a:solidFill>
                  <a:schemeClr val="dk1"/>
                </a:solidFill>
              </a:defRPr>
            </a:lvl3pPr>
            <a:lvl4pPr indent="-304800" lvl="3" marL="1828800" algn="l">
              <a:lnSpc>
                <a:spcPct val="100000"/>
              </a:lnSpc>
              <a:spcBef>
                <a:spcPts val="0"/>
              </a:spcBef>
              <a:spcAft>
                <a:spcPts val="0"/>
              </a:spcAft>
              <a:buClr>
                <a:schemeClr val="dk1"/>
              </a:buClr>
              <a:buSzPts val="1200"/>
              <a:buChar char="●"/>
              <a:defRPr sz="1200">
                <a:solidFill>
                  <a:schemeClr val="dk1"/>
                </a:solidFill>
              </a:defRPr>
            </a:lvl4pPr>
            <a:lvl5pPr indent="-304800" lvl="4" marL="2286000" algn="l">
              <a:lnSpc>
                <a:spcPct val="100000"/>
              </a:lnSpc>
              <a:spcBef>
                <a:spcPts val="0"/>
              </a:spcBef>
              <a:spcAft>
                <a:spcPts val="0"/>
              </a:spcAft>
              <a:buClr>
                <a:schemeClr val="dk1"/>
              </a:buClr>
              <a:buSzPts val="1200"/>
              <a:buChar char="○"/>
              <a:defRPr sz="1200">
                <a:solidFill>
                  <a:schemeClr val="dk1"/>
                </a:solidFill>
              </a:defRPr>
            </a:lvl5pPr>
            <a:lvl6pPr indent="-304800" lvl="5" marL="2743200" algn="l">
              <a:lnSpc>
                <a:spcPct val="100000"/>
              </a:lnSpc>
              <a:spcBef>
                <a:spcPts val="0"/>
              </a:spcBef>
              <a:spcAft>
                <a:spcPts val="0"/>
              </a:spcAft>
              <a:buClr>
                <a:schemeClr val="dk1"/>
              </a:buClr>
              <a:buSzPts val="1200"/>
              <a:buChar char="■"/>
              <a:defRPr sz="1200">
                <a:solidFill>
                  <a:schemeClr val="dk1"/>
                </a:solidFill>
              </a:defRPr>
            </a:lvl6pPr>
            <a:lvl7pPr indent="-304800" lvl="6" marL="3200400" algn="l">
              <a:lnSpc>
                <a:spcPct val="100000"/>
              </a:lnSpc>
              <a:spcBef>
                <a:spcPts val="0"/>
              </a:spcBef>
              <a:spcAft>
                <a:spcPts val="0"/>
              </a:spcAft>
              <a:buClr>
                <a:schemeClr val="dk1"/>
              </a:buClr>
              <a:buSzPts val="1200"/>
              <a:buChar char="●"/>
              <a:defRPr sz="1200">
                <a:solidFill>
                  <a:schemeClr val="dk1"/>
                </a:solidFill>
              </a:defRPr>
            </a:lvl7pPr>
            <a:lvl8pPr indent="-304800" lvl="7" marL="3657600" algn="l">
              <a:lnSpc>
                <a:spcPct val="100000"/>
              </a:lnSpc>
              <a:spcBef>
                <a:spcPts val="0"/>
              </a:spcBef>
              <a:spcAft>
                <a:spcPts val="0"/>
              </a:spcAft>
              <a:buClr>
                <a:schemeClr val="dk1"/>
              </a:buClr>
              <a:buSzPts val="1200"/>
              <a:buChar char="○"/>
              <a:defRPr sz="1200">
                <a:solidFill>
                  <a:schemeClr val="dk1"/>
                </a:solidFill>
              </a:defRPr>
            </a:lvl8pPr>
            <a:lvl9pPr indent="-304800" lvl="8" marL="4114800" algn="l">
              <a:lnSpc>
                <a:spcPct val="100000"/>
              </a:lnSpc>
              <a:spcBef>
                <a:spcPts val="0"/>
              </a:spcBef>
              <a:spcAft>
                <a:spcPts val="0"/>
              </a:spcAft>
              <a:buClr>
                <a:schemeClr val="dk1"/>
              </a:buClr>
              <a:buSzPts val="1200"/>
              <a:buChar char="■"/>
              <a:defRPr sz="1200">
                <a:solidFill>
                  <a:schemeClr val="dk1"/>
                </a:solidFill>
              </a:defRPr>
            </a:lvl9pPr>
          </a:lstStyle>
          <a:p/>
        </p:txBody>
      </p:sp>
      <p:sp>
        <p:nvSpPr>
          <p:cNvPr id="173" name="Google Shape;173;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
    <p:bg>
      <p:bgPr>
        <a:solidFill>
          <a:schemeClr val="lt1"/>
        </a:solidFill>
      </p:bgPr>
    </p:bg>
    <p:spTree>
      <p:nvGrpSpPr>
        <p:cNvPr id="174" name="Shape 174"/>
        <p:cNvGrpSpPr/>
        <p:nvPr/>
      </p:nvGrpSpPr>
      <p:grpSpPr>
        <a:xfrm>
          <a:off x="0" y="0"/>
          <a:ext cx="0" cy="0"/>
          <a:chOff x="0" y="0"/>
          <a:chExt cx="0" cy="0"/>
        </a:xfrm>
      </p:grpSpPr>
      <p:pic>
        <p:nvPicPr>
          <p:cNvPr id="175" name="Google Shape;175;p79"/>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176" name="Google Shape;176;p79"/>
          <p:cNvSpPr txBox="1"/>
          <p:nvPr>
            <p:ph type="title"/>
          </p:nvPr>
        </p:nvSpPr>
        <p:spPr>
          <a:xfrm>
            <a:off x="4302272" y="1931850"/>
            <a:ext cx="3704400" cy="548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177" name="Google Shape;177;p79"/>
          <p:cNvSpPr txBox="1"/>
          <p:nvPr>
            <p:ph idx="1" type="body"/>
          </p:nvPr>
        </p:nvSpPr>
        <p:spPr>
          <a:xfrm>
            <a:off x="4302272" y="2480550"/>
            <a:ext cx="3704400" cy="731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0"/>
              </a:spcBef>
              <a:spcAft>
                <a:spcPts val="0"/>
              </a:spcAft>
              <a:buClr>
                <a:schemeClr val="dk1"/>
              </a:buClr>
              <a:buSzPts val="1200"/>
              <a:buChar char="○"/>
              <a:defRPr sz="1200">
                <a:solidFill>
                  <a:schemeClr val="dk1"/>
                </a:solidFill>
              </a:defRPr>
            </a:lvl2pPr>
            <a:lvl3pPr indent="-304800" lvl="2" marL="1371600" algn="l">
              <a:lnSpc>
                <a:spcPct val="100000"/>
              </a:lnSpc>
              <a:spcBef>
                <a:spcPts val="0"/>
              </a:spcBef>
              <a:spcAft>
                <a:spcPts val="0"/>
              </a:spcAft>
              <a:buClr>
                <a:schemeClr val="dk1"/>
              </a:buClr>
              <a:buSzPts val="1200"/>
              <a:buChar char="■"/>
              <a:defRPr sz="1200">
                <a:solidFill>
                  <a:schemeClr val="dk1"/>
                </a:solidFill>
              </a:defRPr>
            </a:lvl3pPr>
            <a:lvl4pPr indent="-304800" lvl="3" marL="1828800" algn="l">
              <a:lnSpc>
                <a:spcPct val="100000"/>
              </a:lnSpc>
              <a:spcBef>
                <a:spcPts val="0"/>
              </a:spcBef>
              <a:spcAft>
                <a:spcPts val="0"/>
              </a:spcAft>
              <a:buClr>
                <a:schemeClr val="dk1"/>
              </a:buClr>
              <a:buSzPts val="1200"/>
              <a:buChar char="●"/>
              <a:defRPr sz="1200">
                <a:solidFill>
                  <a:schemeClr val="dk1"/>
                </a:solidFill>
              </a:defRPr>
            </a:lvl4pPr>
            <a:lvl5pPr indent="-304800" lvl="4" marL="2286000" algn="l">
              <a:lnSpc>
                <a:spcPct val="100000"/>
              </a:lnSpc>
              <a:spcBef>
                <a:spcPts val="0"/>
              </a:spcBef>
              <a:spcAft>
                <a:spcPts val="0"/>
              </a:spcAft>
              <a:buClr>
                <a:schemeClr val="dk1"/>
              </a:buClr>
              <a:buSzPts val="1200"/>
              <a:buChar char="○"/>
              <a:defRPr sz="1200">
                <a:solidFill>
                  <a:schemeClr val="dk1"/>
                </a:solidFill>
              </a:defRPr>
            </a:lvl5pPr>
            <a:lvl6pPr indent="-304800" lvl="5" marL="2743200" algn="l">
              <a:lnSpc>
                <a:spcPct val="100000"/>
              </a:lnSpc>
              <a:spcBef>
                <a:spcPts val="0"/>
              </a:spcBef>
              <a:spcAft>
                <a:spcPts val="0"/>
              </a:spcAft>
              <a:buClr>
                <a:schemeClr val="dk1"/>
              </a:buClr>
              <a:buSzPts val="1200"/>
              <a:buChar char="■"/>
              <a:defRPr sz="1200">
                <a:solidFill>
                  <a:schemeClr val="dk1"/>
                </a:solidFill>
              </a:defRPr>
            </a:lvl6pPr>
            <a:lvl7pPr indent="-304800" lvl="6" marL="3200400" algn="l">
              <a:lnSpc>
                <a:spcPct val="100000"/>
              </a:lnSpc>
              <a:spcBef>
                <a:spcPts val="0"/>
              </a:spcBef>
              <a:spcAft>
                <a:spcPts val="0"/>
              </a:spcAft>
              <a:buClr>
                <a:schemeClr val="dk1"/>
              </a:buClr>
              <a:buSzPts val="1200"/>
              <a:buChar char="●"/>
              <a:defRPr sz="1200">
                <a:solidFill>
                  <a:schemeClr val="dk1"/>
                </a:solidFill>
              </a:defRPr>
            </a:lvl7pPr>
            <a:lvl8pPr indent="-304800" lvl="7" marL="3657600" algn="l">
              <a:lnSpc>
                <a:spcPct val="100000"/>
              </a:lnSpc>
              <a:spcBef>
                <a:spcPts val="0"/>
              </a:spcBef>
              <a:spcAft>
                <a:spcPts val="0"/>
              </a:spcAft>
              <a:buClr>
                <a:schemeClr val="dk1"/>
              </a:buClr>
              <a:buSzPts val="1200"/>
              <a:buChar char="○"/>
              <a:defRPr sz="1200">
                <a:solidFill>
                  <a:schemeClr val="dk1"/>
                </a:solidFill>
              </a:defRPr>
            </a:lvl8pPr>
            <a:lvl9pPr indent="-304800" lvl="8" marL="4114800" algn="l">
              <a:lnSpc>
                <a:spcPct val="100000"/>
              </a:lnSpc>
              <a:spcBef>
                <a:spcPts val="0"/>
              </a:spcBef>
              <a:spcAft>
                <a:spcPts val="0"/>
              </a:spcAft>
              <a:buClr>
                <a:schemeClr val="dk1"/>
              </a:buClr>
              <a:buSzPts val="1200"/>
              <a:buChar char="■"/>
              <a:defRPr sz="1200">
                <a:solidFill>
                  <a:schemeClr val="dk1"/>
                </a:solidFill>
              </a:defRPr>
            </a:lvl9pPr>
          </a:lstStyle>
          <a:p/>
        </p:txBody>
      </p:sp>
      <p:sp>
        <p:nvSpPr>
          <p:cNvPr id="178" name="Google Shape;178;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
    <p:bg>
      <p:bgPr>
        <a:solidFill>
          <a:schemeClr val="lt1"/>
        </a:solidFill>
      </p:bgPr>
    </p:bg>
    <p:spTree>
      <p:nvGrpSpPr>
        <p:cNvPr id="179" name="Shape 179"/>
        <p:cNvGrpSpPr/>
        <p:nvPr/>
      </p:nvGrpSpPr>
      <p:grpSpPr>
        <a:xfrm>
          <a:off x="0" y="0"/>
          <a:ext cx="0" cy="0"/>
          <a:chOff x="0" y="0"/>
          <a:chExt cx="0" cy="0"/>
        </a:xfrm>
      </p:grpSpPr>
      <p:pic>
        <p:nvPicPr>
          <p:cNvPr id="180" name="Google Shape;180;p80"/>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sp>
        <p:nvSpPr>
          <p:cNvPr id="181" name="Google Shape;181;p80"/>
          <p:cNvSpPr txBox="1"/>
          <p:nvPr>
            <p:ph type="title"/>
          </p:nvPr>
        </p:nvSpPr>
        <p:spPr>
          <a:xfrm>
            <a:off x="1545472" y="1931850"/>
            <a:ext cx="3704400" cy="548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182" name="Google Shape;182;p80"/>
          <p:cNvSpPr txBox="1"/>
          <p:nvPr>
            <p:ph idx="1" type="body"/>
          </p:nvPr>
        </p:nvSpPr>
        <p:spPr>
          <a:xfrm>
            <a:off x="1545472" y="2480550"/>
            <a:ext cx="3704400" cy="731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0"/>
              </a:spcBef>
              <a:spcAft>
                <a:spcPts val="0"/>
              </a:spcAft>
              <a:buClr>
                <a:schemeClr val="dk1"/>
              </a:buClr>
              <a:buSzPts val="1200"/>
              <a:buChar char="○"/>
              <a:defRPr sz="1200">
                <a:solidFill>
                  <a:schemeClr val="dk1"/>
                </a:solidFill>
              </a:defRPr>
            </a:lvl2pPr>
            <a:lvl3pPr indent="-304800" lvl="2" marL="1371600" algn="l">
              <a:lnSpc>
                <a:spcPct val="100000"/>
              </a:lnSpc>
              <a:spcBef>
                <a:spcPts val="0"/>
              </a:spcBef>
              <a:spcAft>
                <a:spcPts val="0"/>
              </a:spcAft>
              <a:buClr>
                <a:schemeClr val="dk1"/>
              </a:buClr>
              <a:buSzPts val="1200"/>
              <a:buChar char="■"/>
              <a:defRPr sz="1200">
                <a:solidFill>
                  <a:schemeClr val="dk1"/>
                </a:solidFill>
              </a:defRPr>
            </a:lvl3pPr>
            <a:lvl4pPr indent="-304800" lvl="3" marL="1828800" algn="l">
              <a:lnSpc>
                <a:spcPct val="100000"/>
              </a:lnSpc>
              <a:spcBef>
                <a:spcPts val="0"/>
              </a:spcBef>
              <a:spcAft>
                <a:spcPts val="0"/>
              </a:spcAft>
              <a:buClr>
                <a:schemeClr val="dk1"/>
              </a:buClr>
              <a:buSzPts val="1200"/>
              <a:buChar char="●"/>
              <a:defRPr sz="1200">
                <a:solidFill>
                  <a:schemeClr val="dk1"/>
                </a:solidFill>
              </a:defRPr>
            </a:lvl4pPr>
            <a:lvl5pPr indent="-304800" lvl="4" marL="2286000" algn="l">
              <a:lnSpc>
                <a:spcPct val="100000"/>
              </a:lnSpc>
              <a:spcBef>
                <a:spcPts val="0"/>
              </a:spcBef>
              <a:spcAft>
                <a:spcPts val="0"/>
              </a:spcAft>
              <a:buClr>
                <a:schemeClr val="dk1"/>
              </a:buClr>
              <a:buSzPts val="1200"/>
              <a:buChar char="○"/>
              <a:defRPr sz="1200">
                <a:solidFill>
                  <a:schemeClr val="dk1"/>
                </a:solidFill>
              </a:defRPr>
            </a:lvl5pPr>
            <a:lvl6pPr indent="-304800" lvl="5" marL="2743200" algn="l">
              <a:lnSpc>
                <a:spcPct val="100000"/>
              </a:lnSpc>
              <a:spcBef>
                <a:spcPts val="0"/>
              </a:spcBef>
              <a:spcAft>
                <a:spcPts val="0"/>
              </a:spcAft>
              <a:buClr>
                <a:schemeClr val="dk1"/>
              </a:buClr>
              <a:buSzPts val="1200"/>
              <a:buChar char="■"/>
              <a:defRPr sz="1200">
                <a:solidFill>
                  <a:schemeClr val="dk1"/>
                </a:solidFill>
              </a:defRPr>
            </a:lvl6pPr>
            <a:lvl7pPr indent="-304800" lvl="6" marL="3200400" algn="l">
              <a:lnSpc>
                <a:spcPct val="100000"/>
              </a:lnSpc>
              <a:spcBef>
                <a:spcPts val="0"/>
              </a:spcBef>
              <a:spcAft>
                <a:spcPts val="0"/>
              </a:spcAft>
              <a:buClr>
                <a:schemeClr val="dk1"/>
              </a:buClr>
              <a:buSzPts val="1200"/>
              <a:buChar char="●"/>
              <a:defRPr sz="1200">
                <a:solidFill>
                  <a:schemeClr val="dk1"/>
                </a:solidFill>
              </a:defRPr>
            </a:lvl7pPr>
            <a:lvl8pPr indent="-304800" lvl="7" marL="3657600" algn="l">
              <a:lnSpc>
                <a:spcPct val="100000"/>
              </a:lnSpc>
              <a:spcBef>
                <a:spcPts val="0"/>
              </a:spcBef>
              <a:spcAft>
                <a:spcPts val="0"/>
              </a:spcAft>
              <a:buClr>
                <a:schemeClr val="dk1"/>
              </a:buClr>
              <a:buSzPts val="1200"/>
              <a:buChar char="○"/>
              <a:defRPr sz="1200">
                <a:solidFill>
                  <a:schemeClr val="dk1"/>
                </a:solidFill>
              </a:defRPr>
            </a:lvl8pPr>
            <a:lvl9pPr indent="-304800" lvl="8" marL="4114800" algn="l">
              <a:lnSpc>
                <a:spcPct val="100000"/>
              </a:lnSpc>
              <a:spcBef>
                <a:spcPts val="0"/>
              </a:spcBef>
              <a:spcAft>
                <a:spcPts val="0"/>
              </a:spcAft>
              <a:buClr>
                <a:schemeClr val="dk1"/>
              </a:buClr>
              <a:buSzPts val="1200"/>
              <a:buChar char="■"/>
              <a:defRPr sz="1200">
                <a:solidFill>
                  <a:schemeClr val="dk1"/>
                </a:solidFill>
              </a:defRPr>
            </a:lvl9pPr>
          </a:lstStyle>
          <a:p/>
        </p:txBody>
      </p:sp>
      <p:sp>
        <p:nvSpPr>
          <p:cNvPr id="183" name="Google Shape;183;p8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
    <p:bg>
      <p:bgPr>
        <a:solidFill>
          <a:schemeClr val="lt1"/>
        </a:solidFill>
      </p:bgPr>
    </p:bg>
    <p:spTree>
      <p:nvGrpSpPr>
        <p:cNvPr id="184" name="Shape 184"/>
        <p:cNvGrpSpPr/>
        <p:nvPr/>
      </p:nvGrpSpPr>
      <p:grpSpPr>
        <a:xfrm>
          <a:off x="0" y="0"/>
          <a:ext cx="0" cy="0"/>
          <a:chOff x="0" y="0"/>
          <a:chExt cx="0" cy="0"/>
        </a:xfrm>
      </p:grpSpPr>
      <p:pic>
        <p:nvPicPr>
          <p:cNvPr id="185" name="Google Shape;185;p81"/>
          <p:cNvPicPr preferRelativeResize="0"/>
          <p:nvPr/>
        </p:nvPicPr>
        <p:blipFill rotWithShape="1">
          <a:blip r:embed="rId2">
            <a:alphaModFix/>
          </a:blip>
          <a:srcRect b="-11171" l="-6644" r="27549" t="-11183"/>
          <a:stretch/>
        </p:blipFill>
        <p:spPr>
          <a:xfrm>
            <a:off x="5819050" y="0"/>
            <a:ext cx="3324950" cy="5143500"/>
          </a:xfrm>
          <a:prstGeom prst="rect">
            <a:avLst/>
          </a:prstGeom>
          <a:noFill/>
          <a:ln>
            <a:noFill/>
          </a:ln>
        </p:spPr>
      </p:pic>
      <p:sp>
        <p:nvSpPr>
          <p:cNvPr id="186" name="Google Shape;186;p81"/>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187" name="Google Shape;187;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bg>
      <p:bgPr>
        <a:solidFill>
          <a:schemeClr val="lt1"/>
        </a:solidFill>
      </p:bgPr>
    </p:bg>
    <p:spTree>
      <p:nvGrpSpPr>
        <p:cNvPr id="188" name="Shape 188"/>
        <p:cNvGrpSpPr/>
        <p:nvPr/>
      </p:nvGrpSpPr>
      <p:grpSpPr>
        <a:xfrm>
          <a:off x="0" y="0"/>
          <a:ext cx="0" cy="0"/>
          <a:chOff x="0" y="0"/>
          <a:chExt cx="0" cy="0"/>
        </a:xfrm>
      </p:grpSpPr>
      <p:pic>
        <p:nvPicPr>
          <p:cNvPr id="189" name="Google Shape;189;p82"/>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190" name="Google Shape;190;p82"/>
          <p:cNvSpPr txBox="1"/>
          <p:nvPr>
            <p:ph idx="1" type="subTitle"/>
          </p:nvPr>
        </p:nvSpPr>
        <p:spPr>
          <a:xfrm>
            <a:off x="715100" y="3758613"/>
            <a:ext cx="21318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1" name="Google Shape;191;p82"/>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500"/>
              <a:buNone/>
              <a:defRPr sz="2500">
                <a:solidFill>
                  <a:schemeClr val="dk1"/>
                </a:solidFill>
              </a:defRPr>
            </a:lvl1pPr>
            <a:lvl2pPr lvl="1" algn="l">
              <a:lnSpc>
                <a:spcPct val="100000"/>
              </a:lnSpc>
              <a:spcBef>
                <a:spcPts val="0"/>
              </a:spcBef>
              <a:spcAft>
                <a:spcPts val="0"/>
              </a:spcAft>
              <a:buClr>
                <a:schemeClr val="dk1"/>
              </a:buClr>
              <a:buSzPts val="2500"/>
              <a:buNone/>
              <a:defRPr sz="2500">
                <a:solidFill>
                  <a:schemeClr val="dk1"/>
                </a:solidFill>
              </a:defRPr>
            </a:lvl2pPr>
            <a:lvl3pPr lvl="2" algn="l">
              <a:lnSpc>
                <a:spcPct val="100000"/>
              </a:lnSpc>
              <a:spcBef>
                <a:spcPts val="0"/>
              </a:spcBef>
              <a:spcAft>
                <a:spcPts val="0"/>
              </a:spcAft>
              <a:buClr>
                <a:schemeClr val="dk1"/>
              </a:buClr>
              <a:buSzPts val="2500"/>
              <a:buNone/>
              <a:defRPr sz="2500">
                <a:solidFill>
                  <a:schemeClr val="dk1"/>
                </a:solidFill>
              </a:defRPr>
            </a:lvl3pPr>
            <a:lvl4pPr lvl="3" algn="l">
              <a:lnSpc>
                <a:spcPct val="100000"/>
              </a:lnSpc>
              <a:spcBef>
                <a:spcPts val="0"/>
              </a:spcBef>
              <a:spcAft>
                <a:spcPts val="0"/>
              </a:spcAft>
              <a:buClr>
                <a:schemeClr val="dk1"/>
              </a:buClr>
              <a:buSzPts val="2500"/>
              <a:buNone/>
              <a:defRPr sz="2500">
                <a:solidFill>
                  <a:schemeClr val="dk1"/>
                </a:solidFill>
              </a:defRPr>
            </a:lvl4pPr>
            <a:lvl5pPr lvl="4" algn="l">
              <a:lnSpc>
                <a:spcPct val="100000"/>
              </a:lnSpc>
              <a:spcBef>
                <a:spcPts val="0"/>
              </a:spcBef>
              <a:spcAft>
                <a:spcPts val="0"/>
              </a:spcAft>
              <a:buClr>
                <a:schemeClr val="dk1"/>
              </a:buClr>
              <a:buSzPts val="2500"/>
              <a:buNone/>
              <a:defRPr sz="2500">
                <a:solidFill>
                  <a:schemeClr val="dk1"/>
                </a:solidFill>
              </a:defRPr>
            </a:lvl5pPr>
            <a:lvl6pPr lvl="5" algn="l">
              <a:lnSpc>
                <a:spcPct val="100000"/>
              </a:lnSpc>
              <a:spcBef>
                <a:spcPts val="0"/>
              </a:spcBef>
              <a:spcAft>
                <a:spcPts val="0"/>
              </a:spcAft>
              <a:buClr>
                <a:schemeClr val="dk1"/>
              </a:buClr>
              <a:buSzPts val="2500"/>
              <a:buNone/>
              <a:defRPr sz="2500">
                <a:solidFill>
                  <a:schemeClr val="dk1"/>
                </a:solidFill>
              </a:defRPr>
            </a:lvl6pPr>
            <a:lvl7pPr lvl="6" algn="l">
              <a:lnSpc>
                <a:spcPct val="100000"/>
              </a:lnSpc>
              <a:spcBef>
                <a:spcPts val="0"/>
              </a:spcBef>
              <a:spcAft>
                <a:spcPts val="0"/>
              </a:spcAft>
              <a:buClr>
                <a:schemeClr val="dk1"/>
              </a:buClr>
              <a:buSzPts val="2500"/>
              <a:buNone/>
              <a:defRPr sz="2500">
                <a:solidFill>
                  <a:schemeClr val="dk1"/>
                </a:solidFill>
              </a:defRPr>
            </a:lvl7pPr>
            <a:lvl8pPr lvl="7" algn="l">
              <a:lnSpc>
                <a:spcPct val="100000"/>
              </a:lnSpc>
              <a:spcBef>
                <a:spcPts val="0"/>
              </a:spcBef>
              <a:spcAft>
                <a:spcPts val="0"/>
              </a:spcAft>
              <a:buClr>
                <a:schemeClr val="dk1"/>
              </a:buClr>
              <a:buSzPts val="2500"/>
              <a:buNone/>
              <a:defRPr sz="2500">
                <a:solidFill>
                  <a:schemeClr val="dk1"/>
                </a:solidFill>
              </a:defRPr>
            </a:lvl8pPr>
            <a:lvl9pPr lvl="8" algn="l">
              <a:lnSpc>
                <a:spcPct val="100000"/>
              </a:lnSpc>
              <a:spcBef>
                <a:spcPts val="0"/>
              </a:spcBef>
              <a:spcAft>
                <a:spcPts val="0"/>
              </a:spcAft>
              <a:buClr>
                <a:schemeClr val="dk1"/>
              </a:buClr>
              <a:buSzPts val="2500"/>
              <a:buNone/>
              <a:defRPr sz="2500">
                <a:solidFill>
                  <a:schemeClr val="dk1"/>
                </a:solidFill>
              </a:defRPr>
            </a:lvl9pPr>
          </a:lstStyle>
          <a:p/>
        </p:txBody>
      </p:sp>
      <p:sp>
        <p:nvSpPr>
          <p:cNvPr id="192" name="Google Shape;192;p82"/>
          <p:cNvSpPr txBox="1"/>
          <p:nvPr>
            <p:ph idx="2" type="subTitle"/>
          </p:nvPr>
        </p:nvSpPr>
        <p:spPr>
          <a:xfrm>
            <a:off x="715100" y="3377613"/>
            <a:ext cx="2131800" cy="457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93" name="Google Shape;193;p82"/>
          <p:cNvSpPr txBox="1"/>
          <p:nvPr>
            <p:ph idx="3" type="subTitle"/>
          </p:nvPr>
        </p:nvSpPr>
        <p:spPr>
          <a:xfrm>
            <a:off x="3506099" y="3758613"/>
            <a:ext cx="21318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4" name="Google Shape;194;p82"/>
          <p:cNvSpPr txBox="1"/>
          <p:nvPr>
            <p:ph idx="4" type="subTitle"/>
          </p:nvPr>
        </p:nvSpPr>
        <p:spPr>
          <a:xfrm>
            <a:off x="3506099" y="3377613"/>
            <a:ext cx="2131800" cy="457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95" name="Google Shape;195;p82"/>
          <p:cNvSpPr txBox="1"/>
          <p:nvPr>
            <p:ph idx="5" type="subTitle"/>
          </p:nvPr>
        </p:nvSpPr>
        <p:spPr>
          <a:xfrm>
            <a:off x="6297200" y="3758613"/>
            <a:ext cx="2131800" cy="54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6" name="Google Shape;196;p82"/>
          <p:cNvSpPr txBox="1"/>
          <p:nvPr>
            <p:ph idx="6" type="subTitle"/>
          </p:nvPr>
        </p:nvSpPr>
        <p:spPr>
          <a:xfrm>
            <a:off x="6297200" y="3377613"/>
            <a:ext cx="2131800" cy="457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algn="l">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97" name="Google Shape;197;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solidFill>
          <a:schemeClr val="lt1"/>
        </a:solidFill>
      </p:bgPr>
    </p:bg>
    <p:spTree>
      <p:nvGrpSpPr>
        <p:cNvPr id="198" name="Shape 198"/>
        <p:cNvGrpSpPr/>
        <p:nvPr/>
      </p:nvGrpSpPr>
      <p:grpSpPr>
        <a:xfrm>
          <a:off x="0" y="0"/>
          <a:ext cx="0" cy="0"/>
          <a:chOff x="0" y="0"/>
          <a:chExt cx="0" cy="0"/>
        </a:xfrm>
      </p:grpSpPr>
      <p:pic>
        <p:nvPicPr>
          <p:cNvPr id="199" name="Google Shape;199;p83"/>
          <p:cNvPicPr preferRelativeResize="0"/>
          <p:nvPr/>
        </p:nvPicPr>
        <p:blipFill rotWithShape="1">
          <a:blip r:embed="rId2">
            <a:alphaModFix/>
          </a:blip>
          <a:srcRect b="-6812" l="-55210" r="55210" t="50562"/>
          <a:stretch/>
        </p:blipFill>
        <p:spPr>
          <a:xfrm flipH="1">
            <a:off x="0" y="0"/>
            <a:ext cx="9144000" cy="5143500"/>
          </a:xfrm>
          <a:prstGeom prst="rect">
            <a:avLst/>
          </a:prstGeom>
          <a:noFill/>
          <a:ln>
            <a:noFill/>
          </a:ln>
        </p:spPr>
      </p:pic>
      <p:pic>
        <p:nvPicPr>
          <p:cNvPr id="200" name="Google Shape;200;p83"/>
          <p:cNvPicPr preferRelativeResize="0"/>
          <p:nvPr/>
        </p:nvPicPr>
        <p:blipFill rotWithShape="1">
          <a:blip r:embed="rId2">
            <a:alphaModFix/>
          </a:blip>
          <a:srcRect b="-6812" l="-55210" r="55210" t="50562"/>
          <a:stretch/>
        </p:blipFill>
        <p:spPr>
          <a:xfrm flipH="1" rot="10800000">
            <a:off x="0" y="0"/>
            <a:ext cx="9144000" cy="5143500"/>
          </a:xfrm>
          <a:prstGeom prst="rect">
            <a:avLst/>
          </a:prstGeom>
          <a:noFill/>
          <a:ln>
            <a:noFill/>
          </a:ln>
        </p:spPr>
      </p:pic>
      <p:sp>
        <p:nvSpPr>
          <p:cNvPr id="201" name="Google Shape;201;p83"/>
          <p:cNvSpPr txBox="1"/>
          <p:nvPr>
            <p:ph type="ctrTitle"/>
          </p:nvPr>
        </p:nvSpPr>
        <p:spPr>
          <a:xfrm>
            <a:off x="715100" y="3330625"/>
            <a:ext cx="3856800" cy="125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200"/>
              <a:buNone/>
              <a:defRPr sz="7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2" name="Google Shape;202;p83"/>
          <p:cNvSpPr txBox="1"/>
          <p:nvPr>
            <p:ph idx="1" type="subTitle"/>
          </p:nvPr>
        </p:nvSpPr>
        <p:spPr>
          <a:xfrm>
            <a:off x="4571900" y="535000"/>
            <a:ext cx="2683800" cy="115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03" name="Google Shape;203;p83"/>
          <p:cNvSpPr txBox="1"/>
          <p:nvPr/>
        </p:nvSpPr>
        <p:spPr>
          <a:xfrm>
            <a:off x="4571863" y="2278000"/>
            <a:ext cx="2683800" cy="498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lbert Sans"/>
                <a:ea typeface="Albert Sans"/>
                <a:cs typeface="Albert Sans"/>
                <a:sym typeface="Albert Sans"/>
              </a:rPr>
              <a:t>CREDITS: This presentation template was created by </a:t>
            </a:r>
            <a:r>
              <a:rPr b="1" i="0" lang="en" sz="900" u="none" cap="none" strike="noStrike">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Slidesgo</a:t>
            </a:r>
            <a:r>
              <a:rPr b="0" i="0" lang="en" sz="900" u="none" cap="none" strike="noStrike">
                <a:solidFill>
                  <a:schemeClr val="dk1"/>
                </a:solidFill>
                <a:latin typeface="Albert Sans"/>
                <a:ea typeface="Albert Sans"/>
                <a:cs typeface="Albert Sans"/>
                <a:sym typeface="Albert Sans"/>
              </a:rPr>
              <a:t>, and includes icons by </a:t>
            </a:r>
            <a:r>
              <a:rPr b="1" i="0" lang="en" sz="900" u="none" cap="none" strike="noStrike">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Flaticon</a:t>
            </a:r>
            <a:r>
              <a:rPr b="1" i="0" lang="en" sz="900" u="none" cap="none" strike="noStrike">
                <a:solidFill>
                  <a:schemeClr val="dk1"/>
                </a:solidFill>
                <a:latin typeface="Albert Sans"/>
                <a:ea typeface="Albert Sans"/>
                <a:cs typeface="Albert Sans"/>
                <a:sym typeface="Albert Sans"/>
              </a:rPr>
              <a:t> </a:t>
            </a:r>
            <a:r>
              <a:rPr b="0" i="0" lang="en" sz="900" u="none" cap="none" strike="noStrike">
                <a:solidFill>
                  <a:schemeClr val="dk1"/>
                </a:solidFill>
                <a:latin typeface="Albert Sans"/>
                <a:ea typeface="Albert Sans"/>
                <a:cs typeface="Albert Sans"/>
                <a:sym typeface="Albert Sans"/>
              </a:rPr>
              <a:t>and infographics &amp; images by </a:t>
            </a:r>
            <a:r>
              <a:rPr b="1" i="0" lang="en" sz="900" u="none" cap="none" strike="noStrike">
                <a:solidFill>
                  <a:schemeClr val="dk1"/>
                </a:solidFill>
                <a:uFill>
                  <a:noFill/>
                </a:uFill>
                <a:latin typeface="Albert Sans"/>
                <a:ea typeface="Albert Sans"/>
                <a:cs typeface="Albert Sans"/>
                <a:sym typeface="Albert Sans"/>
                <a:hlinkClick r:id="rId5">
                  <a:extLst>
                    <a:ext uri="{A12FA001-AC4F-418D-AE19-62706E023703}">
                      <ahyp:hlinkClr val="tx"/>
                    </a:ext>
                  </a:extLst>
                </a:hlinkClick>
              </a:rPr>
              <a:t>Freepik</a:t>
            </a:r>
            <a:endParaRPr b="1" i="0" sz="900" u="none" cap="none" strike="noStrike">
              <a:solidFill>
                <a:schemeClr val="dk1"/>
              </a:solidFill>
              <a:latin typeface="Albert Sans"/>
              <a:ea typeface="Albert Sans"/>
              <a:cs typeface="Albert Sans"/>
              <a:sym typeface="Albert Sans"/>
            </a:endParaRPr>
          </a:p>
        </p:txBody>
      </p:sp>
      <p:sp>
        <p:nvSpPr>
          <p:cNvPr id="204" name="Google Shape;204;p8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5" name="Shape 205"/>
        <p:cNvGrpSpPr/>
        <p:nvPr/>
      </p:nvGrpSpPr>
      <p:grpSpPr>
        <a:xfrm>
          <a:off x="0" y="0"/>
          <a:ext cx="0" cy="0"/>
          <a:chOff x="0" y="0"/>
          <a:chExt cx="0" cy="0"/>
        </a:xfrm>
      </p:grpSpPr>
      <p:sp>
        <p:nvSpPr>
          <p:cNvPr id="206" name="Google Shape;206;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solidFill>
          <a:schemeClr val="lt1"/>
        </a:solidFill>
      </p:bgPr>
    </p:bg>
    <p:spTree>
      <p:nvGrpSpPr>
        <p:cNvPr id="207" name="Shape 207"/>
        <p:cNvGrpSpPr/>
        <p:nvPr/>
      </p:nvGrpSpPr>
      <p:grpSpPr>
        <a:xfrm>
          <a:off x="0" y="0"/>
          <a:ext cx="0" cy="0"/>
          <a:chOff x="0" y="0"/>
          <a:chExt cx="0" cy="0"/>
        </a:xfrm>
      </p:grpSpPr>
      <p:pic>
        <p:nvPicPr>
          <p:cNvPr id="208" name="Google Shape;208;p88"/>
          <p:cNvPicPr preferRelativeResize="0"/>
          <p:nvPr/>
        </p:nvPicPr>
        <p:blipFill rotWithShape="1">
          <a:blip r:embed="rId2">
            <a:alphaModFix/>
          </a:blip>
          <a:srcRect b="-35825" l="-6644" r="27549" t="13471"/>
          <a:stretch/>
        </p:blipFill>
        <p:spPr>
          <a:xfrm flipH="1">
            <a:off x="-10680" y="-2437"/>
            <a:ext cx="3321293" cy="5143500"/>
          </a:xfrm>
          <a:prstGeom prst="rect">
            <a:avLst/>
          </a:prstGeom>
          <a:noFill/>
          <a:ln>
            <a:noFill/>
          </a:ln>
        </p:spPr>
      </p:pic>
      <p:pic>
        <p:nvPicPr>
          <p:cNvPr id="209" name="Google Shape;209;p88"/>
          <p:cNvPicPr preferRelativeResize="0"/>
          <p:nvPr/>
        </p:nvPicPr>
        <p:blipFill rotWithShape="1">
          <a:blip r:embed="rId2">
            <a:alphaModFix/>
          </a:blip>
          <a:srcRect b="-108521" l="-235243" r="44461" t="44962"/>
          <a:stretch/>
        </p:blipFill>
        <p:spPr>
          <a:xfrm flipH="1" rot="10800000">
            <a:off x="-10680" y="-2437"/>
            <a:ext cx="9144080" cy="5148375"/>
          </a:xfrm>
          <a:prstGeom prst="rect">
            <a:avLst/>
          </a:prstGeom>
          <a:noFill/>
          <a:ln>
            <a:noFill/>
          </a:ln>
        </p:spPr>
      </p:pic>
      <p:sp>
        <p:nvSpPr>
          <p:cNvPr id="210" name="Google Shape;210;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500"/>
              <a:buFont typeface="Alexandria Medium"/>
              <a:buNone/>
              <a:defRPr b="0" i="0" sz="2500" u="none" cap="none" strike="noStrike">
                <a:solidFill>
                  <a:schemeClr val="dk1"/>
                </a:solidFill>
                <a:latin typeface="Alexandria Medium"/>
                <a:ea typeface="Alexandria Medium"/>
                <a:cs typeface="Alexandria Medium"/>
                <a:sym typeface="Alexandria Medium"/>
              </a:defRPr>
            </a:lvl1pPr>
            <a:lvl2pPr lvl="1" marR="0" rtl="0" algn="l">
              <a:lnSpc>
                <a:spcPct val="100000"/>
              </a:lnSpc>
              <a:spcBef>
                <a:spcPts val="0"/>
              </a:spcBef>
              <a:spcAft>
                <a:spcPts val="0"/>
              </a:spcAft>
              <a:buClr>
                <a:schemeClr val="dk1"/>
              </a:buClr>
              <a:buSzPts val="2500"/>
              <a:buFont typeface="Alexandria Medium"/>
              <a:buNone/>
              <a:defRPr b="0" i="0" sz="2500" u="none" cap="none" strike="noStrike">
                <a:solidFill>
                  <a:schemeClr val="dk1"/>
                </a:solidFill>
                <a:latin typeface="Alexandria Medium"/>
                <a:ea typeface="Alexandria Medium"/>
                <a:cs typeface="Alexandria Medium"/>
                <a:sym typeface="Alexandria Medium"/>
              </a:defRPr>
            </a:lvl2pPr>
            <a:lvl3pPr lvl="2" marR="0" rtl="0" algn="l">
              <a:lnSpc>
                <a:spcPct val="100000"/>
              </a:lnSpc>
              <a:spcBef>
                <a:spcPts val="0"/>
              </a:spcBef>
              <a:spcAft>
                <a:spcPts val="0"/>
              </a:spcAft>
              <a:buClr>
                <a:schemeClr val="dk1"/>
              </a:buClr>
              <a:buSzPts val="2500"/>
              <a:buFont typeface="Alexandria Medium"/>
              <a:buNone/>
              <a:defRPr b="0" i="0" sz="2500" u="none" cap="none" strike="noStrike">
                <a:solidFill>
                  <a:schemeClr val="dk1"/>
                </a:solidFill>
                <a:latin typeface="Alexandria Medium"/>
                <a:ea typeface="Alexandria Medium"/>
                <a:cs typeface="Alexandria Medium"/>
                <a:sym typeface="Alexandria Medium"/>
              </a:defRPr>
            </a:lvl3pPr>
            <a:lvl4pPr lvl="3" marR="0" rtl="0" algn="l">
              <a:lnSpc>
                <a:spcPct val="100000"/>
              </a:lnSpc>
              <a:spcBef>
                <a:spcPts val="0"/>
              </a:spcBef>
              <a:spcAft>
                <a:spcPts val="0"/>
              </a:spcAft>
              <a:buClr>
                <a:schemeClr val="dk1"/>
              </a:buClr>
              <a:buSzPts val="2500"/>
              <a:buFont typeface="Alexandria Medium"/>
              <a:buNone/>
              <a:defRPr b="0" i="0" sz="2500" u="none" cap="none" strike="noStrike">
                <a:solidFill>
                  <a:schemeClr val="dk1"/>
                </a:solidFill>
                <a:latin typeface="Alexandria Medium"/>
                <a:ea typeface="Alexandria Medium"/>
                <a:cs typeface="Alexandria Medium"/>
                <a:sym typeface="Alexandria Medium"/>
              </a:defRPr>
            </a:lvl4pPr>
            <a:lvl5pPr lvl="4" marR="0" rtl="0" algn="l">
              <a:lnSpc>
                <a:spcPct val="100000"/>
              </a:lnSpc>
              <a:spcBef>
                <a:spcPts val="0"/>
              </a:spcBef>
              <a:spcAft>
                <a:spcPts val="0"/>
              </a:spcAft>
              <a:buClr>
                <a:schemeClr val="dk1"/>
              </a:buClr>
              <a:buSzPts val="2500"/>
              <a:buFont typeface="Alexandria Medium"/>
              <a:buNone/>
              <a:defRPr b="0" i="0" sz="2500" u="none" cap="none" strike="noStrike">
                <a:solidFill>
                  <a:schemeClr val="dk1"/>
                </a:solidFill>
                <a:latin typeface="Alexandria Medium"/>
                <a:ea typeface="Alexandria Medium"/>
                <a:cs typeface="Alexandria Medium"/>
                <a:sym typeface="Alexandria Medium"/>
              </a:defRPr>
            </a:lvl5pPr>
            <a:lvl6pPr lvl="5" marR="0" rtl="0" algn="l">
              <a:lnSpc>
                <a:spcPct val="100000"/>
              </a:lnSpc>
              <a:spcBef>
                <a:spcPts val="0"/>
              </a:spcBef>
              <a:spcAft>
                <a:spcPts val="0"/>
              </a:spcAft>
              <a:buClr>
                <a:schemeClr val="dk1"/>
              </a:buClr>
              <a:buSzPts val="2500"/>
              <a:buFont typeface="Alexandria Medium"/>
              <a:buNone/>
              <a:defRPr b="0" i="0" sz="2500" u="none" cap="none" strike="noStrike">
                <a:solidFill>
                  <a:schemeClr val="dk1"/>
                </a:solidFill>
                <a:latin typeface="Alexandria Medium"/>
                <a:ea typeface="Alexandria Medium"/>
                <a:cs typeface="Alexandria Medium"/>
                <a:sym typeface="Alexandria Medium"/>
              </a:defRPr>
            </a:lvl6pPr>
            <a:lvl7pPr lvl="6" marR="0" rtl="0" algn="l">
              <a:lnSpc>
                <a:spcPct val="100000"/>
              </a:lnSpc>
              <a:spcBef>
                <a:spcPts val="0"/>
              </a:spcBef>
              <a:spcAft>
                <a:spcPts val="0"/>
              </a:spcAft>
              <a:buClr>
                <a:schemeClr val="dk1"/>
              </a:buClr>
              <a:buSzPts val="2500"/>
              <a:buFont typeface="Alexandria Medium"/>
              <a:buNone/>
              <a:defRPr b="0" i="0" sz="2500" u="none" cap="none" strike="noStrike">
                <a:solidFill>
                  <a:schemeClr val="dk1"/>
                </a:solidFill>
                <a:latin typeface="Alexandria Medium"/>
                <a:ea typeface="Alexandria Medium"/>
                <a:cs typeface="Alexandria Medium"/>
                <a:sym typeface="Alexandria Medium"/>
              </a:defRPr>
            </a:lvl7pPr>
            <a:lvl8pPr lvl="7" marR="0" rtl="0" algn="l">
              <a:lnSpc>
                <a:spcPct val="100000"/>
              </a:lnSpc>
              <a:spcBef>
                <a:spcPts val="0"/>
              </a:spcBef>
              <a:spcAft>
                <a:spcPts val="0"/>
              </a:spcAft>
              <a:buClr>
                <a:schemeClr val="dk1"/>
              </a:buClr>
              <a:buSzPts val="2500"/>
              <a:buFont typeface="Alexandria Medium"/>
              <a:buNone/>
              <a:defRPr b="0" i="0" sz="2500" u="none" cap="none" strike="noStrike">
                <a:solidFill>
                  <a:schemeClr val="dk1"/>
                </a:solidFill>
                <a:latin typeface="Alexandria Medium"/>
                <a:ea typeface="Alexandria Medium"/>
                <a:cs typeface="Alexandria Medium"/>
                <a:sym typeface="Alexandria Medium"/>
              </a:defRPr>
            </a:lvl8pPr>
            <a:lvl9pPr lvl="8" marR="0" rtl="0" algn="l">
              <a:lnSpc>
                <a:spcPct val="100000"/>
              </a:lnSpc>
              <a:spcBef>
                <a:spcPts val="0"/>
              </a:spcBef>
              <a:spcAft>
                <a:spcPts val="0"/>
              </a:spcAft>
              <a:buClr>
                <a:schemeClr val="dk1"/>
              </a:buClr>
              <a:buSzPts val="2500"/>
              <a:buFont typeface="Alexandria Medium"/>
              <a:buNone/>
              <a:defRPr b="0" i="0" sz="2500" u="none" cap="none" strike="noStrike">
                <a:solidFill>
                  <a:schemeClr val="dk1"/>
                </a:solidFill>
                <a:latin typeface="Alexandria Medium"/>
                <a:ea typeface="Alexandria Medium"/>
                <a:cs typeface="Alexandria Medium"/>
                <a:sym typeface="Alexandria Medium"/>
              </a:defRPr>
            </a:lvl9pPr>
          </a:lstStyle>
          <a:p/>
        </p:txBody>
      </p:sp>
      <p:sp>
        <p:nvSpPr>
          <p:cNvPr id="7" name="Google Shape;7;p56"/>
          <p:cNvSpPr txBox="1"/>
          <p:nvPr>
            <p:ph idx="1" type="body"/>
          </p:nvPr>
        </p:nvSpPr>
        <p:spPr>
          <a:xfrm>
            <a:off x="715100" y="1083700"/>
            <a:ext cx="7713900" cy="35247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1pPr>
            <a:lvl2pPr indent="-304800" lvl="1" marL="914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2pPr>
            <a:lvl3pPr indent="-304800" lvl="2" marL="1371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3pPr>
            <a:lvl4pPr indent="-304800" lvl="3" marL="1828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4pPr>
            <a:lvl5pPr indent="-304800" lvl="4" marL="22860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5pPr>
            <a:lvl6pPr indent="-304800" lvl="5" marL="2743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6pPr>
            <a:lvl7pPr indent="-304800" lvl="6" marL="3200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7pPr>
            <a:lvl8pPr indent="-304800" lvl="7" marL="3657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8pPr>
            <a:lvl9pPr indent="-304800" lvl="8" marL="4114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9pPr>
          </a:lstStyle>
          <a:p/>
        </p:txBody>
      </p:sp>
      <p:sp>
        <p:nvSpPr>
          <p:cNvPr id="8" name="Google Shape;8;p5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hyperlink" Target="https://docs.google.com/spreadsheets/d/1BekmD4_mipV7m7xa7ZuT8-LQ7pFOEsgTU_Jbnzlc-Xw/edit?gid=0#gid=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hyperlink" Target="https://gemini.google.com/app/f82afee0ac76d1b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4.png"/><Relationship Id="rId4"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4.png"/><Relationship Id="rId4" Type="http://schemas.openxmlformats.org/officeDocument/2006/relationships/image" Target="../media/image1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4.png"/><Relationship Id="rId4"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4.png"/><Relationship Id="rId4" Type="http://schemas.openxmlformats.org/officeDocument/2006/relationships/image" Target="../media/image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0.xml"/><Relationship Id="rId3" Type="http://schemas.openxmlformats.org/officeDocument/2006/relationships/image" Target="../media/image4.png"/><Relationship Id="rId4" Type="http://schemas.openxmlformats.org/officeDocument/2006/relationships/hyperlink" Target="mailto:maria.perales@opendeusto.es" TargetMode="External"/><Relationship Id="rId5" Type="http://schemas.openxmlformats.org/officeDocument/2006/relationships/hyperlink" Target="mailto:maria.perales@opendeusto.es" TargetMode="External"/><Relationship Id="rId6" Type="http://schemas.openxmlformats.org/officeDocument/2006/relationships/hyperlink" Target="mailto:maria.perales@opendeusto.es"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
          <p:cNvSpPr txBox="1"/>
          <p:nvPr>
            <p:ph type="ctrTitle"/>
          </p:nvPr>
        </p:nvSpPr>
        <p:spPr>
          <a:xfrm>
            <a:off x="1550675" y="1360713"/>
            <a:ext cx="6281100" cy="1729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None/>
            </a:pPr>
            <a:r>
              <a:rPr b="1" lang="en" sz="3100">
                <a:solidFill>
                  <a:srgbClr val="000000"/>
                </a:solidFill>
                <a:latin typeface="Alexandria"/>
                <a:ea typeface="Alexandria"/>
                <a:cs typeface="Alexandria"/>
                <a:sym typeface="Alexandria"/>
              </a:rPr>
              <a:t>Análisis de perfiles y arquetipos: metodología, resultados y continuidad</a:t>
            </a:r>
            <a:endParaRPr b="1" sz="3100">
              <a:solidFill>
                <a:srgbClr val="000000"/>
              </a:solidFill>
              <a:latin typeface="Alexandria"/>
              <a:ea typeface="Alexandria"/>
              <a:cs typeface="Alexandria"/>
              <a:sym typeface="Alexandria"/>
            </a:endParaRPr>
          </a:p>
        </p:txBody>
      </p:sp>
      <p:sp>
        <p:nvSpPr>
          <p:cNvPr id="216" name="Google Shape;216;p1"/>
          <p:cNvSpPr txBox="1"/>
          <p:nvPr/>
        </p:nvSpPr>
        <p:spPr>
          <a:xfrm>
            <a:off x="1651450" y="4096074"/>
            <a:ext cx="59790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15110E"/>
                </a:solidFill>
                <a:latin typeface="Nunito"/>
                <a:ea typeface="Nunito"/>
                <a:cs typeface="Nunito"/>
                <a:sym typeface="Nunito"/>
              </a:rPr>
              <a:t>22</a:t>
            </a:r>
            <a:r>
              <a:rPr b="1" i="0" lang="en" sz="1400" u="none" cap="none" strike="noStrike">
                <a:solidFill>
                  <a:srgbClr val="15110E"/>
                </a:solidFill>
                <a:latin typeface="Nunito"/>
                <a:ea typeface="Nunito"/>
                <a:cs typeface="Nunito"/>
                <a:sym typeface="Nunito"/>
              </a:rPr>
              <a:t>/</a:t>
            </a:r>
            <a:r>
              <a:rPr b="1" lang="en">
                <a:solidFill>
                  <a:srgbClr val="15110E"/>
                </a:solidFill>
                <a:latin typeface="Nunito"/>
                <a:ea typeface="Nunito"/>
                <a:cs typeface="Nunito"/>
                <a:sym typeface="Nunito"/>
              </a:rPr>
              <a:t>09</a:t>
            </a:r>
            <a:r>
              <a:rPr b="1" i="0" lang="en" sz="1400" u="none" cap="none" strike="noStrike">
                <a:solidFill>
                  <a:srgbClr val="15110E"/>
                </a:solidFill>
                <a:latin typeface="Nunito"/>
                <a:ea typeface="Nunito"/>
                <a:cs typeface="Nunito"/>
                <a:sym typeface="Nunito"/>
              </a:rPr>
              <a:t>/2026</a:t>
            </a:r>
            <a:endParaRPr b="0" i="0" sz="1400" u="none" cap="none" strike="noStrike">
              <a:solidFill>
                <a:srgbClr val="15110E"/>
              </a:solidFill>
              <a:latin typeface="Alexandria"/>
              <a:ea typeface="Alexandria"/>
              <a:cs typeface="Alexandria"/>
              <a:sym typeface="Alexandria"/>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334157"/>
              </a:solidFill>
              <a:latin typeface="Alexandria"/>
              <a:ea typeface="Alexandria"/>
              <a:cs typeface="Alexandria"/>
              <a:sym typeface="Alexandria"/>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334157"/>
                </a:solidFill>
                <a:latin typeface="Alexandria"/>
                <a:ea typeface="Alexandria"/>
                <a:cs typeface="Alexandria"/>
                <a:sym typeface="Alexandria"/>
              </a:rPr>
              <a:t>María Perale</a:t>
            </a:r>
            <a:r>
              <a:rPr lang="en" sz="1100">
                <a:solidFill>
                  <a:srgbClr val="334157"/>
                </a:solidFill>
                <a:latin typeface="Alexandria"/>
                <a:ea typeface="Alexandria"/>
                <a:cs typeface="Alexandria"/>
                <a:sym typeface="Alexandria"/>
              </a:rPr>
              <a:t>s</a:t>
            </a:r>
            <a:endParaRPr b="0" i="0" sz="1400" u="none" cap="none" strike="noStrike">
              <a:solidFill>
                <a:srgbClr val="15110E"/>
              </a:solidFill>
              <a:latin typeface="Alexandria"/>
              <a:ea typeface="Alexandria"/>
              <a:cs typeface="Alexandria"/>
              <a:sym typeface="Alexandria"/>
            </a:endParaRPr>
          </a:p>
        </p:txBody>
      </p:sp>
      <p:pic>
        <p:nvPicPr>
          <p:cNvPr id="217" name="Google Shape;217;p1"/>
          <p:cNvPicPr preferRelativeResize="0"/>
          <p:nvPr/>
        </p:nvPicPr>
        <p:blipFill rotWithShape="1">
          <a:blip r:embed="rId3">
            <a:alphaModFix amt="51000"/>
          </a:blip>
          <a:srcRect b="0" l="0" r="0" t="0"/>
          <a:stretch/>
        </p:blipFill>
        <p:spPr>
          <a:xfrm>
            <a:off x="7708700" y="310400"/>
            <a:ext cx="1219200" cy="333375"/>
          </a:xfrm>
          <a:prstGeom prst="rect">
            <a:avLst/>
          </a:prstGeom>
          <a:noFill/>
          <a:ln>
            <a:noFill/>
          </a:ln>
        </p:spPr>
      </p:pic>
      <p:sp>
        <p:nvSpPr>
          <p:cNvPr id="218" name="Google Shape;21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19" name="Google Shape;219;p1"/>
          <p:cNvSpPr txBox="1"/>
          <p:nvPr/>
        </p:nvSpPr>
        <p:spPr>
          <a:xfrm>
            <a:off x="1729700" y="3283449"/>
            <a:ext cx="59790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rgbClr val="15110E"/>
                </a:solidFill>
                <a:latin typeface="Alexandria"/>
                <a:ea typeface="Alexandria"/>
                <a:cs typeface="Alexandria"/>
                <a:sym typeface="Alexandria"/>
              </a:rPr>
              <a:t>Integración de datos Europa–LATAM · Bootstrap · K-means · EFA · Greedy · Comparación con expertos</a:t>
            </a:r>
            <a:endParaRPr i="0" sz="1400" u="none" cap="none" strike="noStrike">
              <a:solidFill>
                <a:srgbClr val="15110E"/>
              </a:solidFill>
              <a:latin typeface="Alexandria"/>
              <a:ea typeface="Alexandria"/>
              <a:cs typeface="Alexandria"/>
              <a:sym typeface="Alexand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
          <p:cNvSpPr txBox="1"/>
          <p:nvPr>
            <p:ph type="title"/>
          </p:nvPr>
        </p:nvSpPr>
        <p:spPr>
          <a:xfrm>
            <a:off x="793866" y="1406525"/>
            <a:ext cx="538500" cy="7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sp>
        <p:nvSpPr>
          <p:cNvPr id="225" name="Google Shape;225;p3"/>
          <p:cNvSpPr txBox="1"/>
          <p:nvPr>
            <p:ph idx="1" type="subTitle"/>
          </p:nvPr>
        </p:nvSpPr>
        <p:spPr>
          <a:xfrm>
            <a:off x="1332300" y="1406525"/>
            <a:ext cx="3296700" cy="73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Contexto y visi</a:t>
            </a:r>
            <a:r>
              <a:rPr lang="en"/>
              <a:t>ón general</a:t>
            </a:r>
            <a:endParaRPr/>
          </a:p>
          <a:p>
            <a:pPr indent="0" lvl="0" marL="0" rtl="0" algn="l">
              <a:lnSpc>
                <a:spcPct val="100000"/>
              </a:lnSpc>
              <a:spcBef>
                <a:spcPts val="0"/>
              </a:spcBef>
              <a:spcAft>
                <a:spcPts val="0"/>
              </a:spcAft>
              <a:buSzPts val="2400"/>
              <a:buNone/>
            </a:pPr>
            <a:r>
              <a:t/>
            </a:r>
            <a:endParaRPr/>
          </a:p>
        </p:txBody>
      </p:sp>
      <p:sp>
        <p:nvSpPr>
          <p:cNvPr id="226" name="Google Shape;226;p3"/>
          <p:cNvSpPr txBox="1"/>
          <p:nvPr>
            <p:ph idx="2"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ÍNDICE</a:t>
            </a:r>
            <a:endParaRPr/>
          </a:p>
        </p:txBody>
      </p:sp>
      <p:sp>
        <p:nvSpPr>
          <p:cNvPr id="227" name="Google Shape;227;p3"/>
          <p:cNvSpPr txBox="1"/>
          <p:nvPr>
            <p:ph idx="3" type="title"/>
          </p:nvPr>
        </p:nvSpPr>
        <p:spPr>
          <a:xfrm>
            <a:off x="793866" y="2211575"/>
            <a:ext cx="538500" cy="7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02</a:t>
            </a:r>
            <a:endParaRPr/>
          </a:p>
        </p:txBody>
      </p:sp>
      <p:sp>
        <p:nvSpPr>
          <p:cNvPr id="228" name="Google Shape;228;p3"/>
          <p:cNvSpPr txBox="1"/>
          <p:nvPr>
            <p:ph idx="4" type="subTitle"/>
          </p:nvPr>
        </p:nvSpPr>
        <p:spPr>
          <a:xfrm>
            <a:off x="1415541" y="2177150"/>
            <a:ext cx="3130200" cy="73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Preparaci</a:t>
            </a:r>
            <a:r>
              <a:rPr lang="en"/>
              <a:t>ón de los datos</a:t>
            </a:r>
            <a:endParaRPr/>
          </a:p>
        </p:txBody>
      </p:sp>
      <p:sp>
        <p:nvSpPr>
          <p:cNvPr id="229" name="Google Shape;229;p3"/>
          <p:cNvSpPr txBox="1"/>
          <p:nvPr>
            <p:ph idx="5" type="title"/>
          </p:nvPr>
        </p:nvSpPr>
        <p:spPr>
          <a:xfrm>
            <a:off x="793866" y="2947775"/>
            <a:ext cx="538500" cy="7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03</a:t>
            </a:r>
            <a:endParaRPr/>
          </a:p>
        </p:txBody>
      </p:sp>
      <p:sp>
        <p:nvSpPr>
          <p:cNvPr id="230" name="Google Shape;230;p3"/>
          <p:cNvSpPr txBox="1"/>
          <p:nvPr>
            <p:ph idx="6" type="subTitle"/>
          </p:nvPr>
        </p:nvSpPr>
        <p:spPr>
          <a:xfrm>
            <a:off x="1332300" y="2947775"/>
            <a:ext cx="3296700" cy="73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Construcci</a:t>
            </a:r>
            <a:r>
              <a:rPr lang="en"/>
              <a:t>ón del bootstrap</a:t>
            </a:r>
            <a:endParaRPr/>
          </a:p>
        </p:txBody>
      </p:sp>
      <p:sp>
        <p:nvSpPr>
          <p:cNvPr id="231" name="Google Shape;231;p3"/>
          <p:cNvSpPr txBox="1"/>
          <p:nvPr>
            <p:ph idx="7" type="title"/>
          </p:nvPr>
        </p:nvSpPr>
        <p:spPr>
          <a:xfrm>
            <a:off x="793866" y="3615125"/>
            <a:ext cx="538500" cy="7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04</a:t>
            </a:r>
            <a:endParaRPr/>
          </a:p>
        </p:txBody>
      </p:sp>
      <p:sp>
        <p:nvSpPr>
          <p:cNvPr id="232" name="Google Shape;232;p3"/>
          <p:cNvSpPr txBox="1"/>
          <p:nvPr>
            <p:ph idx="8" type="subTitle"/>
          </p:nvPr>
        </p:nvSpPr>
        <p:spPr>
          <a:xfrm>
            <a:off x="1332301" y="3615125"/>
            <a:ext cx="3296700" cy="73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Construcción de las matrices</a:t>
            </a:r>
            <a:endParaRPr/>
          </a:p>
        </p:txBody>
      </p:sp>
      <p:sp>
        <p:nvSpPr>
          <p:cNvPr id="233" name="Google Shape;233;p3"/>
          <p:cNvSpPr txBox="1"/>
          <p:nvPr>
            <p:ph idx="9" type="title"/>
          </p:nvPr>
        </p:nvSpPr>
        <p:spPr>
          <a:xfrm>
            <a:off x="5080715" y="1406525"/>
            <a:ext cx="538500" cy="7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05</a:t>
            </a:r>
            <a:endParaRPr/>
          </a:p>
        </p:txBody>
      </p:sp>
      <p:sp>
        <p:nvSpPr>
          <p:cNvPr id="234" name="Google Shape;234;p3"/>
          <p:cNvSpPr txBox="1"/>
          <p:nvPr>
            <p:ph idx="13" type="subTitle"/>
          </p:nvPr>
        </p:nvSpPr>
        <p:spPr>
          <a:xfrm>
            <a:off x="5619216" y="1406525"/>
            <a:ext cx="2730900" cy="73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K-means y EFA</a:t>
            </a:r>
            <a:endParaRPr/>
          </a:p>
        </p:txBody>
      </p:sp>
      <p:sp>
        <p:nvSpPr>
          <p:cNvPr id="235" name="Google Shape;235;p3"/>
          <p:cNvSpPr txBox="1"/>
          <p:nvPr>
            <p:ph idx="14" type="title"/>
          </p:nvPr>
        </p:nvSpPr>
        <p:spPr>
          <a:xfrm>
            <a:off x="5080715" y="2263297"/>
            <a:ext cx="538500" cy="7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06</a:t>
            </a:r>
            <a:endParaRPr/>
          </a:p>
        </p:txBody>
      </p:sp>
      <p:sp>
        <p:nvSpPr>
          <p:cNvPr id="236" name="Google Shape;236;p3"/>
          <p:cNvSpPr txBox="1"/>
          <p:nvPr>
            <p:ph idx="15" type="subTitle"/>
          </p:nvPr>
        </p:nvSpPr>
        <p:spPr>
          <a:xfrm>
            <a:off x="5619216" y="2263300"/>
            <a:ext cx="2730900" cy="73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Greedy y selecci</a:t>
            </a:r>
            <a:r>
              <a:rPr lang="en"/>
              <a:t>ón de prototipos</a:t>
            </a:r>
            <a:endParaRPr/>
          </a:p>
        </p:txBody>
      </p:sp>
      <p:sp>
        <p:nvSpPr>
          <p:cNvPr id="237" name="Google Shape;237;p3"/>
          <p:cNvSpPr txBox="1"/>
          <p:nvPr>
            <p:ph idx="16" type="title"/>
          </p:nvPr>
        </p:nvSpPr>
        <p:spPr>
          <a:xfrm>
            <a:off x="5080715" y="2947753"/>
            <a:ext cx="538500" cy="7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07</a:t>
            </a:r>
            <a:endParaRPr/>
          </a:p>
        </p:txBody>
      </p:sp>
      <p:sp>
        <p:nvSpPr>
          <p:cNvPr id="238" name="Google Shape;238;p3"/>
          <p:cNvSpPr txBox="1"/>
          <p:nvPr>
            <p:ph idx="17" type="subTitle"/>
          </p:nvPr>
        </p:nvSpPr>
        <p:spPr>
          <a:xfrm>
            <a:off x="5619216" y="2947750"/>
            <a:ext cx="2696400" cy="73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Comparaci</a:t>
            </a:r>
            <a:r>
              <a:rPr lang="en"/>
              <a:t>ón e interpretación</a:t>
            </a:r>
            <a:endParaRPr/>
          </a:p>
        </p:txBody>
      </p:sp>
      <p:sp>
        <p:nvSpPr>
          <p:cNvPr id="239" name="Google Shape;239;p3"/>
          <p:cNvSpPr txBox="1"/>
          <p:nvPr>
            <p:ph idx="18" type="title"/>
          </p:nvPr>
        </p:nvSpPr>
        <p:spPr>
          <a:xfrm>
            <a:off x="5080715" y="3615125"/>
            <a:ext cx="538500" cy="7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08</a:t>
            </a:r>
            <a:endParaRPr/>
          </a:p>
        </p:txBody>
      </p:sp>
      <p:sp>
        <p:nvSpPr>
          <p:cNvPr id="240" name="Google Shape;240;p3"/>
          <p:cNvSpPr txBox="1"/>
          <p:nvPr>
            <p:ph idx="19" type="subTitle"/>
          </p:nvPr>
        </p:nvSpPr>
        <p:spPr>
          <a:xfrm>
            <a:off x="5619216" y="3615125"/>
            <a:ext cx="2730900" cy="73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Estado actual y continuidad</a:t>
            </a:r>
            <a:endParaRPr/>
          </a:p>
        </p:txBody>
      </p:sp>
      <p:sp>
        <p:nvSpPr>
          <p:cNvPr id="241" name="Google Shape;241;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42" name="Google Shape;242;p3"/>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412c17598e8_0_536"/>
          <p:cNvSpPr txBox="1"/>
          <p:nvPr>
            <p:ph type="title"/>
          </p:nvPr>
        </p:nvSpPr>
        <p:spPr>
          <a:xfrm>
            <a:off x="498875" y="3328050"/>
            <a:ext cx="8196900" cy="125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4700"/>
              <a:t>Contexto y visión general</a:t>
            </a:r>
            <a:endParaRPr sz="4700"/>
          </a:p>
        </p:txBody>
      </p:sp>
      <p:sp>
        <p:nvSpPr>
          <p:cNvPr id="248" name="Google Shape;248;g412c17598e8_0_536"/>
          <p:cNvSpPr txBox="1"/>
          <p:nvPr>
            <p:ph idx="2" type="title"/>
          </p:nvPr>
        </p:nvSpPr>
        <p:spPr>
          <a:xfrm>
            <a:off x="715100" y="2074250"/>
            <a:ext cx="7708800" cy="125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01</a:t>
            </a:r>
            <a:endParaRPr/>
          </a:p>
        </p:txBody>
      </p:sp>
      <p:sp>
        <p:nvSpPr>
          <p:cNvPr id="249" name="Google Shape;249;g412c17598e8_0_5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50" name="Google Shape;250;g412c17598e8_0_536"/>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e1caf1702d_0_111"/>
          <p:cNvSpPr txBox="1"/>
          <p:nvPr>
            <p:ph idx="1" type="subTitle"/>
          </p:nvPr>
        </p:nvSpPr>
        <p:spPr>
          <a:xfrm>
            <a:off x="894000" y="1565725"/>
            <a:ext cx="7356000" cy="843900"/>
          </a:xfrm>
          <a:prstGeom prst="rect">
            <a:avLst/>
          </a:prstGeom>
          <a:noFill/>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1200"/>
              </a:spcBef>
              <a:spcAft>
                <a:spcPts val="0"/>
              </a:spcAft>
              <a:buSzPts val="1200"/>
              <a:buNone/>
            </a:pPr>
            <a:r>
              <a:rPr lang="en" sz="1400">
                <a:solidFill>
                  <a:srgbClr val="000000"/>
                </a:solidFill>
                <a:latin typeface="Nunito"/>
                <a:ea typeface="Nunito"/>
                <a:cs typeface="Nunito"/>
                <a:sym typeface="Nunito"/>
              </a:rPr>
              <a:t>Identificar y caracterizar perfiles a partir de los determinantes de decisión de distintas encuestas, mediante un proceso reproducible que permita comparar los resultados entre Europa, Latinoamérica y las diferentes fuentes de datos.</a:t>
            </a:r>
            <a:endParaRPr sz="1400">
              <a:latin typeface="Nunito"/>
              <a:ea typeface="Nunito"/>
              <a:cs typeface="Nunito"/>
              <a:sym typeface="Nunito"/>
            </a:endParaRPr>
          </a:p>
        </p:txBody>
      </p:sp>
      <p:sp>
        <p:nvSpPr>
          <p:cNvPr id="256" name="Google Shape;256;g3e1caf1702d_0_111"/>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Objetivo del an</a:t>
            </a:r>
            <a:r>
              <a:rPr lang="en"/>
              <a:t>álisis</a:t>
            </a:r>
            <a:endParaRPr/>
          </a:p>
        </p:txBody>
      </p:sp>
      <p:sp>
        <p:nvSpPr>
          <p:cNvPr id="257" name="Google Shape;257;g3e1caf1702d_0_11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58" name="Google Shape;258;g3e1caf1702d_0_111"/>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259" name="Google Shape;259;g3e1caf1702d_0_111"/>
          <p:cNvSpPr txBox="1"/>
          <p:nvPr>
            <p:ph idx="1" type="subTitle"/>
          </p:nvPr>
        </p:nvSpPr>
        <p:spPr>
          <a:xfrm>
            <a:off x="1340938" y="2702825"/>
            <a:ext cx="2495100" cy="632100"/>
          </a:xfrm>
          <a:prstGeom prst="rect">
            <a:avLst/>
          </a:prstGeom>
          <a:noFill/>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1200"/>
              </a:spcBef>
              <a:spcAft>
                <a:spcPts val="0"/>
              </a:spcAft>
              <a:buSzPts val="1200"/>
              <a:buNone/>
            </a:pPr>
            <a:r>
              <a:rPr lang="en" sz="1400">
                <a:solidFill>
                  <a:srgbClr val="000000"/>
                </a:solidFill>
                <a:latin typeface="Nunito"/>
                <a:ea typeface="Nunito"/>
                <a:cs typeface="Nunito"/>
                <a:sym typeface="Nunito"/>
              </a:rPr>
              <a:t>1. </a:t>
            </a:r>
            <a:r>
              <a:rPr lang="en" sz="1400">
                <a:solidFill>
                  <a:srgbClr val="000000"/>
                </a:solidFill>
                <a:latin typeface="Nunito"/>
                <a:ea typeface="Nunito"/>
                <a:cs typeface="Nunito"/>
                <a:sym typeface="Nunito"/>
              </a:rPr>
              <a:t>Integrar y preparar los datos</a:t>
            </a:r>
            <a:endParaRPr sz="1400">
              <a:latin typeface="Nunito"/>
              <a:ea typeface="Nunito"/>
              <a:cs typeface="Nunito"/>
              <a:sym typeface="Nunito"/>
            </a:endParaRPr>
          </a:p>
        </p:txBody>
      </p:sp>
      <p:sp>
        <p:nvSpPr>
          <p:cNvPr id="260" name="Google Shape;260;g3e1caf1702d_0_111"/>
          <p:cNvSpPr txBox="1"/>
          <p:nvPr>
            <p:ph idx="1" type="subTitle"/>
          </p:nvPr>
        </p:nvSpPr>
        <p:spPr>
          <a:xfrm>
            <a:off x="5307963" y="2702825"/>
            <a:ext cx="2495100" cy="632100"/>
          </a:xfrm>
          <a:prstGeom prst="rect">
            <a:avLst/>
          </a:prstGeom>
          <a:noFill/>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0000"/>
              </a:lnSpc>
              <a:spcBef>
                <a:spcPts val="1200"/>
              </a:spcBef>
              <a:spcAft>
                <a:spcPts val="0"/>
              </a:spcAft>
              <a:buSzPts val="1200"/>
              <a:buNone/>
            </a:pPr>
            <a:r>
              <a:rPr lang="en" sz="1400">
                <a:solidFill>
                  <a:srgbClr val="000000"/>
                </a:solidFill>
                <a:latin typeface="Nunito"/>
                <a:ea typeface="Nunito"/>
                <a:cs typeface="Nunito"/>
                <a:sym typeface="Nunito"/>
              </a:rPr>
              <a:t>2. Identificar estructuras en los datos</a:t>
            </a:r>
            <a:endParaRPr sz="1400">
              <a:latin typeface="Nunito"/>
              <a:ea typeface="Nunito"/>
              <a:cs typeface="Nunito"/>
              <a:sym typeface="Nunito"/>
            </a:endParaRPr>
          </a:p>
        </p:txBody>
      </p:sp>
      <p:sp>
        <p:nvSpPr>
          <p:cNvPr id="261" name="Google Shape;261;g3e1caf1702d_0_111"/>
          <p:cNvSpPr txBox="1"/>
          <p:nvPr>
            <p:ph idx="1" type="subTitle"/>
          </p:nvPr>
        </p:nvSpPr>
        <p:spPr>
          <a:xfrm>
            <a:off x="1340938" y="3548700"/>
            <a:ext cx="2495100" cy="632100"/>
          </a:xfrm>
          <a:prstGeom prst="rect">
            <a:avLst/>
          </a:prstGeom>
          <a:noFill/>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0000"/>
              </a:lnSpc>
              <a:spcBef>
                <a:spcPts val="1200"/>
              </a:spcBef>
              <a:spcAft>
                <a:spcPts val="0"/>
              </a:spcAft>
              <a:buSzPts val="1200"/>
              <a:buNone/>
            </a:pPr>
            <a:r>
              <a:rPr lang="en" sz="1400">
                <a:solidFill>
                  <a:srgbClr val="000000"/>
                </a:solidFill>
                <a:latin typeface="Nunito"/>
                <a:ea typeface="Nunito"/>
                <a:cs typeface="Nunito"/>
                <a:sym typeface="Nunito"/>
              </a:rPr>
              <a:t>3. Obtener prototipos representativos</a:t>
            </a:r>
            <a:endParaRPr sz="1400">
              <a:latin typeface="Nunito"/>
              <a:ea typeface="Nunito"/>
              <a:cs typeface="Nunito"/>
              <a:sym typeface="Nunito"/>
            </a:endParaRPr>
          </a:p>
        </p:txBody>
      </p:sp>
      <p:sp>
        <p:nvSpPr>
          <p:cNvPr id="262" name="Google Shape;262;g3e1caf1702d_0_111"/>
          <p:cNvSpPr txBox="1"/>
          <p:nvPr>
            <p:ph idx="1" type="subTitle"/>
          </p:nvPr>
        </p:nvSpPr>
        <p:spPr>
          <a:xfrm>
            <a:off x="5307963" y="3548700"/>
            <a:ext cx="2495100" cy="632100"/>
          </a:xfrm>
          <a:prstGeom prst="rect">
            <a:avLst/>
          </a:prstGeom>
          <a:noFill/>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1200"/>
              </a:spcBef>
              <a:spcAft>
                <a:spcPts val="0"/>
              </a:spcAft>
              <a:buSzPts val="1200"/>
              <a:buNone/>
            </a:pPr>
            <a:r>
              <a:rPr lang="en" sz="1400">
                <a:solidFill>
                  <a:srgbClr val="000000"/>
                </a:solidFill>
                <a:latin typeface="Nunito"/>
                <a:ea typeface="Nunito"/>
                <a:cs typeface="Nunito"/>
                <a:sym typeface="Nunito"/>
              </a:rPr>
              <a:t>4. Comparar y caracterizar los resultados</a:t>
            </a:r>
            <a:endParaRPr sz="1400">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412c17598e8_0_1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68" name="Google Shape;268;g412c17598e8_0_11"/>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269" name="Google Shape;269;g412c17598e8_0_11" title="ChatGPT Image 19 sept 2026, 11_52_55.png"/>
          <p:cNvPicPr preferRelativeResize="0"/>
          <p:nvPr/>
        </p:nvPicPr>
        <p:blipFill>
          <a:blip r:embed="rId4">
            <a:alphaModFix/>
          </a:blip>
          <a:stretch>
            <a:fillRect/>
          </a:stretch>
        </p:blipFill>
        <p:spPr>
          <a:xfrm>
            <a:off x="425250" y="237962"/>
            <a:ext cx="8293505" cy="4667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412c17598e8_0_550"/>
          <p:cNvSpPr txBox="1"/>
          <p:nvPr>
            <p:ph type="title"/>
          </p:nvPr>
        </p:nvSpPr>
        <p:spPr>
          <a:xfrm>
            <a:off x="498875" y="3328050"/>
            <a:ext cx="8196900" cy="125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4700"/>
              <a:t>Preparación de los datos</a:t>
            </a:r>
            <a:endParaRPr sz="4700"/>
          </a:p>
        </p:txBody>
      </p:sp>
      <p:sp>
        <p:nvSpPr>
          <p:cNvPr id="275" name="Google Shape;275;g412c17598e8_0_550"/>
          <p:cNvSpPr txBox="1"/>
          <p:nvPr>
            <p:ph idx="2" type="title"/>
          </p:nvPr>
        </p:nvSpPr>
        <p:spPr>
          <a:xfrm>
            <a:off x="715100" y="2074250"/>
            <a:ext cx="7708800" cy="125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02</a:t>
            </a:r>
            <a:endParaRPr/>
          </a:p>
        </p:txBody>
      </p:sp>
      <p:sp>
        <p:nvSpPr>
          <p:cNvPr id="276" name="Google Shape;276;g412c17598e8_0_55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77" name="Google Shape;277;g412c17598e8_0_550"/>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412c17598e8_0_19"/>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Fuentes de datos y composición de la muestra inicial</a:t>
            </a:r>
            <a:endParaRPr/>
          </a:p>
        </p:txBody>
      </p:sp>
      <p:sp>
        <p:nvSpPr>
          <p:cNvPr id="283" name="Google Shape;283;g412c17598e8_0_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84" name="Google Shape;284;g412c17598e8_0_19"/>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285" name="Google Shape;285;g412c17598e8_0_19"/>
          <p:cNvGraphicFramePr/>
          <p:nvPr/>
        </p:nvGraphicFramePr>
        <p:xfrm>
          <a:off x="1220975" y="1935263"/>
          <a:ext cx="3000000" cy="3000000"/>
        </p:xfrm>
        <a:graphic>
          <a:graphicData uri="http://schemas.openxmlformats.org/drawingml/2006/table">
            <a:tbl>
              <a:tblPr>
                <a:noFill/>
                <a:tableStyleId>{8E66463A-8B2B-4F57-90C8-EE86B05AE81C}</a:tableStyleId>
              </a:tblPr>
              <a:tblGrid>
                <a:gridCol w="3351025"/>
                <a:gridCol w="3351025"/>
              </a:tblGrid>
              <a:tr h="276350">
                <a:tc>
                  <a:txBody>
                    <a:bodyPr/>
                    <a:lstStyle/>
                    <a:p>
                      <a:pPr indent="0" lvl="0" marL="0" marR="0" rtl="0" algn="ctr">
                        <a:lnSpc>
                          <a:spcPct val="100000"/>
                        </a:lnSpc>
                        <a:spcBef>
                          <a:spcPts val="0"/>
                        </a:spcBef>
                        <a:spcAft>
                          <a:spcPts val="0"/>
                        </a:spcAft>
                        <a:buClr>
                          <a:srgbClr val="000000"/>
                        </a:buClr>
                        <a:buSzPts val="1400"/>
                        <a:buFont typeface="Arial"/>
                        <a:buNone/>
                      </a:pPr>
                      <a:r>
                        <a:rPr b="1" lang="en">
                          <a:solidFill>
                            <a:schemeClr val="lt1"/>
                          </a:solidFill>
                          <a:latin typeface="Nunito"/>
                          <a:ea typeface="Nunito"/>
                          <a:cs typeface="Nunito"/>
                          <a:sym typeface="Nunito"/>
                        </a:rPr>
                        <a:t>Fuente</a:t>
                      </a:r>
                      <a:endParaRPr b="1" sz="1400" u="none" cap="none" strike="noStrike">
                        <a:solidFill>
                          <a:schemeClr val="lt1"/>
                        </a:solidFill>
                        <a:latin typeface="Nunito"/>
                        <a:ea typeface="Nunito"/>
                        <a:cs typeface="Nunito"/>
                        <a:sym typeface="Nunito"/>
                      </a:endParaRPr>
                    </a:p>
                  </a:txBody>
                  <a:tcPr marT="91425" marB="91425" marR="91425" marL="91425">
                    <a:solidFill>
                      <a:schemeClr val="lt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a:solidFill>
                            <a:schemeClr val="lt1"/>
                          </a:solidFill>
                          <a:latin typeface="Nunito"/>
                          <a:ea typeface="Nunito"/>
                          <a:cs typeface="Nunito"/>
                          <a:sym typeface="Nunito"/>
                        </a:rPr>
                        <a:t>Participantes</a:t>
                      </a:r>
                      <a:endParaRPr b="1" sz="1400" u="none" cap="none" strike="noStrike">
                        <a:solidFill>
                          <a:schemeClr val="lt1"/>
                        </a:solidFill>
                        <a:latin typeface="Nunito"/>
                        <a:ea typeface="Nunito"/>
                        <a:cs typeface="Nunito"/>
                        <a:sym typeface="Nunito"/>
                      </a:endParaRPr>
                    </a:p>
                  </a:txBody>
                  <a:tcPr marT="91425" marB="91425" marR="91425" marL="91425">
                    <a:solidFill>
                      <a:schemeClr val="lt2"/>
                    </a:solidFill>
                  </a:tcPr>
                </a:tc>
              </a:tr>
              <a:tr h="413900">
                <a:tc>
                  <a:txBody>
                    <a:bodyPr/>
                    <a:lstStyle/>
                    <a:p>
                      <a:pPr indent="0" lvl="0" marL="0" marR="0" rtl="0" algn="ctr">
                        <a:lnSpc>
                          <a:spcPct val="100000"/>
                        </a:lnSpc>
                        <a:spcBef>
                          <a:spcPts val="0"/>
                        </a:spcBef>
                        <a:spcAft>
                          <a:spcPts val="0"/>
                        </a:spcAft>
                        <a:buClr>
                          <a:srgbClr val="000000"/>
                        </a:buClr>
                        <a:buSzPts val="1400"/>
                        <a:buFont typeface="Arial"/>
                        <a:buNone/>
                      </a:pPr>
                      <a:r>
                        <a:rPr b="1" lang="en">
                          <a:latin typeface="Nunito"/>
                          <a:ea typeface="Nunito"/>
                          <a:cs typeface="Nunito"/>
                          <a:sym typeface="Nunito"/>
                        </a:rPr>
                        <a:t>DIEGO</a:t>
                      </a:r>
                      <a:endParaRPr b="1"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Nunito"/>
                          <a:ea typeface="Nunito"/>
                          <a:cs typeface="Nunito"/>
                          <a:sym typeface="Nunito"/>
                        </a:rPr>
                        <a:t>1.899</a:t>
                      </a:r>
                      <a:endParaRPr sz="1400" u="none" cap="none" strike="noStrike">
                        <a:latin typeface="Nunito"/>
                        <a:ea typeface="Nunito"/>
                        <a:cs typeface="Nunito"/>
                        <a:sym typeface="Nunito"/>
                      </a:endParaRPr>
                    </a:p>
                  </a:txBody>
                  <a:tcPr marT="91425" marB="91425" marR="91425" marL="91425"/>
                </a:tc>
              </a:tr>
              <a:tr h="393750">
                <a:tc>
                  <a:txBody>
                    <a:bodyPr/>
                    <a:lstStyle/>
                    <a:p>
                      <a:pPr indent="0" lvl="0" marL="0" marR="0" rtl="0" algn="ctr">
                        <a:lnSpc>
                          <a:spcPct val="100000"/>
                        </a:lnSpc>
                        <a:spcBef>
                          <a:spcPts val="0"/>
                        </a:spcBef>
                        <a:spcAft>
                          <a:spcPts val="0"/>
                        </a:spcAft>
                        <a:buClr>
                          <a:srgbClr val="000000"/>
                        </a:buClr>
                        <a:buSzPts val="1400"/>
                        <a:buFont typeface="Arial"/>
                        <a:buNone/>
                      </a:pPr>
                      <a:r>
                        <a:rPr b="1" lang="en">
                          <a:latin typeface="Nunito"/>
                          <a:ea typeface="Nunito"/>
                          <a:cs typeface="Nunito"/>
                          <a:sym typeface="Nunito"/>
                        </a:rPr>
                        <a:t>RENOVISOR</a:t>
                      </a:r>
                      <a:endParaRPr b="1"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Nunito"/>
                          <a:ea typeface="Nunito"/>
                          <a:cs typeface="Nunito"/>
                          <a:sym typeface="Nunito"/>
                        </a:rPr>
                        <a:t>1.229</a:t>
                      </a:r>
                      <a:endParaRPr sz="1400" u="none" cap="none" strike="noStrike">
                        <a:latin typeface="Nunito"/>
                        <a:ea typeface="Nunito"/>
                        <a:cs typeface="Nunito"/>
                        <a:sym typeface="Nunito"/>
                      </a:endParaRPr>
                    </a:p>
                  </a:txBody>
                  <a:tcPr marT="91425" marB="91425" marR="91425" marL="91425"/>
                </a:tc>
              </a:tr>
              <a:tr h="363550">
                <a:tc>
                  <a:txBody>
                    <a:bodyPr/>
                    <a:lstStyle/>
                    <a:p>
                      <a:pPr indent="0" lvl="0" marL="0" marR="0" rtl="0" algn="ctr">
                        <a:lnSpc>
                          <a:spcPct val="100000"/>
                        </a:lnSpc>
                        <a:spcBef>
                          <a:spcPts val="0"/>
                        </a:spcBef>
                        <a:spcAft>
                          <a:spcPts val="0"/>
                        </a:spcAft>
                        <a:buClr>
                          <a:srgbClr val="000000"/>
                        </a:buClr>
                        <a:buSzPts val="1400"/>
                        <a:buFont typeface="Arial"/>
                        <a:buNone/>
                      </a:pPr>
                      <a:r>
                        <a:rPr b="1" lang="en">
                          <a:latin typeface="Nunito"/>
                          <a:ea typeface="Nunito"/>
                          <a:cs typeface="Nunito"/>
                          <a:sym typeface="Nunito"/>
                        </a:rPr>
                        <a:t>WHY_EUROPE</a:t>
                      </a:r>
                      <a:endParaRPr b="1"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Nunito"/>
                          <a:ea typeface="Nunito"/>
                          <a:cs typeface="Nunito"/>
                          <a:sym typeface="Nunito"/>
                        </a:rPr>
                        <a:t>990</a:t>
                      </a:r>
                      <a:endParaRPr sz="1400" u="none" cap="none" strike="noStrike">
                        <a:latin typeface="Nunito"/>
                        <a:ea typeface="Nunito"/>
                        <a:cs typeface="Nunito"/>
                        <a:sym typeface="Nunito"/>
                      </a:endParaRPr>
                    </a:p>
                  </a:txBody>
                  <a:tcPr marT="91425" marB="91425" marR="91425" marL="91425"/>
                </a:tc>
              </a:tr>
              <a:tr h="403825">
                <a:tc>
                  <a:txBody>
                    <a:bodyPr/>
                    <a:lstStyle/>
                    <a:p>
                      <a:pPr indent="0" lvl="0" marL="0" marR="0" rtl="0" algn="ctr">
                        <a:lnSpc>
                          <a:spcPct val="100000"/>
                        </a:lnSpc>
                        <a:spcBef>
                          <a:spcPts val="0"/>
                        </a:spcBef>
                        <a:spcAft>
                          <a:spcPts val="0"/>
                        </a:spcAft>
                        <a:buNone/>
                      </a:pPr>
                      <a:r>
                        <a:rPr b="1" lang="en">
                          <a:latin typeface="Nunito"/>
                          <a:ea typeface="Nunito"/>
                          <a:cs typeface="Nunito"/>
                          <a:sym typeface="Nunito"/>
                        </a:rPr>
                        <a:t>WHY_LATAM</a:t>
                      </a:r>
                      <a:endParaRPr b="1">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None/>
                      </a:pPr>
                      <a:r>
                        <a:rPr lang="en">
                          <a:latin typeface="Nunito"/>
                          <a:ea typeface="Nunito"/>
                          <a:cs typeface="Nunito"/>
                          <a:sym typeface="Nunito"/>
                        </a:rPr>
                        <a:t>638</a:t>
                      </a:r>
                      <a:endParaRPr>
                        <a:latin typeface="Nunito"/>
                        <a:ea typeface="Nunito"/>
                        <a:cs typeface="Nunito"/>
                        <a:sym typeface="Nunito"/>
                      </a:endParaRPr>
                    </a:p>
                  </a:txBody>
                  <a:tcPr marT="91425" marB="91425" marR="91425" marL="91425"/>
                </a:tc>
              </a:tr>
              <a:tr h="363550">
                <a:tc>
                  <a:txBody>
                    <a:bodyPr/>
                    <a:lstStyle/>
                    <a:p>
                      <a:pPr indent="0" lvl="0" marL="0" marR="0" rtl="0" algn="ctr">
                        <a:lnSpc>
                          <a:spcPct val="100000"/>
                        </a:lnSpc>
                        <a:spcBef>
                          <a:spcPts val="0"/>
                        </a:spcBef>
                        <a:spcAft>
                          <a:spcPts val="0"/>
                        </a:spcAft>
                        <a:buNone/>
                      </a:pPr>
                      <a:r>
                        <a:rPr b="1" lang="en">
                          <a:latin typeface="Nunito"/>
                          <a:ea typeface="Nunito"/>
                          <a:cs typeface="Nunito"/>
                          <a:sym typeface="Nunito"/>
                        </a:rPr>
                        <a:t>TOTAL</a:t>
                      </a:r>
                      <a:endParaRPr b="1">
                        <a:latin typeface="Nunito"/>
                        <a:ea typeface="Nunito"/>
                        <a:cs typeface="Nunito"/>
                        <a:sym typeface="Nunito"/>
                      </a:endParaRPr>
                    </a:p>
                  </a:txBody>
                  <a:tcPr marT="91425" marB="91425" marR="91425" marL="91425">
                    <a:solidFill>
                      <a:schemeClr val="dk2"/>
                    </a:solidFill>
                  </a:tcPr>
                </a:tc>
                <a:tc>
                  <a:txBody>
                    <a:bodyPr/>
                    <a:lstStyle/>
                    <a:p>
                      <a:pPr indent="0" lvl="0" marL="0" marR="0" rtl="0" algn="ctr">
                        <a:lnSpc>
                          <a:spcPct val="100000"/>
                        </a:lnSpc>
                        <a:spcBef>
                          <a:spcPts val="0"/>
                        </a:spcBef>
                        <a:spcAft>
                          <a:spcPts val="0"/>
                        </a:spcAft>
                        <a:buNone/>
                      </a:pPr>
                      <a:r>
                        <a:rPr b="1" lang="en">
                          <a:latin typeface="Nunito"/>
                          <a:ea typeface="Nunito"/>
                          <a:cs typeface="Nunito"/>
                          <a:sym typeface="Nunito"/>
                        </a:rPr>
                        <a:t>4.756</a:t>
                      </a:r>
                      <a:endParaRPr b="1">
                        <a:latin typeface="Nunito"/>
                        <a:ea typeface="Nunito"/>
                        <a:cs typeface="Nunito"/>
                        <a:sym typeface="Nunito"/>
                      </a:endParaRPr>
                    </a:p>
                  </a:txBody>
                  <a:tcPr marT="91425" marB="91425" marR="91425" marL="91425">
                    <a:solidFill>
                      <a:schemeClr val="dk2"/>
                    </a:solidFill>
                  </a:tcPr>
                </a:tc>
              </a:tr>
            </a:tbl>
          </a:graphicData>
        </a:graphic>
      </p:graphicFrame>
      <p:sp>
        <p:nvSpPr>
          <p:cNvPr id="286" name="Google Shape;286;g412c17598e8_0_19"/>
          <p:cNvSpPr txBox="1"/>
          <p:nvPr/>
        </p:nvSpPr>
        <p:spPr>
          <a:xfrm>
            <a:off x="278625" y="3269550"/>
            <a:ext cx="69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Nunito"/>
                <a:ea typeface="Nunito"/>
                <a:cs typeface="Nunito"/>
                <a:sym typeface="Nunito"/>
              </a:rPr>
              <a:t>WHY</a:t>
            </a:r>
            <a:endParaRPr/>
          </a:p>
        </p:txBody>
      </p:sp>
      <p:cxnSp>
        <p:nvCxnSpPr>
          <p:cNvPr id="287" name="Google Shape;287;g412c17598e8_0_19"/>
          <p:cNvCxnSpPr>
            <a:stCxn id="286" idx="3"/>
          </p:cNvCxnSpPr>
          <p:nvPr/>
        </p:nvCxnSpPr>
        <p:spPr>
          <a:xfrm flipH="1" rot="10800000">
            <a:off x="973425" y="3279750"/>
            <a:ext cx="624300" cy="189900"/>
          </a:xfrm>
          <a:prstGeom prst="straightConnector1">
            <a:avLst/>
          </a:prstGeom>
          <a:noFill/>
          <a:ln cap="flat" cmpd="sng" w="19050">
            <a:solidFill>
              <a:schemeClr val="lt2"/>
            </a:solidFill>
            <a:prstDash val="solid"/>
            <a:round/>
            <a:headEnd len="med" w="med" type="none"/>
            <a:tailEnd len="med" w="med" type="triangle"/>
          </a:ln>
        </p:spPr>
      </p:cxnSp>
      <p:cxnSp>
        <p:nvCxnSpPr>
          <p:cNvPr id="288" name="Google Shape;288;g412c17598e8_0_19"/>
          <p:cNvCxnSpPr/>
          <p:nvPr/>
        </p:nvCxnSpPr>
        <p:spPr>
          <a:xfrm>
            <a:off x="973425" y="3469650"/>
            <a:ext cx="634500" cy="303300"/>
          </a:xfrm>
          <a:prstGeom prst="straightConnector1">
            <a:avLst/>
          </a:prstGeom>
          <a:noFill/>
          <a:ln cap="flat" cmpd="sng" w="19050">
            <a:solidFill>
              <a:schemeClr val="lt2"/>
            </a:solidFill>
            <a:prstDash val="solid"/>
            <a:round/>
            <a:headEnd len="med" w="med" type="none"/>
            <a:tailEnd len="med" w="med" type="triangle"/>
          </a:ln>
        </p:spPr>
      </p:cxnSp>
      <p:sp>
        <p:nvSpPr>
          <p:cNvPr id="289" name="Google Shape;289;g412c17598e8_0_19"/>
          <p:cNvSpPr txBox="1"/>
          <p:nvPr/>
        </p:nvSpPr>
        <p:spPr>
          <a:xfrm>
            <a:off x="2734050" y="4530875"/>
            <a:ext cx="3675900" cy="470700"/>
          </a:xfrm>
          <a:prstGeom prst="rect">
            <a:avLst/>
          </a:prstGeom>
          <a:noFill/>
          <a:ln>
            <a:noFill/>
          </a:ln>
        </p:spPr>
        <p:txBody>
          <a:bodyPr anchorCtr="0" anchor="t" bIns="91425" lIns="91425" spcFirstLastPara="1" rIns="91425" wrap="square" tIns="91425">
            <a:noAutofit/>
          </a:bodyPr>
          <a:lstStyle/>
          <a:p>
            <a:pPr indent="0" lvl="0" marL="0" marR="381000" rtl="0" algn="ctr">
              <a:lnSpc>
                <a:spcPct val="100000"/>
              </a:lnSpc>
              <a:spcBef>
                <a:spcPts val="0"/>
              </a:spcBef>
              <a:spcAft>
                <a:spcPts val="0"/>
              </a:spcAft>
              <a:buNone/>
            </a:pPr>
            <a:r>
              <a:rPr lang="en" sz="1100">
                <a:solidFill>
                  <a:schemeClr val="dk1"/>
                </a:solidFill>
                <a:latin typeface="Nunito"/>
                <a:ea typeface="Nunito"/>
                <a:cs typeface="Nunito"/>
                <a:sym typeface="Nunito"/>
              </a:rPr>
              <a:t>Script: 01_mergeData.R</a:t>
            </a:r>
            <a:endParaRPr sz="1100">
              <a:solidFill>
                <a:schemeClr val="dk1"/>
              </a:solidFill>
              <a:latin typeface="Nunito"/>
              <a:ea typeface="Nunito"/>
              <a:cs typeface="Nunito"/>
              <a:sym typeface="Nunito"/>
            </a:endParaRPr>
          </a:p>
          <a:p>
            <a:pPr indent="0" lvl="0" marL="0" marR="381000" rtl="0" algn="ctr">
              <a:lnSpc>
                <a:spcPct val="100000"/>
              </a:lnSpc>
              <a:spcBef>
                <a:spcPts val="0"/>
              </a:spcBef>
              <a:spcAft>
                <a:spcPts val="0"/>
              </a:spcAft>
              <a:buClr>
                <a:srgbClr val="000000"/>
              </a:buClr>
              <a:buSzPts val="1400"/>
              <a:buFont typeface="Arial"/>
              <a:buNone/>
            </a:pPr>
            <a:r>
              <a:rPr lang="en" sz="1100">
                <a:solidFill>
                  <a:schemeClr val="dk1"/>
                </a:solidFill>
                <a:latin typeface="Nunito"/>
                <a:ea typeface="Nunito"/>
                <a:cs typeface="Nunito"/>
                <a:sym typeface="Nunito"/>
              </a:rPr>
              <a:t>Salida principal: all_sources_integrated.csv</a:t>
            </a:r>
            <a:endParaRPr sz="1100">
              <a:solidFill>
                <a:schemeClr val="dk1"/>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412c17598e8_0_27"/>
          <p:cNvSpPr txBox="1"/>
          <p:nvPr>
            <p:ph idx="1" type="subTitle"/>
          </p:nvPr>
        </p:nvSpPr>
        <p:spPr>
          <a:xfrm>
            <a:off x="4509775" y="1502263"/>
            <a:ext cx="4047000" cy="2478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Font typeface="Nunito"/>
              <a:buChar char="●"/>
            </a:pPr>
            <a:r>
              <a:rPr b="1" lang="en" sz="1400">
                <a:latin typeface="Nunito"/>
                <a:ea typeface="Nunito"/>
                <a:cs typeface="Nunito"/>
                <a:sym typeface="Nunito"/>
              </a:rPr>
              <a:t>Integra las fuentes:</a:t>
            </a:r>
            <a:r>
              <a:rPr lang="en" sz="1400">
                <a:latin typeface="Nunito"/>
                <a:ea typeface="Nunito"/>
                <a:cs typeface="Nunito"/>
                <a:sym typeface="Nunito"/>
              </a:rPr>
              <a:t> reúne los registros en una única base de datos.</a:t>
            </a:r>
            <a:endParaRPr sz="1400">
              <a:latin typeface="Nunito"/>
              <a:ea typeface="Nunito"/>
              <a:cs typeface="Nunito"/>
              <a:sym typeface="Nunito"/>
            </a:endParaRPr>
          </a:p>
          <a:p>
            <a:pPr indent="-317500" lvl="0" marL="457200" rtl="0" algn="l">
              <a:lnSpc>
                <a:spcPct val="115000"/>
              </a:lnSpc>
              <a:spcBef>
                <a:spcPts val="0"/>
              </a:spcBef>
              <a:spcAft>
                <a:spcPts val="0"/>
              </a:spcAft>
              <a:buClr>
                <a:schemeClr val="dk1"/>
              </a:buClr>
              <a:buSzPts val="1400"/>
              <a:buFont typeface="Arial"/>
              <a:buChar char="●"/>
            </a:pPr>
            <a:r>
              <a:rPr b="1" lang="en" sz="1400">
                <a:latin typeface="Nunito"/>
                <a:ea typeface="Nunito"/>
                <a:cs typeface="Nunito"/>
                <a:sym typeface="Nunito"/>
              </a:rPr>
              <a:t>Establece identificadores comunes:</a:t>
            </a:r>
            <a:r>
              <a:rPr lang="en" sz="1400">
                <a:latin typeface="Nunito"/>
                <a:ea typeface="Nunito"/>
                <a:cs typeface="Nunito"/>
                <a:sym typeface="Nunito"/>
              </a:rPr>
              <a:t> permite distinguir cada registro y relacionarlo con su fuente original. Entre las variables que conviene destacar está </a:t>
            </a:r>
            <a:r>
              <a:rPr lang="en" sz="1400" u="sng">
                <a:latin typeface="Nunito"/>
                <a:ea typeface="Nunito"/>
                <a:cs typeface="Nunito"/>
                <a:sym typeface="Nunito"/>
              </a:rPr>
              <a:t>integrated_row_id</a:t>
            </a:r>
            <a:r>
              <a:rPr lang="en" sz="1400">
                <a:latin typeface="Nunito"/>
                <a:ea typeface="Nunito"/>
                <a:cs typeface="Nunito"/>
                <a:sym typeface="Nunito"/>
              </a:rPr>
              <a:t>, utilizada posteriormente para localizar los participantes en las matrices y en los índices bootstrap.</a:t>
            </a:r>
            <a:endParaRPr sz="1400">
              <a:latin typeface="Nunito"/>
              <a:ea typeface="Nunito"/>
              <a:cs typeface="Nunito"/>
              <a:sym typeface="Nunito"/>
            </a:endParaRPr>
          </a:p>
          <a:p>
            <a:pPr indent="-317500" lvl="0" marL="457200" rtl="0" algn="l">
              <a:lnSpc>
                <a:spcPct val="115000"/>
              </a:lnSpc>
              <a:spcBef>
                <a:spcPts val="0"/>
              </a:spcBef>
              <a:spcAft>
                <a:spcPts val="0"/>
              </a:spcAft>
              <a:buClr>
                <a:schemeClr val="dk1"/>
              </a:buClr>
              <a:buSzPts val="1400"/>
              <a:buFont typeface="Nunito"/>
              <a:buChar char="●"/>
            </a:pPr>
            <a:r>
              <a:rPr lang="en" sz="1400">
                <a:latin typeface="Nunito"/>
                <a:ea typeface="Nunito"/>
                <a:cs typeface="Nunito"/>
                <a:sym typeface="Nunito"/>
              </a:rPr>
              <a:t>Genera </a:t>
            </a:r>
            <a:r>
              <a:rPr b="1" lang="en" sz="1400">
                <a:latin typeface="Nunito"/>
                <a:ea typeface="Nunito"/>
                <a:cs typeface="Nunito"/>
                <a:sym typeface="Nunito"/>
              </a:rPr>
              <a:t>all_sources_integrated.csv.</a:t>
            </a:r>
            <a:endParaRPr b="1" sz="1400">
              <a:latin typeface="Nunito"/>
              <a:ea typeface="Nunito"/>
              <a:cs typeface="Nunito"/>
              <a:sym typeface="Nunito"/>
            </a:endParaRPr>
          </a:p>
        </p:txBody>
      </p:sp>
      <p:sp>
        <p:nvSpPr>
          <p:cNvPr id="295" name="Google Shape;295;g412c17598e8_0_27"/>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Integraci</a:t>
            </a:r>
            <a:r>
              <a:rPr lang="en"/>
              <a:t>ón de las fuentes: 01_mergeData.R</a:t>
            </a:r>
            <a:endParaRPr/>
          </a:p>
        </p:txBody>
      </p:sp>
      <p:sp>
        <p:nvSpPr>
          <p:cNvPr id="296" name="Google Shape;296;g412c17598e8_0_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97" name="Google Shape;297;g412c17598e8_0_27"/>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298" name="Google Shape;298;g412c17598e8_0_27" title="Captura de pantalla 2026-09-19 a las 12.34.30.png"/>
          <p:cNvPicPr preferRelativeResize="0"/>
          <p:nvPr/>
        </p:nvPicPr>
        <p:blipFill>
          <a:blip r:embed="rId4">
            <a:alphaModFix/>
          </a:blip>
          <a:stretch>
            <a:fillRect/>
          </a:stretch>
        </p:blipFill>
        <p:spPr>
          <a:xfrm>
            <a:off x="715050" y="1569150"/>
            <a:ext cx="3289200" cy="25288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412c17598e8_0_4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04" name="Google Shape;304;g412c17598e8_0_426"/>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305" name="Google Shape;305;g412c17598e8_0_426" title="Captura de pantalla 2026-09-19 a las 12.39.51.png"/>
          <p:cNvPicPr preferRelativeResize="0"/>
          <p:nvPr/>
        </p:nvPicPr>
        <p:blipFill>
          <a:blip r:embed="rId4">
            <a:alphaModFix/>
          </a:blip>
          <a:stretch>
            <a:fillRect/>
          </a:stretch>
        </p:blipFill>
        <p:spPr>
          <a:xfrm>
            <a:off x="328975" y="686450"/>
            <a:ext cx="8650552" cy="40633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412c17598e8_0_35"/>
          <p:cNvSpPr txBox="1"/>
          <p:nvPr>
            <p:ph idx="1" type="subTitle"/>
          </p:nvPr>
        </p:nvSpPr>
        <p:spPr>
          <a:xfrm>
            <a:off x="807950" y="1670350"/>
            <a:ext cx="7620900" cy="2496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SzPts val="1400"/>
              <a:buFont typeface="Nunito"/>
              <a:buChar char="●"/>
            </a:pPr>
            <a:r>
              <a:rPr b="1" lang="en" sz="1400">
                <a:latin typeface="Nunito"/>
                <a:ea typeface="Nunito"/>
                <a:cs typeface="Nunito"/>
                <a:sym typeface="Nunito"/>
              </a:rPr>
              <a:t>Variables sociodemográficas:</a:t>
            </a:r>
            <a:r>
              <a:rPr lang="en" sz="1400">
                <a:latin typeface="Nunito"/>
                <a:ea typeface="Nunito"/>
                <a:cs typeface="Nunito"/>
                <a:sym typeface="Nunito"/>
              </a:rPr>
              <a:t> unifica edad, género, educación, empleo, país e ingresos, creando columnas comunes.</a:t>
            </a:r>
            <a:endParaRPr sz="1400">
              <a:latin typeface="Nunito"/>
              <a:ea typeface="Nunito"/>
              <a:cs typeface="Nunito"/>
              <a:sym typeface="Nunito"/>
            </a:endParaRPr>
          </a:p>
          <a:p>
            <a:pPr indent="-317500" lvl="0" marL="457200" rtl="0" algn="l">
              <a:lnSpc>
                <a:spcPct val="115000"/>
              </a:lnSpc>
              <a:spcBef>
                <a:spcPts val="0"/>
              </a:spcBef>
              <a:spcAft>
                <a:spcPts val="0"/>
              </a:spcAft>
              <a:buSzPts val="1400"/>
              <a:buFont typeface="Nunito"/>
              <a:buChar char="●"/>
            </a:pPr>
            <a:r>
              <a:rPr b="1" lang="en" sz="1400">
                <a:latin typeface="Nunito"/>
                <a:ea typeface="Nunito"/>
                <a:cs typeface="Nunito"/>
                <a:sym typeface="Nunito"/>
              </a:rPr>
              <a:t>Variables políticas y contextuales:</a:t>
            </a:r>
            <a:r>
              <a:rPr lang="en" sz="1400">
                <a:latin typeface="Nunito"/>
                <a:ea typeface="Nunito"/>
                <a:cs typeface="Nunito"/>
                <a:sym typeface="Nunito"/>
              </a:rPr>
              <a:t> armoniza información sobre voto, orientación política y otras características disponibles en las encuestas.</a:t>
            </a:r>
            <a:endParaRPr sz="1400">
              <a:latin typeface="Nunito"/>
              <a:ea typeface="Nunito"/>
              <a:cs typeface="Nunito"/>
              <a:sym typeface="Nunito"/>
            </a:endParaRPr>
          </a:p>
          <a:p>
            <a:pPr indent="-317500" lvl="0" marL="457200" rtl="0" algn="l">
              <a:lnSpc>
                <a:spcPct val="115000"/>
              </a:lnSpc>
              <a:spcBef>
                <a:spcPts val="0"/>
              </a:spcBef>
              <a:spcAft>
                <a:spcPts val="0"/>
              </a:spcAft>
              <a:buSzPts val="1400"/>
              <a:buFont typeface="Nunito"/>
              <a:buChar char="●"/>
            </a:pPr>
            <a:r>
              <a:rPr b="1" lang="en" sz="1400">
                <a:latin typeface="Nunito"/>
                <a:ea typeface="Nunito"/>
                <a:cs typeface="Nunito"/>
                <a:sym typeface="Nunito"/>
              </a:rPr>
              <a:t>32 determinantes:</a:t>
            </a:r>
            <a:r>
              <a:rPr lang="en" sz="1400">
                <a:latin typeface="Nunito"/>
                <a:ea typeface="Nunito"/>
                <a:cs typeface="Nunito"/>
                <a:sym typeface="Nunito"/>
              </a:rPr>
              <a:t> identifica las columnas equivalentes de cada fuente y crea una estructura común de determinantes (det_01_profits, …, det_32_own_significance).</a:t>
            </a:r>
            <a:endParaRPr sz="1400">
              <a:latin typeface="Nunito"/>
              <a:ea typeface="Nunito"/>
              <a:cs typeface="Nunito"/>
              <a:sym typeface="Nunito"/>
            </a:endParaRPr>
          </a:p>
          <a:p>
            <a:pPr indent="-317500" lvl="0" marL="457200" rtl="0" algn="l">
              <a:lnSpc>
                <a:spcPct val="115000"/>
              </a:lnSpc>
              <a:spcBef>
                <a:spcPts val="0"/>
              </a:spcBef>
              <a:spcAft>
                <a:spcPts val="0"/>
              </a:spcAft>
              <a:buSzPts val="1400"/>
              <a:buFont typeface="Nunito"/>
              <a:buChar char="●"/>
            </a:pPr>
            <a:r>
              <a:rPr b="1" lang="en" sz="1400">
                <a:latin typeface="Nunito"/>
                <a:ea typeface="Nunito"/>
                <a:cs typeface="Nunito"/>
                <a:sym typeface="Nunito"/>
              </a:rPr>
              <a:t>Control de completitud:</a:t>
            </a:r>
            <a:r>
              <a:rPr lang="en" sz="1400">
                <a:latin typeface="Nunito"/>
                <a:ea typeface="Nunito"/>
                <a:cs typeface="Nunito"/>
                <a:sym typeface="Nunito"/>
              </a:rPr>
              <a:t> calcula cuántos determinantes tiene disponibles cada participante mediante n_det_non_missing y prop_det_non_missing.</a:t>
            </a:r>
            <a:endParaRPr sz="1400">
              <a:latin typeface="Nunito"/>
              <a:ea typeface="Nunito"/>
              <a:cs typeface="Nunito"/>
              <a:sym typeface="Nunito"/>
            </a:endParaRPr>
          </a:p>
          <a:p>
            <a:pPr indent="-317500" lvl="0" marL="457200" rtl="0" algn="l">
              <a:lnSpc>
                <a:spcPct val="115000"/>
              </a:lnSpc>
              <a:spcBef>
                <a:spcPts val="0"/>
              </a:spcBef>
              <a:spcAft>
                <a:spcPts val="0"/>
              </a:spcAft>
              <a:buSzPts val="1400"/>
              <a:buFont typeface="Nunito"/>
              <a:buChar char="●"/>
            </a:pPr>
            <a:r>
              <a:rPr b="1" lang="en" sz="1400">
                <a:latin typeface="Nunito"/>
                <a:ea typeface="Nunito"/>
                <a:cs typeface="Nunito"/>
                <a:sym typeface="Nunito"/>
              </a:rPr>
              <a:t>Trazabilidad:</a:t>
            </a:r>
            <a:r>
              <a:rPr lang="en" sz="1400">
                <a:latin typeface="Nunito"/>
                <a:ea typeface="Nunito"/>
                <a:cs typeface="Nunito"/>
                <a:sym typeface="Nunito"/>
              </a:rPr>
              <a:t> conserva los datos originales, genera una versión limpia y produce diagnósticos de cobertura y conflictos.</a:t>
            </a:r>
            <a:endParaRPr sz="1400">
              <a:latin typeface="Nunito"/>
              <a:ea typeface="Nunito"/>
              <a:cs typeface="Nunito"/>
              <a:sym typeface="Nunito"/>
            </a:endParaRPr>
          </a:p>
          <a:p>
            <a:pPr indent="0" lvl="0" marL="0" rtl="0" algn="ctr">
              <a:lnSpc>
                <a:spcPct val="115000"/>
              </a:lnSpc>
              <a:spcBef>
                <a:spcPts val="1200"/>
              </a:spcBef>
              <a:spcAft>
                <a:spcPts val="0"/>
              </a:spcAft>
              <a:buNone/>
            </a:pPr>
            <a:r>
              <a:rPr b="1" lang="en" sz="1100">
                <a:latin typeface="Nunito"/>
                <a:ea typeface="Nunito"/>
                <a:cs typeface="Nunito"/>
                <a:sym typeface="Nunito"/>
              </a:rPr>
              <a:t>Entrada:</a:t>
            </a:r>
            <a:r>
              <a:rPr lang="en" sz="1100">
                <a:latin typeface="Nunito"/>
                <a:ea typeface="Nunito"/>
                <a:cs typeface="Nunito"/>
                <a:sym typeface="Nunito"/>
              </a:rPr>
              <a:t> 01_mergeData/all_sources_integrated.csv</a:t>
            </a:r>
            <a:endParaRPr sz="1100">
              <a:latin typeface="Nunito"/>
              <a:ea typeface="Nunito"/>
              <a:cs typeface="Nunito"/>
              <a:sym typeface="Nunito"/>
            </a:endParaRPr>
          </a:p>
          <a:p>
            <a:pPr indent="0" lvl="0" marL="0" rtl="0" algn="ctr">
              <a:lnSpc>
                <a:spcPct val="115000"/>
              </a:lnSpc>
              <a:spcBef>
                <a:spcPts val="0"/>
              </a:spcBef>
              <a:spcAft>
                <a:spcPts val="0"/>
              </a:spcAft>
              <a:buNone/>
            </a:pPr>
            <a:r>
              <a:rPr b="1" lang="en" sz="1100">
                <a:solidFill>
                  <a:srgbClr val="000000"/>
                </a:solidFill>
                <a:latin typeface="Nunito"/>
                <a:ea typeface="Nunito"/>
                <a:cs typeface="Nunito"/>
                <a:sym typeface="Nunito"/>
              </a:rPr>
              <a:t>Salida para análisis:</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01_1_harmonize_sociodemographics/all_sources_integrated_clean.csv</a:t>
            </a:r>
            <a:endParaRPr sz="1100">
              <a:solidFill>
                <a:srgbClr val="188038"/>
              </a:solidFill>
              <a:latin typeface="Nunito"/>
              <a:ea typeface="Nunito"/>
              <a:cs typeface="Nunito"/>
              <a:sym typeface="Nunito"/>
            </a:endParaRPr>
          </a:p>
          <a:p>
            <a:pPr indent="0" lvl="0" marL="0" rtl="0" algn="ctr">
              <a:lnSpc>
                <a:spcPct val="115000"/>
              </a:lnSpc>
              <a:spcBef>
                <a:spcPts val="0"/>
              </a:spcBef>
              <a:spcAft>
                <a:spcPts val="0"/>
              </a:spcAft>
              <a:buNone/>
            </a:pPr>
            <a:r>
              <a:rPr b="1" lang="en" sz="1100">
                <a:solidFill>
                  <a:srgbClr val="000000"/>
                </a:solidFill>
                <a:latin typeface="Nunito"/>
                <a:ea typeface="Nunito"/>
                <a:cs typeface="Nunito"/>
                <a:sym typeface="Nunito"/>
              </a:rPr>
              <a:t>Salida para trazabilidad:</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01_1_harmonize_sociodemographics/all_sources_integrated_clean_traceability.csv</a:t>
            </a:r>
            <a:endParaRPr b="1" sz="1100">
              <a:latin typeface="Nunito"/>
              <a:ea typeface="Nunito"/>
              <a:cs typeface="Nunito"/>
              <a:sym typeface="Nunito"/>
            </a:endParaRPr>
          </a:p>
          <a:p>
            <a:pPr indent="0" lvl="0" marL="0" rtl="0" algn="l">
              <a:lnSpc>
                <a:spcPct val="115000"/>
              </a:lnSpc>
              <a:spcBef>
                <a:spcPts val="1200"/>
              </a:spcBef>
              <a:spcAft>
                <a:spcPts val="0"/>
              </a:spcAft>
              <a:buNone/>
            </a:pPr>
            <a:r>
              <a:t/>
            </a:r>
            <a:endParaRPr sz="1400">
              <a:latin typeface="Nunito"/>
              <a:ea typeface="Nunito"/>
              <a:cs typeface="Nunito"/>
              <a:sym typeface="Nunito"/>
            </a:endParaRPr>
          </a:p>
          <a:p>
            <a:pPr indent="0" lvl="0" marL="0" rtl="0" algn="l">
              <a:lnSpc>
                <a:spcPct val="115000"/>
              </a:lnSpc>
              <a:spcBef>
                <a:spcPts val="1200"/>
              </a:spcBef>
              <a:spcAft>
                <a:spcPts val="1200"/>
              </a:spcAft>
              <a:buNone/>
            </a:pPr>
            <a:r>
              <a:t/>
            </a:r>
            <a:endParaRPr b="1" sz="1400">
              <a:latin typeface="Nunito"/>
              <a:ea typeface="Nunito"/>
              <a:cs typeface="Nunito"/>
              <a:sym typeface="Nunito"/>
            </a:endParaRPr>
          </a:p>
        </p:txBody>
      </p:sp>
      <p:sp>
        <p:nvSpPr>
          <p:cNvPr id="311" name="Google Shape;311;g412c17598e8_0_35"/>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Armonizaci</a:t>
            </a:r>
            <a:r>
              <a:rPr lang="en"/>
              <a:t>ón de variables comunes: </a:t>
            </a:r>
            <a:endParaRPr/>
          </a:p>
          <a:p>
            <a:pPr indent="0" lvl="0" marL="0" rtl="0" algn="l">
              <a:lnSpc>
                <a:spcPct val="100000"/>
              </a:lnSpc>
              <a:spcBef>
                <a:spcPts val="0"/>
              </a:spcBef>
              <a:spcAft>
                <a:spcPts val="0"/>
              </a:spcAft>
              <a:buSzPts val="2500"/>
              <a:buNone/>
            </a:pPr>
            <a:r>
              <a:rPr b="1" lang="en" sz="1100">
                <a:latin typeface="Nunito"/>
                <a:ea typeface="Nunito"/>
                <a:cs typeface="Nunito"/>
                <a:sym typeface="Nunito"/>
              </a:rPr>
              <a:t>Script:</a:t>
            </a:r>
            <a:r>
              <a:rPr lang="en"/>
              <a:t> </a:t>
            </a:r>
            <a:r>
              <a:rPr lang="en" sz="1100">
                <a:solidFill>
                  <a:srgbClr val="188038"/>
                </a:solidFill>
                <a:latin typeface="Nunito"/>
                <a:ea typeface="Nunito"/>
                <a:cs typeface="Nunito"/>
                <a:sym typeface="Nunito"/>
              </a:rPr>
              <a:t>02_harmonize_common_variables.R</a:t>
            </a:r>
            <a:endParaRPr sz="1100">
              <a:solidFill>
                <a:srgbClr val="188038"/>
              </a:solidFill>
              <a:latin typeface="Nunito"/>
              <a:ea typeface="Nunito"/>
              <a:cs typeface="Nunito"/>
              <a:sym typeface="Nunito"/>
            </a:endParaRPr>
          </a:p>
          <a:p>
            <a:pPr indent="0" lvl="0" marL="0" rtl="0" algn="l">
              <a:lnSpc>
                <a:spcPct val="100000"/>
              </a:lnSpc>
              <a:spcBef>
                <a:spcPts val="0"/>
              </a:spcBef>
              <a:spcAft>
                <a:spcPts val="0"/>
              </a:spcAft>
              <a:buSzPts val="2500"/>
              <a:buNone/>
            </a:pPr>
            <a:r>
              <a:t/>
            </a:r>
            <a:endParaRPr/>
          </a:p>
        </p:txBody>
      </p:sp>
      <p:sp>
        <p:nvSpPr>
          <p:cNvPr id="312" name="Google Shape;312;g412c17598e8_0_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13" name="Google Shape;313;g412c17598e8_0_35"/>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412c17598e8_0_43"/>
          <p:cNvSpPr txBox="1"/>
          <p:nvPr>
            <p:ph idx="1" type="subTitle"/>
          </p:nvPr>
        </p:nvSpPr>
        <p:spPr>
          <a:xfrm>
            <a:off x="788400" y="1650200"/>
            <a:ext cx="7567200" cy="24966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SzPts val="1400"/>
              <a:buFont typeface="Arial"/>
              <a:buChar char="●"/>
            </a:pPr>
            <a:r>
              <a:rPr b="1" lang="en" sz="1400">
                <a:latin typeface="Nunito"/>
                <a:ea typeface="Nunito"/>
                <a:cs typeface="Nunito"/>
                <a:sym typeface="Nunito"/>
              </a:rPr>
              <a:t>Evalúa los 32 determinantes:</a:t>
            </a:r>
            <a:r>
              <a:rPr lang="en" sz="1400">
                <a:latin typeface="Nunito"/>
                <a:ea typeface="Nunito"/>
                <a:cs typeface="Nunito"/>
                <a:sym typeface="Nunito"/>
              </a:rPr>
              <a:t> comprueba su disponibilidad y </a:t>
            </a:r>
            <a:r>
              <a:rPr lang="en" sz="1400">
                <a:latin typeface="Nunito"/>
                <a:ea typeface="Nunito"/>
                <a:cs typeface="Nunito"/>
                <a:sym typeface="Nunito"/>
              </a:rPr>
              <a:t>detectar</a:t>
            </a:r>
            <a:r>
              <a:rPr lang="en" sz="1400">
                <a:latin typeface="Nunito"/>
                <a:ea typeface="Nunito"/>
                <a:cs typeface="Nunito"/>
                <a:sym typeface="Nunito"/>
              </a:rPr>
              <a:t> valores fuera del rango permitido (0–100), baja variabilidad y respuestas excesivamente extremas.</a:t>
            </a:r>
            <a:endParaRPr sz="1400">
              <a:latin typeface="Nunito"/>
              <a:ea typeface="Nunito"/>
              <a:cs typeface="Nunito"/>
              <a:sym typeface="Nunito"/>
            </a:endParaRPr>
          </a:p>
          <a:p>
            <a:pPr indent="-393700" lvl="0" marL="457200" rtl="0" algn="l">
              <a:lnSpc>
                <a:spcPct val="115000"/>
              </a:lnSpc>
              <a:spcBef>
                <a:spcPts val="0"/>
              </a:spcBef>
              <a:spcAft>
                <a:spcPts val="0"/>
              </a:spcAft>
              <a:buSzPts val="1400"/>
              <a:buFont typeface="Arial"/>
              <a:buChar char="●"/>
            </a:pPr>
            <a:r>
              <a:rPr b="1" lang="en" sz="1400">
                <a:latin typeface="Nunito"/>
                <a:ea typeface="Nunito"/>
                <a:cs typeface="Nunito"/>
                <a:sym typeface="Nunito"/>
              </a:rPr>
              <a:t>Aplica el criterio de calidad:</a:t>
            </a:r>
            <a:r>
              <a:rPr lang="en" sz="1400">
                <a:latin typeface="Nunito"/>
                <a:ea typeface="Nunito"/>
                <a:cs typeface="Nunito"/>
                <a:sym typeface="Nunito"/>
              </a:rPr>
              <a:t> exige al menos </a:t>
            </a:r>
            <a:r>
              <a:rPr b="1" lang="en" sz="1400">
                <a:latin typeface="Nunito"/>
                <a:ea typeface="Nunito"/>
                <a:cs typeface="Nunito"/>
                <a:sym typeface="Nunito"/>
              </a:rPr>
              <a:t>24 determinantes válidos de los 32</a:t>
            </a:r>
            <a:r>
              <a:rPr lang="en" sz="1400">
                <a:latin typeface="Nunito"/>
                <a:ea typeface="Nunito"/>
                <a:cs typeface="Nunito"/>
                <a:sym typeface="Nunito"/>
              </a:rPr>
              <a:t> (75 %). Además, comprueba que el perfil no presente otras incidencias de calidad que impidan utilizarlo.</a:t>
            </a:r>
            <a:endParaRPr sz="1400">
              <a:latin typeface="Nunito"/>
              <a:ea typeface="Nunito"/>
              <a:cs typeface="Nunito"/>
              <a:sym typeface="Nunito"/>
            </a:endParaRPr>
          </a:p>
          <a:p>
            <a:pPr indent="-393700" lvl="0" marL="457200" rtl="0" algn="l">
              <a:lnSpc>
                <a:spcPct val="115000"/>
              </a:lnSpc>
              <a:spcBef>
                <a:spcPts val="0"/>
              </a:spcBef>
              <a:spcAft>
                <a:spcPts val="0"/>
              </a:spcAft>
              <a:buSzPts val="1400"/>
              <a:buFont typeface="Arial"/>
              <a:buChar char="●"/>
            </a:pPr>
            <a:r>
              <a:rPr b="1" lang="en" sz="1400">
                <a:latin typeface="Nunito"/>
                <a:ea typeface="Nunito"/>
                <a:cs typeface="Nunito"/>
                <a:sym typeface="Nunito"/>
              </a:rPr>
              <a:t>Identifica los participantes utilizables:</a:t>
            </a:r>
            <a:r>
              <a:rPr lang="en" sz="1400">
                <a:latin typeface="Nunito"/>
                <a:ea typeface="Nunito"/>
                <a:cs typeface="Nunito"/>
                <a:sym typeface="Nunito"/>
              </a:rPr>
              <a:t> crea la variable usable_for_clustering, que indica si cada participante cumple los criterios.</a:t>
            </a:r>
            <a:endParaRPr sz="1400">
              <a:latin typeface="Nunito"/>
              <a:ea typeface="Nunito"/>
              <a:cs typeface="Nunito"/>
              <a:sym typeface="Nunito"/>
            </a:endParaRPr>
          </a:p>
          <a:p>
            <a:pPr indent="-393700" lvl="0" marL="457200" rtl="0" algn="l">
              <a:lnSpc>
                <a:spcPct val="115000"/>
              </a:lnSpc>
              <a:spcBef>
                <a:spcPts val="0"/>
              </a:spcBef>
              <a:spcAft>
                <a:spcPts val="0"/>
              </a:spcAft>
              <a:buSzPts val="1400"/>
              <a:buFont typeface="Arial"/>
              <a:buChar char="●"/>
            </a:pPr>
            <a:r>
              <a:rPr b="1" lang="en" sz="1400">
                <a:latin typeface="Nunito"/>
                <a:ea typeface="Nunito"/>
                <a:cs typeface="Nunito"/>
                <a:sym typeface="Nunito"/>
              </a:rPr>
              <a:t>Conserva la trazabilidad:</a:t>
            </a:r>
            <a:r>
              <a:rPr lang="en" sz="1400">
                <a:latin typeface="Nunito"/>
                <a:ea typeface="Nunito"/>
                <a:cs typeface="Nunito"/>
                <a:sym typeface="Nunito"/>
              </a:rPr>
              <a:t> mantiene la información de calidad de todos los participantes y genera una tabla específica con los casos seleccionados para clustering.</a:t>
            </a:r>
            <a:endParaRPr sz="1400">
              <a:latin typeface="Nunito"/>
              <a:ea typeface="Nunito"/>
              <a:cs typeface="Nunito"/>
              <a:sym typeface="Nunito"/>
            </a:endParaRPr>
          </a:p>
          <a:p>
            <a:pPr indent="0" lvl="0" marL="0" rtl="0" algn="just">
              <a:lnSpc>
                <a:spcPct val="115000"/>
              </a:lnSpc>
              <a:spcBef>
                <a:spcPts val="1200"/>
              </a:spcBef>
              <a:spcAft>
                <a:spcPts val="0"/>
              </a:spcAft>
              <a:buSzPts val="1200"/>
              <a:buNone/>
            </a:pPr>
            <a:r>
              <a:t/>
            </a:r>
            <a:endParaRPr sz="1400">
              <a:latin typeface="Nunito"/>
              <a:ea typeface="Nunito"/>
              <a:cs typeface="Nunito"/>
              <a:sym typeface="Nunito"/>
            </a:endParaRPr>
          </a:p>
          <a:p>
            <a:pPr indent="0" lvl="0" marL="0" rtl="0" algn="just">
              <a:lnSpc>
                <a:spcPct val="100000"/>
              </a:lnSpc>
              <a:spcBef>
                <a:spcPts val="1200"/>
              </a:spcBef>
              <a:spcAft>
                <a:spcPts val="0"/>
              </a:spcAft>
              <a:buSzPts val="1200"/>
              <a:buNone/>
            </a:pPr>
            <a:r>
              <a:t/>
            </a:r>
            <a:endParaRPr sz="1400">
              <a:latin typeface="Nunito"/>
              <a:ea typeface="Nunito"/>
              <a:cs typeface="Nunito"/>
              <a:sym typeface="Nunito"/>
            </a:endParaRPr>
          </a:p>
        </p:txBody>
      </p:sp>
      <p:sp>
        <p:nvSpPr>
          <p:cNvPr id="319" name="Google Shape;319;g412c17598e8_0_43"/>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Control de calidad y selección de participantes</a:t>
            </a:r>
            <a:endParaRPr/>
          </a:p>
          <a:p>
            <a:pPr indent="0" lvl="0" marL="0" rtl="0" algn="l">
              <a:lnSpc>
                <a:spcPct val="115000"/>
              </a:lnSpc>
              <a:spcBef>
                <a:spcPts val="1200"/>
              </a:spcBef>
              <a:spcAft>
                <a:spcPts val="1200"/>
              </a:spcAft>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03_1_component_quality.R</a:t>
            </a:r>
            <a:endParaRPr/>
          </a:p>
        </p:txBody>
      </p:sp>
      <p:sp>
        <p:nvSpPr>
          <p:cNvPr id="320" name="Google Shape;320;g412c17598e8_0_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21" name="Google Shape;321;g412c17598e8_0_43"/>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412c17598e8_0_478"/>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Control de calidad y selección de participantes</a:t>
            </a:r>
            <a:endParaRPr/>
          </a:p>
        </p:txBody>
      </p:sp>
      <p:sp>
        <p:nvSpPr>
          <p:cNvPr id="327" name="Google Shape;327;g412c17598e8_0_4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28" name="Google Shape;328;g412c17598e8_0_478"/>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329" name="Google Shape;329;g412c17598e8_0_478"/>
          <p:cNvGraphicFramePr/>
          <p:nvPr/>
        </p:nvGraphicFramePr>
        <p:xfrm>
          <a:off x="1220963" y="1274350"/>
          <a:ext cx="3000000" cy="3000000"/>
        </p:xfrm>
        <a:graphic>
          <a:graphicData uri="http://schemas.openxmlformats.org/drawingml/2006/table">
            <a:tbl>
              <a:tblPr>
                <a:noFill/>
                <a:tableStyleId>{8E66463A-8B2B-4F57-90C8-EE86B05AE81C}</a:tableStyleId>
              </a:tblPr>
              <a:tblGrid>
                <a:gridCol w="2234025"/>
                <a:gridCol w="2234025"/>
                <a:gridCol w="2234025"/>
              </a:tblGrid>
              <a:tr h="276350">
                <a:tc>
                  <a:txBody>
                    <a:bodyPr/>
                    <a:lstStyle/>
                    <a:p>
                      <a:pPr indent="0" lvl="0" marL="0" marR="0" rtl="0" algn="ctr">
                        <a:lnSpc>
                          <a:spcPct val="100000"/>
                        </a:lnSpc>
                        <a:spcBef>
                          <a:spcPts val="0"/>
                        </a:spcBef>
                        <a:spcAft>
                          <a:spcPts val="0"/>
                        </a:spcAft>
                        <a:buClr>
                          <a:srgbClr val="000000"/>
                        </a:buClr>
                        <a:buSzPts val="1400"/>
                        <a:buFont typeface="Arial"/>
                        <a:buNone/>
                      </a:pPr>
                      <a:r>
                        <a:rPr b="1" lang="en">
                          <a:solidFill>
                            <a:schemeClr val="lt1"/>
                          </a:solidFill>
                          <a:latin typeface="Nunito"/>
                          <a:ea typeface="Nunito"/>
                          <a:cs typeface="Nunito"/>
                          <a:sym typeface="Nunito"/>
                        </a:rPr>
                        <a:t>Fuente</a:t>
                      </a:r>
                      <a:endParaRPr b="1" sz="1400" u="none" cap="none" strike="noStrike">
                        <a:solidFill>
                          <a:schemeClr val="lt1"/>
                        </a:solidFill>
                        <a:latin typeface="Nunito"/>
                        <a:ea typeface="Nunito"/>
                        <a:cs typeface="Nunito"/>
                        <a:sym typeface="Nunito"/>
                      </a:endParaRPr>
                    </a:p>
                  </a:txBody>
                  <a:tcPr marT="91425" marB="91425" marR="91425" marL="91425">
                    <a:solidFill>
                      <a:schemeClr val="lt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a:solidFill>
                            <a:schemeClr val="lt1"/>
                          </a:solidFill>
                          <a:latin typeface="Nunito"/>
                          <a:ea typeface="Nunito"/>
                          <a:cs typeface="Nunito"/>
                          <a:sym typeface="Nunito"/>
                        </a:rPr>
                        <a:t>Participantes</a:t>
                      </a:r>
                      <a:endParaRPr b="1" sz="1400" u="none" cap="none" strike="noStrike">
                        <a:solidFill>
                          <a:schemeClr val="lt1"/>
                        </a:solidFill>
                        <a:latin typeface="Nunito"/>
                        <a:ea typeface="Nunito"/>
                        <a:cs typeface="Nunito"/>
                        <a:sym typeface="Nunito"/>
                      </a:endParaRPr>
                    </a:p>
                  </a:txBody>
                  <a:tcPr marT="91425" marB="91425" marR="91425" marL="91425">
                    <a:solidFill>
                      <a:schemeClr val="lt2"/>
                    </a:solidFill>
                  </a:tcPr>
                </a:tc>
                <a:tc>
                  <a:txBody>
                    <a:bodyPr/>
                    <a:lstStyle/>
                    <a:p>
                      <a:pPr indent="0" lvl="0" marL="0" marR="0" rtl="0" algn="ctr">
                        <a:lnSpc>
                          <a:spcPct val="100000"/>
                        </a:lnSpc>
                        <a:spcBef>
                          <a:spcPts val="0"/>
                        </a:spcBef>
                        <a:spcAft>
                          <a:spcPts val="0"/>
                        </a:spcAft>
                        <a:buNone/>
                      </a:pPr>
                      <a:r>
                        <a:rPr b="1" lang="en">
                          <a:solidFill>
                            <a:schemeClr val="lt1"/>
                          </a:solidFill>
                          <a:latin typeface="Nunito"/>
                          <a:ea typeface="Nunito"/>
                          <a:cs typeface="Nunito"/>
                          <a:sym typeface="Nunito"/>
                        </a:rPr>
                        <a:t>Participantes utilizables</a:t>
                      </a:r>
                      <a:endParaRPr b="1">
                        <a:solidFill>
                          <a:schemeClr val="lt1"/>
                        </a:solidFill>
                        <a:latin typeface="Nunito"/>
                        <a:ea typeface="Nunito"/>
                        <a:cs typeface="Nunito"/>
                        <a:sym typeface="Nunito"/>
                      </a:endParaRPr>
                    </a:p>
                  </a:txBody>
                  <a:tcPr marT="91425" marB="91425" marR="91425" marL="91425">
                    <a:solidFill>
                      <a:schemeClr val="lt2"/>
                    </a:solidFill>
                  </a:tcPr>
                </a:tc>
              </a:tr>
              <a:tr h="413900">
                <a:tc>
                  <a:txBody>
                    <a:bodyPr/>
                    <a:lstStyle/>
                    <a:p>
                      <a:pPr indent="0" lvl="0" marL="0" marR="0" rtl="0" algn="ctr">
                        <a:lnSpc>
                          <a:spcPct val="100000"/>
                        </a:lnSpc>
                        <a:spcBef>
                          <a:spcPts val="0"/>
                        </a:spcBef>
                        <a:spcAft>
                          <a:spcPts val="0"/>
                        </a:spcAft>
                        <a:buClr>
                          <a:srgbClr val="000000"/>
                        </a:buClr>
                        <a:buSzPts val="1400"/>
                        <a:buFont typeface="Arial"/>
                        <a:buNone/>
                      </a:pPr>
                      <a:r>
                        <a:rPr b="1" lang="en">
                          <a:latin typeface="Nunito"/>
                          <a:ea typeface="Nunito"/>
                          <a:cs typeface="Nunito"/>
                          <a:sym typeface="Nunito"/>
                        </a:rPr>
                        <a:t>DIEGO</a:t>
                      </a:r>
                      <a:endParaRPr b="1"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Nunito"/>
                          <a:ea typeface="Nunito"/>
                          <a:cs typeface="Nunito"/>
                          <a:sym typeface="Nunito"/>
                        </a:rPr>
                        <a:t>1.899</a:t>
                      </a:r>
                      <a:endParaRPr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None/>
                      </a:pPr>
                      <a:r>
                        <a:rPr lang="en">
                          <a:latin typeface="Nunito"/>
                          <a:ea typeface="Nunito"/>
                          <a:cs typeface="Nunito"/>
                          <a:sym typeface="Nunito"/>
                        </a:rPr>
                        <a:t>1.899</a:t>
                      </a:r>
                      <a:endParaRPr>
                        <a:latin typeface="Nunito"/>
                        <a:ea typeface="Nunito"/>
                        <a:cs typeface="Nunito"/>
                        <a:sym typeface="Nunito"/>
                      </a:endParaRPr>
                    </a:p>
                  </a:txBody>
                  <a:tcPr marT="91425" marB="91425" marR="91425" marL="91425"/>
                </a:tc>
              </a:tr>
              <a:tr h="393750">
                <a:tc>
                  <a:txBody>
                    <a:bodyPr/>
                    <a:lstStyle/>
                    <a:p>
                      <a:pPr indent="0" lvl="0" marL="0" marR="0" rtl="0" algn="ctr">
                        <a:lnSpc>
                          <a:spcPct val="100000"/>
                        </a:lnSpc>
                        <a:spcBef>
                          <a:spcPts val="0"/>
                        </a:spcBef>
                        <a:spcAft>
                          <a:spcPts val="0"/>
                        </a:spcAft>
                        <a:buClr>
                          <a:srgbClr val="000000"/>
                        </a:buClr>
                        <a:buSzPts val="1400"/>
                        <a:buFont typeface="Arial"/>
                        <a:buNone/>
                      </a:pPr>
                      <a:r>
                        <a:rPr b="1" lang="en">
                          <a:latin typeface="Nunito"/>
                          <a:ea typeface="Nunito"/>
                          <a:cs typeface="Nunito"/>
                          <a:sym typeface="Nunito"/>
                        </a:rPr>
                        <a:t>RENOVISOR</a:t>
                      </a:r>
                      <a:endParaRPr b="1"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Nunito"/>
                          <a:ea typeface="Nunito"/>
                          <a:cs typeface="Nunito"/>
                          <a:sym typeface="Nunito"/>
                        </a:rPr>
                        <a:t>1.229</a:t>
                      </a:r>
                      <a:endParaRPr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None/>
                      </a:pPr>
                      <a:r>
                        <a:rPr lang="en">
                          <a:latin typeface="Nunito"/>
                          <a:ea typeface="Nunito"/>
                          <a:cs typeface="Nunito"/>
                          <a:sym typeface="Nunito"/>
                        </a:rPr>
                        <a:t>894</a:t>
                      </a:r>
                      <a:endParaRPr>
                        <a:latin typeface="Nunito"/>
                        <a:ea typeface="Nunito"/>
                        <a:cs typeface="Nunito"/>
                        <a:sym typeface="Nunito"/>
                      </a:endParaRPr>
                    </a:p>
                  </a:txBody>
                  <a:tcPr marT="91425" marB="91425" marR="91425" marL="91425"/>
                </a:tc>
              </a:tr>
              <a:tr h="363550">
                <a:tc>
                  <a:txBody>
                    <a:bodyPr/>
                    <a:lstStyle/>
                    <a:p>
                      <a:pPr indent="0" lvl="0" marL="0" marR="0" rtl="0" algn="ctr">
                        <a:lnSpc>
                          <a:spcPct val="100000"/>
                        </a:lnSpc>
                        <a:spcBef>
                          <a:spcPts val="0"/>
                        </a:spcBef>
                        <a:spcAft>
                          <a:spcPts val="0"/>
                        </a:spcAft>
                        <a:buClr>
                          <a:srgbClr val="000000"/>
                        </a:buClr>
                        <a:buSzPts val="1400"/>
                        <a:buFont typeface="Arial"/>
                        <a:buNone/>
                      </a:pPr>
                      <a:r>
                        <a:rPr b="1" lang="en">
                          <a:latin typeface="Nunito"/>
                          <a:ea typeface="Nunito"/>
                          <a:cs typeface="Nunito"/>
                          <a:sym typeface="Nunito"/>
                        </a:rPr>
                        <a:t>WHY_EUROPE</a:t>
                      </a:r>
                      <a:endParaRPr b="1"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Nunito"/>
                          <a:ea typeface="Nunito"/>
                          <a:cs typeface="Nunito"/>
                          <a:sym typeface="Nunito"/>
                        </a:rPr>
                        <a:t>990</a:t>
                      </a:r>
                      <a:endParaRPr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None/>
                      </a:pPr>
                      <a:r>
                        <a:rPr lang="en">
                          <a:latin typeface="Nunito"/>
                          <a:ea typeface="Nunito"/>
                          <a:cs typeface="Nunito"/>
                          <a:sym typeface="Nunito"/>
                        </a:rPr>
                        <a:t>971</a:t>
                      </a:r>
                      <a:endParaRPr>
                        <a:latin typeface="Nunito"/>
                        <a:ea typeface="Nunito"/>
                        <a:cs typeface="Nunito"/>
                        <a:sym typeface="Nunito"/>
                      </a:endParaRPr>
                    </a:p>
                  </a:txBody>
                  <a:tcPr marT="91425" marB="91425" marR="91425" marL="91425"/>
                </a:tc>
              </a:tr>
              <a:tr h="403825">
                <a:tc>
                  <a:txBody>
                    <a:bodyPr/>
                    <a:lstStyle/>
                    <a:p>
                      <a:pPr indent="0" lvl="0" marL="0" marR="0" rtl="0" algn="ctr">
                        <a:lnSpc>
                          <a:spcPct val="100000"/>
                        </a:lnSpc>
                        <a:spcBef>
                          <a:spcPts val="0"/>
                        </a:spcBef>
                        <a:spcAft>
                          <a:spcPts val="0"/>
                        </a:spcAft>
                        <a:buNone/>
                      </a:pPr>
                      <a:r>
                        <a:rPr b="1" lang="en">
                          <a:latin typeface="Nunito"/>
                          <a:ea typeface="Nunito"/>
                          <a:cs typeface="Nunito"/>
                          <a:sym typeface="Nunito"/>
                        </a:rPr>
                        <a:t>WHY_LATAM</a:t>
                      </a:r>
                      <a:endParaRPr b="1">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None/>
                      </a:pPr>
                      <a:r>
                        <a:rPr lang="en">
                          <a:latin typeface="Nunito"/>
                          <a:ea typeface="Nunito"/>
                          <a:cs typeface="Nunito"/>
                          <a:sym typeface="Nunito"/>
                        </a:rPr>
                        <a:t>638</a:t>
                      </a:r>
                      <a:endParaRPr>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None/>
                      </a:pPr>
                      <a:r>
                        <a:rPr lang="en">
                          <a:latin typeface="Nunito"/>
                          <a:ea typeface="Nunito"/>
                          <a:cs typeface="Nunito"/>
                          <a:sym typeface="Nunito"/>
                        </a:rPr>
                        <a:t>608</a:t>
                      </a:r>
                      <a:endParaRPr>
                        <a:latin typeface="Nunito"/>
                        <a:ea typeface="Nunito"/>
                        <a:cs typeface="Nunito"/>
                        <a:sym typeface="Nunito"/>
                      </a:endParaRPr>
                    </a:p>
                  </a:txBody>
                  <a:tcPr marT="91425" marB="91425" marR="91425" marL="91425"/>
                </a:tc>
              </a:tr>
              <a:tr h="363550">
                <a:tc>
                  <a:txBody>
                    <a:bodyPr/>
                    <a:lstStyle/>
                    <a:p>
                      <a:pPr indent="0" lvl="0" marL="0" marR="0" rtl="0" algn="ctr">
                        <a:lnSpc>
                          <a:spcPct val="100000"/>
                        </a:lnSpc>
                        <a:spcBef>
                          <a:spcPts val="0"/>
                        </a:spcBef>
                        <a:spcAft>
                          <a:spcPts val="0"/>
                        </a:spcAft>
                        <a:buNone/>
                      </a:pPr>
                      <a:r>
                        <a:rPr b="1" lang="en">
                          <a:latin typeface="Nunito"/>
                          <a:ea typeface="Nunito"/>
                          <a:cs typeface="Nunito"/>
                          <a:sym typeface="Nunito"/>
                        </a:rPr>
                        <a:t>TOTAL</a:t>
                      </a:r>
                      <a:endParaRPr b="1">
                        <a:latin typeface="Nunito"/>
                        <a:ea typeface="Nunito"/>
                        <a:cs typeface="Nunito"/>
                        <a:sym typeface="Nunito"/>
                      </a:endParaRPr>
                    </a:p>
                  </a:txBody>
                  <a:tcPr marT="91425" marB="91425" marR="91425" marL="91425">
                    <a:solidFill>
                      <a:schemeClr val="dk2"/>
                    </a:solidFill>
                  </a:tcPr>
                </a:tc>
                <a:tc>
                  <a:txBody>
                    <a:bodyPr/>
                    <a:lstStyle/>
                    <a:p>
                      <a:pPr indent="0" lvl="0" marL="0" marR="0" rtl="0" algn="ctr">
                        <a:lnSpc>
                          <a:spcPct val="100000"/>
                        </a:lnSpc>
                        <a:spcBef>
                          <a:spcPts val="0"/>
                        </a:spcBef>
                        <a:spcAft>
                          <a:spcPts val="0"/>
                        </a:spcAft>
                        <a:buNone/>
                      </a:pPr>
                      <a:r>
                        <a:rPr b="1" lang="en">
                          <a:latin typeface="Nunito"/>
                          <a:ea typeface="Nunito"/>
                          <a:cs typeface="Nunito"/>
                          <a:sym typeface="Nunito"/>
                        </a:rPr>
                        <a:t>4.756</a:t>
                      </a:r>
                      <a:endParaRPr b="1">
                        <a:latin typeface="Nunito"/>
                        <a:ea typeface="Nunito"/>
                        <a:cs typeface="Nunito"/>
                        <a:sym typeface="Nunito"/>
                      </a:endParaRPr>
                    </a:p>
                  </a:txBody>
                  <a:tcPr marT="91425" marB="91425" marR="91425" marL="91425">
                    <a:solidFill>
                      <a:schemeClr val="dk2"/>
                    </a:solidFill>
                  </a:tcPr>
                </a:tc>
                <a:tc>
                  <a:txBody>
                    <a:bodyPr/>
                    <a:lstStyle/>
                    <a:p>
                      <a:pPr indent="0" lvl="0" marL="0" marR="0" rtl="0" algn="ctr">
                        <a:lnSpc>
                          <a:spcPct val="100000"/>
                        </a:lnSpc>
                        <a:spcBef>
                          <a:spcPts val="0"/>
                        </a:spcBef>
                        <a:spcAft>
                          <a:spcPts val="0"/>
                        </a:spcAft>
                        <a:buNone/>
                      </a:pPr>
                      <a:r>
                        <a:rPr b="1" lang="en">
                          <a:latin typeface="Nunito"/>
                          <a:ea typeface="Nunito"/>
                          <a:cs typeface="Nunito"/>
                          <a:sym typeface="Nunito"/>
                        </a:rPr>
                        <a:t>4.372</a:t>
                      </a:r>
                      <a:endParaRPr b="1">
                        <a:latin typeface="Nunito"/>
                        <a:ea typeface="Nunito"/>
                        <a:cs typeface="Nunito"/>
                        <a:sym typeface="Nunito"/>
                      </a:endParaRPr>
                    </a:p>
                  </a:txBody>
                  <a:tcPr marT="91425" marB="91425" marR="91425" marL="91425">
                    <a:solidFill>
                      <a:schemeClr val="dk2"/>
                    </a:solidFill>
                  </a:tcPr>
                </a:tc>
              </a:tr>
            </a:tbl>
          </a:graphicData>
        </a:graphic>
      </p:graphicFrame>
      <p:sp>
        <p:nvSpPr>
          <p:cNvPr id="330" name="Google Shape;330;g412c17598e8_0_478"/>
          <p:cNvSpPr txBox="1"/>
          <p:nvPr/>
        </p:nvSpPr>
        <p:spPr>
          <a:xfrm>
            <a:off x="0" y="3783125"/>
            <a:ext cx="9030000" cy="1286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 sz="1100">
                <a:solidFill>
                  <a:schemeClr val="dk1"/>
                </a:solidFill>
                <a:latin typeface="Nunito"/>
                <a:ea typeface="Nunito"/>
                <a:cs typeface="Nunito"/>
                <a:sym typeface="Nunito"/>
              </a:rPr>
              <a:t>Entrada:</a:t>
            </a:r>
            <a:r>
              <a:rPr lang="en" sz="1100">
                <a:solidFill>
                  <a:schemeClr val="dk1"/>
                </a:solidFill>
                <a:latin typeface="Nunito"/>
                <a:ea typeface="Nunito"/>
                <a:cs typeface="Nunito"/>
                <a:sym typeface="Nunito"/>
              </a:rPr>
              <a:t> 01_1_harmonize_sociodemographics/all_sources_integrated_clean_traceability.csv</a:t>
            </a:r>
            <a:endParaRPr sz="1100">
              <a:solidFill>
                <a:schemeClr val="dk1"/>
              </a:solidFill>
              <a:latin typeface="Nunito"/>
              <a:ea typeface="Nunito"/>
              <a:cs typeface="Nunito"/>
              <a:sym typeface="Nunito"/>
            </a:endParaRPr>
          </a:p>
          <a:p>
            <a:pPr indent="0" lvl="0" marL="0" rtl="0" algn="ctr">
              <a:lnSpc>
                <a:spcPct val="115000"/>
              </a:lnSpc>
              <a:spcBef>
                <a:spcPts val="0"/>
              </a:spcBef>
              <a:spcAft>
                <a:spcPts val="0"/>
              </a:spcAft>
              <a:buNone/>
            </a:pPr>
            <a:r>
              <a:rPr b="1" lang="en" sz="1100">
                <a:solidFill>
                  <a:schemeClr val="dk1"/>
                </a:solidFill>
                <a:latin typeface="Nunito"/>
                <a:ea typeface="Nunito"/>
                <a:cs typeface="Nunito"/>
                <a:sym typeface="Nunito"/>
              </a:rPr>
              <a:t>Salida principal:</a:t>
            </a:r>
            <a:r>
              <a:rPr lang="en" sz="1100">
                <a:solidFill>
                  <a:schemeClr val="dk1"/>
                </a:solidFill>
                <a:latin typeface="Nunito"/>
                <a:ea typeface="Nunito"/>
                <a:cs typeface="Nunito"/>
                <a:sym typeface="Nunito"/>
              </a:rPr>
              <a:t> 03_component_quality/matrix_32det_for_clustering.csv</a:t>
            </a:r>
            <a:endParaRPr sz="1100">
              <a:solidFill>
                <a:schemeClr val="dk1"/>
              </a:solidFill>
              <a:latin typeface="Nunito"/>
              <a:ea typeface="Nunito"/>
              <a:cs typeface="Nunito"/>
              <a:sym typeface="Nunito"/>
            </a:endParaRPr>
          </a:p>
          <a:p>
            <a:pPr indent="0" lvl="0" marL="0" rtl="0" algn="ctr">
              <a:lnSpc>
                <a:spcPct val="115000"/>
              </a:lnSpc>
              <a:spcBef>
                <a:spcPts val="0"/>
              </a:spcBef>
              <a:spcAft>
                <a:spcPts val="0"/>
              </a:spcAft>
              <a:buNone/>
            </a:pPr>
            <a:r>
              <a:rPr b="1" lang="en" sz="1100">
                <a:solidFill>
                  <a:schemeClr val="dk1"/>
                </a:solidFill>
                <a:latin typeface="Nunito"/>
                <a:ea typeface="Nunito"/>
                <a:cs typeface="Nunito"/>
                <a:sym typeface="Nunito"/>
              </a:rPr>
              <a:t>Archivo de trazabilidad:</a:t>
            </a:r>
            <a:r>
              <a:rPr lang="en" sz="1100">
                <a:solidFill>
                  <a:schemeClr val="dk1"/>
                </a:solidFill>
                <a:latin typeface="Nunito"/>
                <a:ea typeface="Nunito"/>
                <a:cs typeface="Nunito"/>
                <a:sym typeface="Nunito"/>
              </a:rPr>
              <a:t> 03_component_quality/all_sources_integrated_component_quality.csv</a:t>
            </a:r>
            <a:endParaRPr sz="1100">
              <a:solidFill>
                <a:schemeClr val="dk1"/>
              </a:solidFill>
              <a:latin typeface="Nunito"/>
              <a:ea typeface="Nunito"/>
              <a:cs typeface="Nunito"/>
              <a:sym typeface="Nunito"/>
            </a:endParaRPr>
          </a:p>
          <a:p>
            <a:pPr indent="0" lvl="0" marL="0" rtl="0" algn="ctr">
              <a:lnSpc>
                <a:spcPct val="115000"/>
              </a:lnSpc>
              <a:spcBef>
                <a:spcPts val="1200"/>
              </a:spcBef>
              <a:spcAft>
                <a:spcPts val="1200"/>
              </a:spcAft>
              <a:buNone/>
            </a:pPr>
            <a:r>
              <a:rPr lang="en" sz="1100">
                <a:solidFill>
                  <a:schemeClr val="dk1"/>
                </a:solidFill>
                <a:latin typeface="Nunito"/>
                <a:ea typeface="Nunito"/>
                <a:cs typeface="Nunito"/>
                <a:sym typeface="Nunito"/>
              </a:rPr>
              <a:t>El primero de los archivos de salida contiene los casos seleccionados para clustering; el segundo conserva el dataset con la información de calidad.</a:t>
            </a:r>
            <a:endParaRPr sz="1100">
              <a:solidFill>
                <a:schemeClr val="dk1"/>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412c17598e8_0_60"/>
          <p:cNvSpPr txBox="1"/>
          <p:nvPr>
            <p:ph idx="1" type="subTitle"/>
          </p:nvPr>
        </p:nvSpPr>
        <p:spPr>
          <a:xfrm>
            <a:off x="828075" y="1493263"/>
            <a:ext cx="7356000" cy="2496600"/>
          </a:xfrm>
          <a:prstGeom prst="rect">
            <a:avLst/>
          </a:prstGeom>
          <a:noFill/>
          <a:ln>
            <a:noFill/>
          </a:ln>
        </p:spPr>
        <p:txBody>
          <a:bodyPr anchorCtr="0" anchor="t" bIns="91425" lIns="91425" spcFirstLastPara="1" rIns="91425" wrap="square" tIns="91425">
            <a:noAutofit/>
          </a:bodyPr>
          <a:lstStyle/>
          <a:p>
            <a:pPr indent="-317500" lvl="0" marL="457200" rtl="0" algn="just">
              <a:lnSpc>
                <a:spcPct val="115000"/>
              </a:lnSpc>
              <a:spcBef>
                <a:spcPts val="120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Añade puntuaciones por dimensiones:</a:t>
            </a:r>
            <a:r>
              <a:rPr lang="en" sz="1400">
                <a:solidFill>
                  <a:srgbClr val="000000"/>
                </a:solidFill>
                <a:latin typeface="Nunito"/>
                <a:ea typeface="Nunito"/>
                <a:cs typeface="Nunito"/>
                <a:sym typeface="Nunito"/>
              </a:rPr>
              <a:t> agrupa los 32 determinantes en dimensiones teóricas y calcula puntuaciones asociadas.</a:t>
            </a:r>
            <a:endParaRPr sz="1400">
              <a:solidFill>
                <a:srgbClr val="000000"/>
              </a:solidFill>
              <a:latin typeface="Nunito"/>
              <a:ea typeface="Nunito"/>
              <a:cs typeface="Nunito"/>
              <a:sym typeface="Nunito"/>
            </a:endParaRPr>
          </a:p>
          <a:p>
            <a:pPr indent="-317500" lvl="0" marL="457200" rtl="0" algn="just">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Relaciona fases de decisión con dimensiones:</a:t>
            </a:r>
            <a:r>
              <a:rPr lang="en" sz="1400">
                <a:solidFill>
                  <a:srgbClr val="000000"/>
                </a:solidFill>
                <a:latin typeface="Nunito"/>
                <a:ea typeface="Nunito"/>
                <a:cs typeface="Nunito"/>
                <a:sym typeface="Nunito"/>
              </a:rPr>
              <a:t> procesa bloques de RENOVISOR como </a:t>
            </a:r>
            <a:r>
              <a:rPr i="1" lang="en" sz="1400">
                <a:solidFill>
                  <a:srgbClr val="000000"/>
                </a:solidFill>
                <a:latin typeface="Nunito"/>
                <a:ea typeface="Nunito"/>
                <a:cs typeface="Nunito"/>
                <a:sym typeface="Nunito"/>
              </a:rPr>
              <a:t>implementada</a:t>
            </a:r>
            <a:r>
              <a:rPr lang="en" sz="1400">
                <a:solidFill>
                  <a:srgbClr val="000000"/>
                </a:solidFill>
                <a:latin typeface="Nunito"/>
                <a:ea typeface="Nunito"/>
                <a:cs typeface="Nunito"/>
                <a:sym typeface="Nunito"/>
              </a:rPr>
              <a:t>, </a:t>
            </a:r>
            <a:r>
              <a:rPr i="1" lang="en" sz="1400">
                <a:solidFill>
                  <a:srgbClr val="000000"/>
                </a:solidFill>
                <a:latin typeface="Nunito"/>
                <a:ea typeface="Nunito"/>
                <a:cs typeface="Nunito"/>
                <a:sym typeface="Nunito"/>
              </a:rPr>
              <a:t>la conoce/la consideraría</a:t>
            </a:r>
            <a:r>
              <a:rPr lang="en" sz="1400">
                <a:solidFill>
                  <a:srgbClr val="000000"/>
                </a:solidFill>
                <a:latin typeface="Nunito"/>
                <a:ea typeface="Nunito"/>
                <a:cs typeface="Nunito"/>
                <a:sym typeface="Nunito"/>
              </a:rPr>
              <a:t> y </a:t>
            </a:r>
            <a:r>
              <a:rPr i="1" lang="en" sz="1400">
                <a:solidFill>
                  <a:srgbClr val="000000"/>
                </a:solidFill>
                <a:latin typeface="Nunito"/>
                <a:ea typeface="Nunito"/>
                <a:cs typeface="Nunito"/>
                <a:sym typeface="Nunito"/>
              </a:rPr>
              <a:t>no la conoce, le genera curiosidad</a:t>
            </a:r>
            <a:r>
              <a:rPr lang="en" sz="1400">
                <a:solidFill>
                  <a:srgbClr val="000000"/>
                </a:solidFill>
                <a:latin typeface="Nunito"/>
                <a:ea typeface="Nunito"/>
                <a:cs typeface="Nunito"/>
                <a:sym typeface="Nunito"/>
              </a:rPr>
              <a:t>.</a:t>
            </a:r>
            <a:endParaRPr sz="1400">
              <a:solidFill>
                <a:srgbClr val="000000"/>
              </a:solidFill>
              <a:latin typeface="Nunito"/>
              <a:ea typeface="Nunito"/>
              <a:cs typeface="Nunito"/>
              <a:sym typeface="Nunito"/>
            </a:endParaRPr>
          </a:p>
          <a:p>
            <a:pPr indent="-317500" lvl="0" marL="457200" rtl="0" algn="just">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Genera variables derivadas:</a:t>
            </a:r>
            <a:r>
              <a:rPr lang="en" sz="1400">
                <a:solidFill>
                  <a:srgbClr val="000000"/>
                </a:solidFill>
                <a:latin typeface="Nunito"/>
                <a:ea typeface="Nunito"/>
                <a:cs typeface="Nunito"/>
                <a:sym typeface="Nunito"/>
              </a:rPr>
              <a:t> crea flags de dimensiones seleccionadas, pesos 0/1 para determinantes y medias de puntuación por fase.</a:t>
            </a:r>
            <a:endParaRPr sz="1400">
              <a:solidFill>
                <a:srgbClr val="000000"/>
              </a:solidFill>
              <a:latin typeface="Nunito"/>
              <a:ea typeface="Nunito"/>
              <a:cs typeface="Nunito"/>
              <a:sym typeface="Nunito"/>
            </a:endParaRPr>
          </a:p>
          <a:p>
            <a:pPr indent="-317500" lvl="0" marL="457200" rtl="0" algn="just">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Mantiene la estructura del dataset:</a:t>
            </a:r>
            <a:r>
              <a:rPr lang="en" sz="1400">
                <a:solidFill>
                  <a:srgbClr val="000000"/>
                </a:solidFill>
                <a:latin typeface="Nunito"/>
                <a:ea typeface="Nunito"/>
                <a:cs typeface="Nunito"/>
                <a:sym typeface="Nunito"/>
              </a:rPr>
              <a:t> no cambia el número de filas; enriquece el dataset de calidad con nuevas columnas.</a:t>
            </a:r>
            <a:endParaRPr sz="1400">
              <a:solidFill>
                <a:srgbClr val="000000"/>
              </a:solidFill>
              <a:latin typeface="Nunito"/>
              <a:ea typeface="Nunito"/>
              <a:cs typeface="Nunito"/>
              <a:sym typeface="Nunito"/>
            </a:endParaRPr>
          </a:p>
          <a:p>
            <a:pPr indent="-317500" lvl="0" marL="457200" rtl="0" algn="just">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Crea el mapeo 32 determinantes → dimensiones:</a:t>
            </a:r>
            <a:r>
              <a:rPr lang="en" sz="1400">
                <a:solidFill>
                  <a:srgbClr val="000000"/>
                </a:solidFill>
                <a:latin typeface="Nunito"/>
                <a:ea typeface="Nunito"/>
                <a:cs typeface="Nunito"/>
                <a:sym typeface="Nunito"/>
              </a:rPr>
              <a:t> archivo clave que después se utiliza en la construcción de matrices.</a:t>
            </a:r>
            <a:endParaRPr sz="1400">
              <a:solidFill>
                <a:srgbClr val="000000"/>
              </a:solidFill>
              <a:latin typeface="Nunito"/>
              <a:ea typeface="Nunito"/>
              <a:cs typeface="Nunito"/>
              <a:sym typeface="Nunito"/>
            </a:endParaRPr>
          </a:p>
        </p:txBody>
      </p:sp>
      <p:sp>
        <p:nvSpPr>
          <p:cNvPr id="336" name="Google Shape;336;g412c17598e8_0_60"/>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Dimensiones teóricas y fases de decisión</a:t>
            </a:r>
            <a:endParaRPr/>
          </a:p>
          <a:p>
            <a:pPr indent="0" lvl="0" marL="0" rtl="0" algn="l">
              <a:lnSpc>
                <a:spcPct val="115000"/>
              </a:lnSpc>
              <a:spcBef>
                <a:spcPts val="1200"/>
              </a:spcBef>
              <a:spcAft>
                <a:spcPts val="1200"/>
              </a:spcAft>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03_2_add_phase_dimension_scores.R</a:t>
            </a:r>
            <a:endParaRPr sz="1100">
              <a:solidFill>
                <a:srgbClr val="188038"/>
              </a:solidFill>
              <a:latin typeface="Nunito"/>
              <a:ea typeface="Nunito"/>
              <a:cs typeface="Nunito"/>
              <a:sym typeface="Nunito"/>
            </a:endParaRPr>
          </a:p>
        </p:txBody>
      </p:sp>
      <p:sp>
        <p:nvSpPr>
          <p:cNvPr id="337" name="Google Shape;337;g412c17598e8_0_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38" name="Google Shape;338;g412c17598e8_0_60"/>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339" name="Google Shape;339;g412c17598e8_0_60"/>
          <p:cNvSpPr txBox="1"/>
          <p:nvPr/>
        </p:nvSpPr>
        <p:spPr>
          <a:xfrm>
            <a:off x="644400" y="4326050"/>
            <a:ext cx="78552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latin typeface="Nunito"/>
                <a:ea typeface="Nunito"/>
                <a:cs typeface="Nunito"/>
                <a:sym typeface="Nunito"/>
              </a:rPr>
              <a:t>Salida principal:</a:t>
            </a:r>
            <a:r>
              <a:rPr lang="en" sz="1100">
                <a:latin typeface="Nunito"/>
                <a:ea typeface="Nunito"/>
                <a:cs typeface="Nunito"/>
                <a:sym typeface="Nunito"/>
              </a:rPr>
              <a:t> </a:t>
            </a:r>
            <a:r>
              <a:rPr lang="en" sz="1100">
                <a:solidFill>
                  <a:srgbClr val="188038"/>
                </a:solidFill>
                <a:latin typeface="Nunito"/>
                <a:ea typeface="Nunito"/>
                <a:cs typeface="Nunito"/>
                <a:sym typeface="Nunito"/>
              </a:rPr>
              <a:t>03_2_phase_dimension_scores/all_sources_integrated_component_quality_phase_scores.csv</a:t>
            </a:r>
            <a:endParaRPr sz="1100">
              <a:solidFill>
                <a:srgbClr val="188038"/>
              </a:solidFill>
              <a:latin typeface="Nunito"/>
              <a:ea typeface="Nunito"/>
              <a:cs typeface="Nunito"/>
              <a:sym typeface="Nunito"/>
            </a:endParaRPr>
          </a:p>
          <a:p>
            <a:pPr indent="0" lvl="0" marL="0" rtl="0" algn="ctr">
              <a:spcBef>
                <a:spcPts val="0"/>
              </a:spcBef>
              <a:spcAft>
                <a:spcPts val="0"/>
              </a:spcAft>
              <a:buNone/>
            </a:pPr>
            <a:r>
              <a:rPr b="1" lang="en" sz="1100">
                <a:latin typeface="Nunito"/>
                <a:ea typeface="Nunito"/>
                <a:cs typeface="Nunito"/>
                <a:sym typeface="Nunito"/>
              </a:rPr>
              <a:t>Archivo clave:</a:t>
            </a:r>
            <a:r>
              <a:rPr lang="en" sz="1100">
                <a:latin typeface="Nunito"/>
                <a:ea typeface="Nunito"/>
                <a:cs typeface="Nunito"/>
                <a:sym typeface="Nunito"/>
              </a:rPr>
              <a:t> </a:t>
            </a:r>
            <a:r>
              <a:rPr lang="en" sz="1100">
                <a:solidFill>
                  <a:srgbClr val="188038"/>
                </a:solidFill>
                <a:latin typeface="Nunito"/>
                <a:ea typeface="Nunito"/>
                <a:cs typeface="Nunito"/>
                <a:sym typeface="Nunito"/>
              </a:rPr>
              <a:t>03_2_phase_dimension_scores/dimension_determinant_mapping.csv</a:t>
            </a:r>
            <a:endParaRPr sz="1100">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412c17598e8_0_68"/>
          <p:cNvSpPr txBox="1"/>
          <p:nvPr>
            <p:ph idx="1" type="subTitle"/>
          </p:nvPr>
        </p:nvSpPr>
        <p:spPr>
          <a:xfrm>
            <a:off x="787675" y="1466875"/>
            <a:ext cx="7769100" cy="2496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Verifica la integración de las fuentes:</a:t>
            </a:r>
            <a:r>
              <a:rPr lang="en" sz="1400">
                <a:solidFill>
                  <a:srgbClr val="000000"/>
                </a:solidFill>
                <a:latin typeface="Nunito"/>
                <a:ea typeface="Nunito"/>
                <a:cs typeface="Nunito"/>
                <a:sym typeface="Nunito"/>
              </a:rPr>
              <a:t> comprueba los tamaños de DIEGO, RENOVISOR, WHY_EUROPE y WHY_LATAM y la coherencia del conjunto de datos.</a:t>
            </a:r>
            <a:endParaRPr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Resume la calidad de los determinantes:</a:t>
            </a:r>
            <a:r>
              <a:rPr lang="en" sz="1400">
                <a:solidFill>
                  <a:srgbClr val="000000"/>
                </a:solidFill>
                <a:latin typeface="Nunito"/>
                <a:ea typeface="Nunito"/>
                <a:cs typeface="Nunito"/>
                <a:sym typeface="Nunito"/>
              </a:rPr>
              <a:t> analiza los valores ausentes, la disponibilidad de los 32 determinantes y el número de participantes utilizables para clustering.</a:t>
            </a:r>
            <a:endParaRPr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Evalúa la cobertura de otras variables:</a:t>
            </a:r>
            <a:r>
              <a:rPr lang="en" sz="1400">
                <a:solidFill>
                  <a:srgbClr val="000000"/>
                </a:solidFill>
                <a:latin typeface="Nunito"/>
                <a:ea typeface="Nunito"/>
                <a:cs typeface="Nunito"/>
                <a:sym typeface="Nunito"/>
              </a:rPr>
              <a:t> revisa la disponibilidad de información sociodemográfica, política y de las variables necesarias para el modelo de propensión.</a:t>
            </a:r>
            <a:endParaRPr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Comprueba las dimensiones y fases de decisión:</a:t>
            </a:r>
            <a:r>
              <a:rPr lang="en" sz="1400">
                <a:solidFill>
                  <a:srgbClr val="000000"/>
                </a:solidFill>
                <a:latin typeface="Nunito"/>
                <a:ea typeface="Nunito"/>
                <a:cs typeface="Nunito"/>
                <a:sym typeface="Nunito"/>
              </a:rPr>
              <a:t> resume la disponibilidad, calidad y puntuaciones de las variables generadas en </a:t>
            </a:r>
            <a:r>
              <a:rPr lang="en" sz="1400">
                <a:solidFill>
                  <a:srgbClr val="188038"/>
                </a:solidFill>
                <a:latin typeface="Nunito"/>
                <a:ea typeface="Nunito"/>
                <a:cs typeface="Nunito"/>
                <a:sym typeface="Nunito"/>
              </a:rPr>
              <a:t>03_2</a:t>
            </a:r>
            <a:r>
              <a:rPr lang="en" sz="1400">
                <a:solidFill>
                  <a:srgbClr val="000000"/>
                </a:solidFill>
                <a:latin typeface="Nunito"/>
                <a:ea typeface="Nunito"/>
                <a:cs typeface="Nunito"/>
                <a:sym typeface="Nunito"/>
              </a:rPr>
              <a:t>.</a:t>
            </a:r>
            <a:endParaRPr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Valida la muestra previa al bootstrap:</a:t>
            </a:r>
            <a:r>
              <a:rPr lang="en" sz="1400">
                <a:solidFill>
                  <a:srgbClr val="000000"/>
                </a:solidFill>
                <a:latin typeface="Nunito"/>
                <a:ea typeface="Nunito"/>
                <a:cs typeface="Nunito"/>
                <a:sym typeface="Nunito"/>
              </a:rPr>
              <a:t> confirma que el número total de participantes utilizables para clustering coincide con la suma de las cuatro submuestras.</a:t>
            </a:r>
            <a:endParaRPr sz="1400">
              <a:solidFill>
                <a:srgbClr val="000000"/>
              </a:solidFill>
              <a:latin typeface="Nunito"/>
              <a:ea typeface="Nunito"/>
              <a:cs typeface="Nunito"/>
              <a:sym typeface="Nunito"/>
            </a:endParaRPr>
          </a:p>
        </p:txBody>
      </p:sp>
      <p:sp>
        <p:nvSpPr>
          <p:cNvPr id="345" name="Google Shape;345;g412c17598e8_0_68"/>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Auditoría del dataset antes del bootstrap</a:t>
            </a:r>
            <a:endParaRPr/>
          </a:p>
          <a:p>
            <a:pPr indent="0" lvl="0" marL="0" rtl="0" algn="l">
              <a:lnSpc>
                <a:spcPct val="115000"/>
              </a:lnSpc>
              <a:spcBef>
                <a:spcPts val="1200"/>
              </a:spcBef>
              <a:spcAft>
                <a:spcPts val="1200"/>
              </a:spcAft>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03_3_summary_dataset_status.R</a:t>
            </a:r>
            <a:endParaRPr/>
          </a:p>
        </p:txBody>
      </p:sp>
      <p:sp>
        <p:nvSpPr>
          <p:cNvPr id="346" name="Google Shape;346;g412c17598e8_0_6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47" name="Google Shape;347;g412c17598e8_0_68"/>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348" name="Google Shape;348;g412c17598e8_0_68"/>
          <p:cNvSpPr txBox="1"/>
          <p:nvPr/>
        </p:nvSpPr>
        <p:spPr>
          <a:xfrm>
            <a:off x="491400" y="4107725"/>
            <a:ext cx="8161200" cy="743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100">
                <a:solidFill>
                  <a:schemeClr val="dk1"/>
                </a:solidFill>
                <a:latin typeface="Nunito"/>
                <a:ea typeface="Nunito"/>
                <a:cs typeface="Nunito"/>
                <a:sym typeface="Nunito"/>
              </a:rPr>
              <a:t>Archivos clave</a:t>
            </a:r>
            <a:r>
              <a:rPr lang="en" sz="1100">
                <a:solidFill>
                  <a:srgbClr val="188038"/>
                </a:solidFill>
                <a:latin typeface="Nunito"/>
                <a:ea typeface="Nunito"/>
                <a:cs typeface="Nunito"/>
                <a:sym typeface="Nunito"/>
              </a:rPr>
              <a:t>: </a:t>
            </a:r>
            <a:r>
              <a:rPr lang="en" sz="1100">
                <a:solidFill>
                  <a:srgbClr val="188038"/>
                </a:solidFill>
                <a:latin typeface="Nunito"/>
                <a:ea typeface="Nunito"/>
                <a:cs typeface="Nunito"/>
                <a:sym typeface="Nunito"/>
              </a:rPr>
              <a:t>summary_99_final_overview.csv</a:t>
            </a:r>
            <a:r>
              <a:rPr lang="en" sz="1100">
                <a:latin typeface="Nunito"/>
                <a:ea typeface="Nunito"/>
                <a:cs typeface="Nunito"/>
                <a:sym typeface="Nunito"/>
              </a:rPr>
              <a:t> → resumen general del estado del dataset.</a:t>
            </a:r>
            <a:endParaRPr sz="1100">
              <a:latin typeface="Nunito"/>
              <a:ea typeface="Nunito"/>
              <a:cs typeface="Nunito"/>
              <a:sym typeface="Nunito"/>
            </a:endParaRPr>
          </a:p>
          <a:p>
            <a:pPr indent="0" lvl="0" marL="0" rtl="0" algn="ctr">
              <a:lnSpc>
                <a:spcPct val="115000"/>
              </a:lnSpc>
              <a:spcBef>
                <a:spcPts val="0"/>
              </a:spcBef>
              <a:spcAft>
                <a:spcPts val="0"/>
              </a:spcAft>
              <a:buNone/>
            </a:pPr>
            <a:r>
              <a:rPr lang="en" sz="1100">
                <a:solidFill>
                  <a:srgbClr val="188038"/>
                </a:solidFill>
                <a:latin typeface="Nunito"/>
                <a:ea typeface="Nunito"/>
                <a:cs typeface="Nunito"/>
                <a:sym typeface="Nunito"/>
              </a:rPr>
              <a:t>summary_18_clustering_sample_sizes.csv</a:t>
            </a:r>
            <a:r>
              <a:rPr lang="en" sz="1100">
                <a:latin typeface="Nunito"/>
                <a:ea typeface="Nunito"/>
                <a:cs typeface="Nunito"/>
                <a:sym typeface="Nunito"/>
              </a:rPr>
              <a:t> → participantes disponibles para clustering por submuestra.</a:t>
            </a:r>
            <a:endParaRPr sz="1100">
              <a:latin typeface="Nunito"/>
              <a:ea typeface="Nunito"/>
              <a:cs typeface="Nunito"/>
              <a:sym typeface="Nunito"/>
            </a:endParaRPr>
          </a:p>
          <a:p>
            <a:pPr indent="0" lvl="0" marL="0" rtl="0" algn="ctr">
              <a:lnSpc>
                <a:spcPct val="115000"/>
              </a:lnSpc>
              <a:spcBef>
                <a:spcPts val="0"/>
              </a:spcBef>
              <a:spcAft>
                <a:spcPts val="0"/>
              </a:spcAft>
              <a:buNone/>
            </a:pPr>
            <a:r>
              <a:rPr lang="en" sz="1100">
                <a:solidFill>
                  <a:srgbClr val="188038"/>
                </a:solidFill>
                <a:latin typeface="Nunito"/>
                <a:ea typeface="Nunito"/>
                <a:cs typeface="Nunito"/>
                <a:sym typeface="Nunito"/>
              </a:rPr>
              <a:t>summary_10_propensity_readiness_by_sample.csv</a:t>
            </a:r>
            <a:r>
              <a:rPr lang="en" sz="1100">
                <a:latin typeface="Nunito"/>
                <a:ea typeface="Nunito"/>
                <a:cs typeface="Nunito"/>
                <a:sym typeface="Nunito"/>
              </a:rPr>
              <a:t> → disponibilidad de las variables necesarias para el modelo de propensión.</a:t>
            </a:r>
            <a:endParaRPr sz="1100">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412c17598e8_0_76"/>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Figuras</a:t>
            </a:r>
            <a:r>
              <a:rPr lang="en"/>
              <a:t> descriptivas del dataset</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03_4_figures.R</a:t>
            </a:r>
            <a:endParaRPr>
              <a:latin typeface="Nunito Medium"/>
              <a:ea typeface="Nunito Medium"/>
              <a:cs typeface="Nunito Medium"/>
              <a:sym typeface="Nunito Medium"/>
            </a:endParaRPr>
          </a:p>
        </p:txBody>
      </p:sp>
      <p:sp>
        <p:nvSpPr>
          <p:cNvPr id="354" name="Google Shape;354;g412c17598e8_0_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55" name="Google Shape;355;g412c17598e8_0_76"/>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356" name="Google Shape;356;g412c17598e8_0_76" title="08_determinant_coverage_by_subsample.png"/>
          <p:cNvPicPr preferRelativeResize="0"/>
          <p:nvPr/>
        </p:nvPicPr>
        <p:blipFill>
          <a:blip r:embed="rId4">
            <a:alphaModFix/>
          </a:blip>
          <a:stretch>
            <a:fillRect/>
          </a:stretch>
        </p:blipFill>
        <p:spPr>
          <a:xfrm>
            <a:off x="1347276" y="1281600"/>
            <a:ext cx="6449449" cy="3195774"/>
          </a:xfrm>
          <a:prstGeom prst="rect">
            <a:avLst/>
          </a:prstGeom>
          <a:noFill/>
          <a:ln>
            <a:noFill/>
          </a:ln>
        </p:spPr>
      </p:pic>
      <p:sp>
        <p:nvSpPr>
          <p:cNvPr id="357" name="Google Shape;357;g412c17598e8_0_76"/>
          <p:cNvSpPr txBox="1"/>
          <p:nvPr/>
        </p:nvSpPr>
        <p:spPr>
          <a:xfrm>
            <a:off x="1669350" y="4520050"/>
            <a:ext cx="5805300" cy="591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800">
                <a:latin typeface="Nunito"/>
                <a:ea typeface="Nunito"/>
                <a:cs typeface="Nunito"/>
                <a:sym typeface="Nunito"/>
              </a:rPr>
              <a:t>Salida:</a:t>
            </a:r>
            <a:r>
              <a:rPr lang="en" sz="800">
                <a:latin typeface="Nunito"/>
                <a:ea typeface="Nunito"/>
                <a:cs typeface="Nunito"/>
                <a:sym typeface="Nunito"/>
              </a:rPr>
              <a:t> </a:t>
            </a:r>
            <a:r>
              <a:rPr lang="en" sz="800">
                <a:solidFill>
                  <a:srgbClr val="188038"/>
                </a:solidFill>
                <a:latin typeface="Nunito"/>
                <a:ea typeface="Nunito"/>
                <a:cs typeface="Nunito"/>
                <a:sym typeface="Nunito"/>
              </a:rPr>
              <a:t>data/processed/03_4_figures_current_dataset_status/</a:t>
            </a:r>
            <a:endParaRPr sz="800">
              <a:solidFill>
                <a:srgbClr val="188038"/>
              </a:solidFill>
              <a:latin typeface="Nunito"/>
              <a:ea typeface="Nunito"/>
              <a:cs typeface="Nunito"/>
              <a:sym typeface="Nunito"/>
            </a:endParaRPr>
          </a:p>
          <a:p>
            <a:pPr indent="0" lvl="0" marL="0" rtl="0" algn="ctr">
              <a:lnSpc>
                <a:spcPct val="115000"/>
              </a:lnSpc>
              <a:spcBef>
                <a:spcPts val="0"/>
              </a:spcBef>
              <a:spcAft>
                <a:spcPts val="0"/>
              </a:spcAft>
              <a:buNone/>
            </a:pPr>
            <a:r>
              <a:rPr b="1" lang="en" sz="800">
                <a:latin typeface="Nunito"/>
                <a:ea typeface="Nunito"/>
                <a:cs typeface="Nunito"/>
                <a:sym typeface="Nunito"/>
              </a:rPr>
              <a:t>Resultado:</a:t>
            </a:r>
            <a:r>
              <a:rPr lang="en" sz="800">
                <a:latin typeface="Nunito"/>
                <a:ea typeface="Nunito"/>
                <a:cs typeface="Nunito"/>
                <a:sym typeface="Nunito"/>
              </a:rPr>
              <a:t> 21 figuras descriptivas sobre composición de las muestras, calidad, determinantes, variables sociodemográficas, propensión y fases de decisión.</a:t>
            </a:r>
            <a:endParaRPr sz="800">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412c17598e8_0_514"/>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Figuras descriptivas del dataset</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03_4_figures.R</a:t>
            </a:r>
            <a:endParaRPr>
              <a:latin typeface="Nunito Medium"/>
              <a:ea typeface="Nunito Medium"/>
              <a:cs typeface="Nunito Medium"/>
              <a:sym typeface="Nunito Medium"/>
            </a:endParaRPr>
          </a:p>
        </p:txBody>
      </p:sp>
      <p:sp>
        <p:nvSpPr>
          <p:cNvPr id="363" name="Google Shape;363;g412c17598e8_0_5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64" name="Google Shape;364;g412c17598e8_0_514"/>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365" name="Google Shape;365;g412c17598e8_0_514" title="12_propensity_variable_coverage_by_subsample.png"/>
          <p:cNvPicPr preferRelativeResize="0"/>
          <p:nvPr/>
        </p:nvPicPr>
        <p:blipFill>
          <a:blip r:embed="rId4">
            <a:alphaModFix/>
          </a:blip>
          <a:stretch>
            <a:fillRect/>
          </a:stretch>
        </p:blipFill>
        <p:spPr>
          <a:xfrm>
            <a:off x="803400" y="1234850"/>
            <a:ext cx="7537198" cy="3741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412c17598e8_0_557"/>
          <p:cNvSpPr txBox="1"/>
          <p:nvPr>
            <p:ph type="title"/>
          </p:nvPr>
        </p:nvSpPr>
        <p:spPr>
          <a:xfrm>
            <a:off x="498875" y="3328050"/>
            <a:ext cx="8351100" cy="125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4700"/>
              <a:t>Construcción del bootstrap</a:t>
            </a:r>
            <a:endParaRPr sz="4700"/>
          </a:p>
        </p:txBody>
      </p:sp>
      <p:sp>
        <p:nvSpPr>
          <p:cNvPr id="371" name="Google Shape;371;g412c17598e8_0_557"/>
          <p:cNvSpPr txBox="1"/>
          <p:nvPr>
            <p:ph idx="2" type="title"/>
          </p:nvPr>
        </p:nvSpPr>
        <p:spPr>
          <a:xfrm>
            <a:off x="715100" y="2074250"/>
            <a:ext cx="7708800" cy="125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03</a:t>
            </a:r>
            <a:endParaRPr/>
          </a:p>
        </p:txBody>
      </p:sp>
      <p:sp>
        <p:nvSpPr>
          <p:cNvPr id="372" name="Google Shape;372;g412c17598e8_0_55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73" name="Google Shape;373;g412c17598e8_0_557"/>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412c17598e8_0_84"/>
          <p:cNvSpPr txBox="1"/>
          <p:nvPr>
            <p:ph idx="1" type="subTitle"/>
          </p:nvPr>
        </p:nvSpPr>
        <p:spPr>
          <a:xfrm>
            <a:off x="782025" y="1453625"/>
            <a:ext cx="7528800" cy="219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400">
                <a:solidFill>
                  <a:srgbClr val="000000"/>
                </a:solidFill>
                <a:latin typeface="Nunito"/>
                <a:ea typeface="Nunito"/>
                <a:cs typeface="Nunito"/>
                <a:sym typeface="Nunito"/>
              </a:rPr>
              <a:t>¿Por qué lo utilizamos en este proyecto?</a:t>
            </a:r>
            <a:endParaRPr b="1" sz="1400">
              <a:solidFill>
                <a:srgbClr val="000000"/>
              </a:solidFill>
              <a:latin typeface="Nunito"/>
              <a:ea typeface="Nunito"/>
              <a:cs typeface="Nunito"/>
              <a:sym typeface="Nunito"/>
            </a:endParaRPr>
          </a:p>
          <a:p>
            <a:pPr indent="-317500" lvl="0" marL="457200" rtl="0" algn="l">
              <a:lnSpc>
                <a:spcPct val="115000"/>
              </a:lnSpc>
              <a:spcBef>
                <a:spcPts val="120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Analizar la estabilidad de los resultados:</a:t>
            </a:r>
            <a:r>
              <a:rPr lang="en" sz="1400">
                <a:solidFill>
                  <a:srgbClr val="000000"/>
                </a:solidFill>
                <a:latin typeface="Nunito"/>
                <a:ea typeface="Nunito"/>
                <a:cs typeface="Nunito"/>
                <a:sym typeface="Nunito"/>
              </a:rPr>
              <a:t> comprobar cómo cambian los clusters y los factores cuando cambia la muestra de participantes.</a:t>
            </a:r>
            <a:endParaRPr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Reducir la dependencia de una única muestra:</a:t>
            </a:r>
            <a:r>
              <a:rPr lang="en" sz="1400">
                <a:solidFill>
                  <a:srgbClr val="000000"/>
                </a:solidFill>
                <a:latin typeface="Nunito"/>
                <a:ea typeface="Nunito"/>
                <a:cs typeface="Nunito"/>
                <a:sym typeface="Nunito"/>
              </a:rPr>
              <a:t> estudiar si las estructuras identificadas se mantienen al repetir los análisis sobre distintas réplicas.</a:t>
            </a:r>
            <a:endParaRPr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Incorporar criterios de selección:</a:t>
            </a:r>
            <a:r>
              <a:rPr lang="en" sz="1400">
                <a:solidFill>
                  <a:srgbClr val="000000"/>
                </a:solidFill>
                <a:latin typeface="Nunito"/>
                <a:ea typeface="Nunito"/>
                <a:cs typeface="Nunito"/>
                <a:sym typeface="Nunito"/>
              </a:rPr>
              <a:t> utilizar procedimientos de remuestreo adaptados a la información y los objetivos definidos para cada región.</a:t>
            </a:r>
            <a:endParaRPr sz="1400">
              <a:solidFill>
                <a:srgbClr val="000000"/>
              </a:solidFill>
              <a:latin typeface="Nunito"/>
              <a:ea typeface="Nunito"/>
              <a:cs typeface="Nunito"/>
              <a:sym typeface="Nunito"/>
            </a:endParaRPr>
          </a:p>
          <a:p>
            <a:pPr indent="0" lvl="0" marL="0" rtl="0" algn="l">
              <a:lnSpc>
                <a:spcPct val="115000"/>
              </a:lnSpc>
              <a:spcBef>
                <a:spcPts val="1200"/>
              </a:spcBef>
              <a:spcAft>
                <a:spcPts val="0"/>
              </a:spcAft>
              <a:buNone/>
            </a:pPr>
            <a:r>
              <a:t/>
            </a:r>
            <a:endParaRPr sz="1400">
              <a:solidFill>
                <a:srgbClr val="000000"/>
              </a:solidFill>
              <a:latin typeface="Nunito"/>
              <a:ea typeface="Nunito"/>
              <a:cs typeface="Nunito"/>
              <a:sym typeface="Nunito"/>
            </a:endParaRPr>
          </a:p>
          <a:p>
            <a:pPr indent="0" lvl="0" marL="0" rtl="0" algn="ctr">
              <a:lnSpc>
                <a:spcPct val="115000"/>
              </a:lnSpc>
              <a:spcBef>
                <a:spcPts val="1200"/>
              </a:spcBef>
              <a:spcAft>
                <a:spcPts val="0"/>
              </a:spcAft>
              <a:buNone/>
            </a:pPr>
            <a:r>
              <a:rPr b="1" lang="en" sz="1400">
                <a:solidFill>
                  <a:srgbClr val="000000"/>
                </a:solidFill>
                <a:latin typeface="Nunito"/>
                <a:ea typeface="Nunito"/>
                <a:cs typeface="Nunito"/>
                <a:sym typeface="Nunito"/>
              </a:rPr>
              <a:t>Participantes disponibles → Remuestreo → 1.000 muestras → K-means y EFA → Análisis de estabilidad</a:t>
            </a:r>
            <a:endParaRPr sz="1400">
              <a:solidFill>
                <a:srgbClr val="000000"/>
              </a:solidFill>
              <a:latin typeface="Nunito"/>
              <a:ea typeface="Nunito"/>
              <a:cs typeface="Nunito"/>
              <a:sym typeface="Nunito"/>
            </a:endParaRPr>
          </a:p>
          <a:p>
            <a:pPr indent="0" lvl="0" marL="0" rtl="0" algn="just">
              <a:lnSpc>
                <a:spcPct val="100000"/>
              </a:lnSpc>
              <a:spcBef>
                <a:spcPts val="1200"/>
              </a:spcBef>
              <a:spcAft>
                <a:spcPts val="0"/>
              </a:spcAft>
              <a:buSzPts val="1200"/>
              <a:buNone/>
            </a:pPr>
            <a:r>
              <a:t/>
            </a:r>
            <a:endParaRPr b="1" sz="1400">
              <a:solidFill>
                <a:srgbClr val="000000"/>
              </a:solidFill>
              <a:latin typeface="Nunito"/>
              <a:ea typeface="Nunito"/>
              <a:cs typeface="Nunito"/>
              <a:sym typeface="Nunito"/>
            </a:endParaRPr>
          </a:p>
        </p:txBody>
      </p:sp>
      <p:sp>
        <p:nvSpPr>
          <p:cNvPr id="379" name="Google Shape;379;g412c17598e8_0_84"/>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¿Por qué utilizamos bootstrap?</a:t>
            </a:r>
            <a:endParaRPr/>
          </a:p>
          <a:p>
            <a:pPr indent="0" lvl="0" marL="0" rtl="0" algn="l">
              <a:lnSpc>
                <a:spcPct val="115000"/>
              </a:lnSpc>
              <a:spcBef>
                <a:spcPts val="1200"/>
              </a:spcBef>
              <a:spcAft>
                <a:spcPts val="1200"/>
              </a:spcAft>
              <a:buNone/>
            </a:pPr>
            <a:r>
              <a:rPr b="1" lang="en" sz="1100">
                <a:solidFill>
                  <a:srgbClr val="000000"/>
                </a:solidFill>
                <a:latin typeface="Nunito"/>
                <a:ea typeface="Nunito"/>
                <a:cs typeface="Nunito"/>
                <a:sym typeface="Nunito"/>
              </a:rPr>
              <a:t>Subtítulo:</a:t>
            </a:r>
            <a:r>
              <a:rPr lang="en" sz="1100">
                <a:solidFill>
                  <a:srgbClr val="000000"/>
                </a:solidFill>
                <a:latin typeface="Nunito"/>
                <a:ea typeface="Nunito"/>
                <a:cs typeface="Nunito"/>
                <a:sym typeface="Nunito"/>
              </a:rPr>
              <a:t> Remuestreo de Europa y Latinoamérica para los análisis de clustering.</a:t>
            </a:r>
            <a:endParaRPr/>
          </a:p>
        </p:txBody>
      </p:sp>
      <p:sp>
        <p:nvSpPr>
          <p:cNvPr id="380" name="Google Shape;380;g412c17598e8_0_8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81" name="Google Shape;381;g412c17598e8_0_84"/>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412c17598e8_0_92"/>
          <p:cNvSpPr txBox="1"/>
          <p:nvPr>
            <p:ph idx="1" type="subTitle"/>
          </p:nvPr>
        </p:nvSpPr>
        <p:spPr>
          <a:xfrm>
            <a:off x="781650" y="1407425"/>
            <a:ext cx="7580700" cy="330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400">
                <a:solidFill>
                  <a:srgbClr val="000000"/>
                </a:solidFill>
                <a:latin typeface="Nunito"/>
                <a:ea typeface="Nunito"/>
                <a:cs typeface="Nunito"/>
                <a:sym typeface="Nunito"/>
              </a:rPr>
              <a:t>Problema de partida. </a:t>
            </a:r>
            <a:r>
              <a:rPr lang="en" sz="1400">
                <a:solidFill>
                  <a:srgbClr val="000000"/>
                </a:solidFill>
                <a:latin typeface="Nunito"/>
                <a:ea typeface="Nunito"/>
                <a:cs typeface="Nunito"/>
                <a:sym typeface="Nunito"/>
              </a:rPr>
              <a:t>Las encuestas disponibles no reproducen necesariamente la composición electoral de la población europea. </a:t>
            </a:r>
            <a:endParaRPr b="1" sz="1400">
              <a:solidFill>
                <a:srgbClr val="000000"/>
              </a:solidFill>
              <a:latin typeface="Nunito"/>
              <a:ea typeface="Nunito"/>
              <a:cs typeface="Nunito"/>
              <a:sym typeface="Nunito"/>
            </a:endParaRPr>
          </a:p>
          <a:p>
            <a:pPr indent="-317500" lvl="0" marL="457200" rtl="0" algn="l">
              <a:lnSpc>
                <a:spcPct val="115000"/>
              </a:lnSpc>
              <a:spcBef>
                <a:spcPts val="120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Corregir el desequilibrio de participación:</a:t>
            </a:r>
            <a:r>
              <a:rPr lang="en" sz="1400">
                <a:solidFill>
                  <a:srgbClr val="000000"/>
                </a:solidFill>
                <a:latin typeface="Nunito"/>
                <a:ea typeface="Nunito"/>
                <a:cs typeface="Nunito"/>
                <a:sym typeface="Nunito"/>
              </a:rPr>
              <a:t> ajustar la proporción de votantes y abstencionistas utilizando una distribución electoral de referencia.</a:t>
            </a:r>
            <a:endParaRPr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Considerar las diferencias entre participantes:</a:t>
            </a:r>
            <a:r>
              <a:rPr lang="en" sz="1400">
                <a:solidFill>
                  <a:srgbClr val="000000"/>
                </a:solidFill>
                <a:latin typeface="Nunito"/>
                <a:ea typeface="Nunito"/>
                <a:cs typeface="Nunito"/>
                <a:sym typeface="Nunito"/>
              </a:rPr>
              <a:t> utilizar información sociodemográfica para estimar la propensión individual a votar.</a:t>
            </a:r>
            <a:endParaRPr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Ajustar la composición electoral:</a:t>
            </a:r>
            <a:r>
              <a:rPr lang="en" sz="1400">
                <a:solidFill>
                  <a:srgbClr val="000000"/>
                </a:solidFill>
                <a:latin typeface="Nunito"/>
                <a:ea typeface="Nunito"/>
                <a:cs typeface="Nunito"/>
                <a:sym typeface="Nunito"/>
              </a:rPr>
              <a:t> incorporar las proporciones objetivo de los grupos electorales definidos para el análisis.</a:t>
            </a:r>
            <a:endParaRPr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latin typeface="Nunito"/>
                <a:ea typeface="Nunito"/>
                <a:cs typeface="Nunito"/>
                <a:sym typeface="Nunito"/>
              </a:rPr>
              <a:t>Generar réplicas para clustering:</a:t>
            </a:r>
            <a:r>
              <a:rPr lang="en" sz="1400">
                <a:solidFill>
                  <a:srgbClr val="000000"/>
                </a:solidFill>
                <a:latin typeface="Nunito"/>
                <a:ea typeface="Nunito"/>
                <a:cs typeface="Nunito"/>
                <a:sym typeface="Nunito"/>
              </a:rPr>
              <a:t> obtener muestras remuestreadas a partir de los participantes que superaron el control de calidad.</a:t>
            </a:r>
            <a:endParaRPr sz="1400">
              <a:solidFill>
                <a:srgbClr val="000000"/>
              </a:solidFill>
              <a:latin typeface="Nunito"/>
              <a:ea typeface="Nunito"/>
              <a:cs typeface="Nunito"/>
              <a:sym typeface="Nunito"/>
            </a:endParaRPr>
          </a:p>
          <a:p>
            <a:pPr indent="0" lvl="0" marL="0" rtl="0" algn="l">
              <a:lnSpc>
                <a:spcPct val="115000"/>
              </a:lnSpc>
              <a:spcBef>
                <a:spcPts val="1200"/>
              </a:spcBef>
              <a:spcAft>
                <a:spcPts val="0"/>
              </a:spcAft>
              <a:buNone/>
            </a:pPr>
            <a:r>
              <a:rPr b="1" lang="en" sz="1400">
                <a:solidFill>
                  <a:srgbClr val="000000"/>
                </a:solidFill>
                <a:latin typeface="Nunito"/>
                <a:ea typeface="Nunito"/>
                <a:cs typeface="Nunito"/>
                <a:sym typeface="Nunito"/>
              </a:rPr>
              <a:t>Idea clave:</a:t>
            </a:r>
            <a:r>
              <a:rPr lang="en" sz="1400">
                <a:solidFill>
                  <a:srgbClr val="000000"/>
                </a:solidFill>
                <a:latin typeface="Nunito"/>
                <a:ea typeface="Nunito"/>
                <a:cs typeface="Nunito"/>
                <a:sym typeface="Nunito"/>
              </a:rPr>
              <a:t> el bootstrap europeo incorpora una corrección electoral; no es simplemente una selección aleatoria uniforme de participantes.</a:t>
            </a:r>
            <a:endParaRPr sz="1400">
              <a:solidFill>
                <a:srgbClr val="000000"/>
              </a:solidFill>
              <a:latin typeface="Nunito"/>
              <a:ea typeface="Nunito"/>
              <a:cs typeface="Nunito"/>
              <a:sym typeface="Nunito"/>
            </a:endParaRPr>
          </a:p>
          <a:p>
            <a:pPr indent="0" lvl="0" marL="0" rtl="0" algn="just">
              <a:lnSpc>
                <a:spcPct val="100000"/>
              </a:lnSpc>
              <a:spcBef>
                <a:spcPts val="1200"/>
              </a:spcBef>
              <a:spcAft>
                <a:spcPts val="0"/>
              </a:spcAft>
              <a:buSzPts val="1200"/>
              <a:buNone/>
            </a:pPr>
            <a:r>
              <a:t/>
            </a:r>
            <a:endParaRPr sz="1400">
              <a:solidFill>
                <a:srgbClr val="000000"/>
              </a:solidFill>
              <a:latin typeface="Nunito"/>
              <a:ea typeface="Nunito"/>
              <a:cs typeface="Nunito"/>
              <a:sym typeface="Nunito"/>
            </a:endParaRPr>
          </a:p>
        </p:txBody>
      </p:sp>
      <p:sp>
        <p:nvSpPr>
          <p:cNvPr id="387" name="Google Shape;387;g412c17598e8_0_92"/>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Construcción del bootstrap europeo: problema de representatividad</a:t>
            </a:r>
            <a:endParaRPr/>
          </a:p>
        </p:txBody>
      </p:sp>
      <p:sp>
        <p:nvSpPr>
          <p:cNvPr id="388" name="Google Shape;388;g412c17598e8_0_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89" name="Google Shape;389;g412c17598e8_0_92"/>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412c17598e8_0_100"/>
          <p:cNvSpPr txBox="1"/>
          <p:nvPr>
            <p:ph idx="1" type="subTitle"/>
          </p:nvPr>
        </p:nvSpPr>
        <p:spPr>
          <a:xfrm>
            <a:off x="793650" y="1675425"/>
            <a:ext cx="7857900" cy="3402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1400">
                <a:solidFill>
                  <a:srgbClr val="000000"/>
                </a:solidFill>
                <a:latin typeface="Nunito"/>
                <a:ea typeface="Nunito"/>
                <a:cs typeface="Nunito"/>
                <a:sym typeface="Nunito"/>
              </a:rPr>
              <a:t>1. Entrenamiento del modelo.</a:t>
            </a:r>
            <a:r>
              <a:rPr lang="en" sz="1400">
                <a:solidFill>
                  <a:srgbClr val="000000"/>
                </a:solidFill>
                <a:latin typeface="Nunito"/>
                <a:ea typeface="Nunito"/>
                <a:cs typeface="Nunito"/>
                <a:sym typeface="Nunito"/>
              </a:rPr>
              <a:t> Se utilizan los participantes de RENOVISOR con información observada sobre voto o abstención para ajustar una regresión logística binomial.</a:t>
            </a:r>
            <a:endParaRPr sz="1400">
              <a:solidFill>
                <a:srgbClr val="000000"/>
              </a:solidFill>
              <a:latin typeface="Nunito"/>
              <a:ea typeface="Nunito"/>
              <a:cs typeface="Nunito"/>
              <a:sym typeface="Nunito"/>
            </a:endParaRPr>
          </a:p>
          <a:p>
            <a:pPr indent="0" lvl="0" marL="0" rtl="0" algn="just">
              <a:lnSpc>
                <a:spcPct val="115000"/>
              </a:lnSpc>
              <a:spcBef>
                <a:spcPts val="0"/>
              </a:spcBef>
              <a:spcAft>
                <a:spcPts val="0"/>
              </a:spcAft>
              <a:buNone/>
            </a:pPr>
            <a:r>
              <a:rPr b="1" lang="en" sz="1400">
                <a:solidFill>
                  <a:srgbClr val="000000"/>
                </a:solidFill>
                <a:latin typeface="Nunito"/>
                <a:ea typeface="Nunito"/>
                <a:cs typeface="Nunito"/>
                <a:sym typeface="Nunito"/>
              </a:rPr>
              <a:t>2. Variables explicativas.</a:t>
            </a:r>
            <a:r>
              <a:rPr lang="en" sz="1400">
                <a:solidFill>
                  <a:srgbClr val="000000"/>
                </a:solidFill>
                <a:latin typeface="Nunito"/>
                <a:ea typeface="Nunito"/>
                <a:cs typeface="Nunito"/>
                <a:sym typeface="Nunito"/>
              </a:rPr>
              <a:t> El modelo utiliza cuatro variables </a:t>
            </a:r>
            <a:endParaRPr sz="1400">
              <a:solidFill>
                <a:srgbClr val="000000"/>
              </a:solidFill>
              <a:latin typeface="Nunito"/>
              <a:ea typeface="Nunito"/>
              <a:cs typeface="Nunito"/>
              <a:sym typeface="Nunito"/>
            </a:endParaRPr>
          </a:p>
          <a:p>
            <a:pPr indent="0" lvl="0" marL="0" rtl="0" algn="just">
              <a:lnSpc>
                <a:spcPct val="115000"/>
              </a:lnSpc>
              <a:spcBef>
                <a:spcPts val="0"/>
              </a:spcBef>
              <a:spcAft>
                <a:spcPts val="0"/>
              </a:spcAft>
              <a:buNone/>
            </a:pPr>
            <a:r>
              <a:rPr lang="en" sz="1400">
                <a:solidFill>
                  <a:srgbClr val="000000"/>
                </a:solidFill>
                <a:latin typeface="Nunito"/>
                <a:ea typeface="Nunito"/>
                <a:cs typeface="Nunito"/>
                <a:sym typeface="Nunito"/>
              </a:rPr>
              <a:t>sociodemográficas armonizadas:</a:t>
            </a:r>
            <a:endParaRPr sz="1400">
              <a:solidFill>
                <a:srgbClr val="000000"/>
              </a:solidFill>
              <a:latin typeface="Nunito"/>
              <a:ea typeface="Nunito"/>
              <a:cs typeface="Nunito"/>
              <a:sym typeface="Nunito"/>
            </a:endParaRPr>
          </a:p>
          <a:p>
            <a:pPr indent="0" lvl="0" marL="0" rtl="0" algn="just">
              <a:lnSpc>
                <a:spcPct val="115000"/>
              </a:lnSpc>
              <a:spcBef>
                <a:spcPts val="0"/>
              </a:spcBef>
              <a:spcAft>
                <a:spcPts val="0"/>
              </a:spcAft>
              <a:buNone/>
            </a:pPr>
            <a:r>
              <a:t/>
            </a:r>
            <a:endParaRPr sz="1400">
              <a:solidFill>
                <a:srgbClr val="000000"/>
              </a:solidFill>
              <a:latin typeface="Nunito"/>
              <a:ea typeface="Nunito"/>
              <a:cs typeface="Nunito"/>
              <a:sym typeface="Nunito"/>
            </a:endParaRPr>
          </a:p>
          <a:p>
            <a:pPr indent="0" lvl="0" marL="0" rtl="0" algn="just">
              <a:lnSpc>
                <a:spcPct val="115000"/>
              </a:lnSpc>
              <a:spcBef>
                <a:spcPts val="0"/>
              </a:spcBef>
              <a:spcAft>
                <a:spcPts val="0"/>
              </a:spcAft>
              <a:buNone/>
            </a:pPr>
            <a:r>
              <a:t/>
            </a:r>
            <a:endParaRPr sz="1400">
              <a:solidFill>
                <a:srgbClr val="000000"/>
              </a:solidFill>
              <a:latin typeface="Nunito"/>
              <a:ea typeface="Nunito"/>
              <a:cs typeface="Nunito"/>
              <a:sym typeface="Nunito"/>
            </a:endParaRPr>
          </a:p>
          <a:p>
            <a:pPr indent="0" lvl="0" marL="0" rtl="0" algn="just">
              <a:lnSpc>
                <a:spcPct val="115000"/>
              </a:lnSpc>
              <a:spcBef>
                <a:spcPts val="0"/>
              </a:spcBef>
              <a:spcAft>
                <a:spcPts val="0"/>
              </a:spcAft>
              <a:buNone/>
            </a:pPr>
            <a:r>
              <a:t/>
            </a:r>
            <a:endParaRPr sz="1400">
              <a:solidFill>
                <a:srgbClr val="000000"/>
              </a:solidFill>
              <a:latin typeface="Nunito"/>
              <a:ea typeface="Nunito"/>
              <a:cs typeface="Nunito"/>
              <a:sym typeface="Nunito"/>
            </a:endParaRPr>
          </a:p>
          <a:p>
            <a:pPr indent="0" lvl="0" marL="0" rtl="0" algn="just">
              <a:lnSpc>
                <a:spcPct val="115000"/>
              </a:lnSpc>
              <a:spcBef>
                <a:spcPts val="0"/>
              </a:spcBef>
              <a:spcAft>
                <a:spcPts val="0"/>
              </a:spcAft>
              <a:buNone/>
            </a:pPr>
            <a:r>
              <a:t/>
            </a:r>
            <a:endParaRPr sz="1400">
              <a:solidFill>
                <a:srgbClr val="000000"/>
              </a:solidFill>
              <a:latin typeface="Nunito"/>
              <a:ea typeface="Nunito"/>
              <a:cs typeface="Nunito"/>
              <a:sym typeface="Nunito"/>
            </a:endParaRPr>
          </a:p>
          <a:p>
            <a:pPr indent="0" lvl="0" marL="0" rtl="0" algn="just">
              <a:lnSpc>
                <a:spcPct val="115000"/>
              </a:lnSpc>
              <a:spcBef>
                <a:spcPts val="0"/>
              </a:spcBef>
              <a:spcAft>
                <a:spcPts val="0"/>
              </a:spcAft>
              <a:buNone/>
            </a:pPr>
            <a:r>
              <a:t/>
            </a:r>
            <a:endParaRPr sz="1400">
              <a:solidFill>
                <a:srgbClr val="000000"/>
              </a:solidFill>
              <a:latin typeface="Nunito"/>
              <a:ea typeface="Nunito"/>
              <a:cs typeface="Nunito"/>
              <a:sym typeface="Nunito"/>
            </a:endParaRPr>
          </a:p>
          <a:p>
            <a:pPr indent="0" lvl="0" marL="0" rtl="0" algn="just">
              <a:lnSpc>
                <a:spcPct val="115000"/>
              </a:lnSpc>
              <a:spcBef>
                <a:spcPts val="0"/>
              </a:spcBef>
              <a:spcAft>
                <a:spcPts val="0"/>
              </a:spcAft>
              <a:buNone/>
            </a:pPr>
            <a:r>
              <a:rPr b="1" lang="en" sz="1400">
                <a:solidFill>
                  <a:srgbClr val="000000"/>
                </a:solidFill>
                <a:latin typeface="Nunito"/>
                <a:ea typeface="Nunito"/>
                <a:cs typeface="Nunito"/>
                <a:sym typeface="Nunito"/>
              </a:rPr>
              <a:t>3. Estimación de probabilidades.</a:t>
            </a:r>
            <a:r>
              <a:rPr lang="en" sz="1400">
                <a:solidFill>
                  <a:srgbClr val="000000"/>
                </a:solidFill>
                <a:latin typeface="Nunito"/>
                <a:ea typeface="Nunito"/>
                <a:cs typeface="Nunito"/>
                <a:sym typeface="Nunito"/>
              </a:rPr>
              <a:t> El modelo entrenado se aplica a los participantes para estimar sus probabilidades de voto y abstención.</a:t>
            </a:r>
            <a:endParaRPr sz="1400">
              <a:solidFill>
                <a:srgbClr val="000000"/>
              </a:solidFill>
              <a:latin typeface="Nunito"/>
              <a:ea typeface="Nunito"/>
              <a:cs typeface="Nunito"/>
              <a:sym typeface="Nunito"/>
            </a:endParaRPr>
          </a:p>
          <a:p>
            <a:pPr indent="0" lvl="0" marL="0" rtl="0" algn="just">
              <a:lnSpc>
                <a:spcPct val="115000"/>
              </a:lnSpc>
              <a:spcBef>
                <a:spcPts val="0"/>
              </a:spcBef>
              <a:spcAft>
                <a:spcPts val="0"/>
              </a:spcAft>
              <a:buNone/>
            </a:pPr>
            <a:r>
              <a:rPr b="1" lang="en" sz="1400">
                <a:solidFill>
                  <a:srgbClr val="000000"/>
                </a:solidFill>
                <a:latin typeface="Nunito"/>
                <a:ea typeface="Nunito"/>
                <a:cs typeface="Nunito"/>
                <a:sym typeface="Nunito"/>
              </a:rPr>
              <a:t>4. Preparación del remuestreo.</a:t>
            </a:r>
            <a:r>
              <a:rPr lang="en" sz="1400">
                <a:solidFill>
                  <a:srgbClr val="000000"/>
                </a:solidFill>
                <a:latin typeface="Nunito"/>
                <a:ea typeface="Nunito"/>
                <a:cs typeface="Nunito"/>
                <a:sym typeface="Nunito"/>
              </a:rPr>
              <a:t> Se seleccionan únicamente los registros europeos cuyos identificadores están presentes en la matriz de participantes utilizables para clustering.</a:t>
            </a:r>
            <a:endParaRPr sz="1400">
              <a:solidFill>
                <a:srgbClr val="000000"/>
              </a:solidFill>
              <a:latin typeface="Nunito"/>
              <a:ea typeface="Nunito"/>
              <a:cs typeface="Nunito"/>
              <a:sym typeface="Nunito"/>
            </a:endParaRPr>
          </a:p>
          <a:p>
            <a:pPr indent="0" lvl="0" marL="0" rtl="0" algn="just">
              <a:lnSpc>
                <a:spcPct val="100000"/>
              </a:lnSpc>
              <a:spcBef>
                <a:spcPts val="1200"/>
              </a:spcBef>
              <a:spcAft>
                <a:spcPts val="0"/>
              </a:spcAft>
              <a:buSzPts val="1200"/>
              <a:buNone/>
            </a:pPr>
            <a:r>
              <a:t/>
            </a:r>
            <a:endParaRPr sz="1400">
              <a:latin typeface="Nunito"/>
              <a:ea typeface="Nunito"/>
              <a:cs typeface="Nunito"/>
              <a:sym typeface="Nunito"/>
            </a:endParaRPr>
          </a:p>
        </p:txBody>
      </p:sp>
      <p:sp>
        <p:nvSpPr>
          <p:cNvPr id="395" name="Google Shape;395;g412c17598e8_0_100"/>
          <p:cNvSpPr txBox="1"/>
          <p:nvPr>
            <p:ph type="title"/>
          </p:nvPr>
        </p:nvSpPr>
        <p:spPr>
          <a:xfrm>
            <a:off x="715050" y="548900"/>
            <a:ext cx="79365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Bootstrap europeo: estimación de la propensión al voto</a:t>
            </a:r>
            <a:endParaRPr sz="1100">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04_2b_propensity_bootstrap_eu_pfe_esn_renew_greens_merged_clustering_usable.R</a:t>
            </a:r>
            <a:endParaRPr sz="1100">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t/>
            </a:r>
            <a:endParaRPr/>
          </a:p>
        </p:txBody>
      </p:sp>
      <p:sp>
        <p:nvSpPr>
          <p:cNvPr id="396" name="Google Shape;396;g412c17598e8_0_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97" name="Google Shape;397;g412c17598e8_0_100"/>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398" name="Google Shape;398;g412c17598e8_0_100"/>
          <p:cNvGraphicFramePr/>
          <p:nvPr/>
        </p:nvGraphicFramePr>
        <p:xfrm>
          <a:off x="5158075" y="2353975"/>
          <a:ext cx="3000000" cy="3000000"/>
        </p:xfrm>
        <a:graphic>
          <a:graphicData uri="http://schemas.openxmlformats.org/drawingml/2006/table">
            <a:tbl>
              <a:tblPr>
                <a:noFill/>
                <a:tableStyleId>{E52E4BE9-5879-4D65-9C92-106A106E9681}</a:tableStyleId>
              </a:tblPr>
              <a:tblGrid>
                <a:gridCol w="2388675"/>
                <a:gridCol w="1597250"/>
              </a:tblGrid>
              <a:tr h="312350">
                <a:tc>
                  <a:txBody>
                    <a:bodyPr/>
                    <a:lstStyle/>
                    <a:p>
                      <a:pPr indent="0" lvl="0" marL="0" rtl="0" algn="ctr">
                        <a:lnSpc>
                          <a:spcPct val="115000"/>
                        </a:lnSpc>
                        <a:spcBef>
                          <a:spcPts val="0"/>
                        </a:spcBef>
                        <a:spcAft>
                          <a:spcPts val="0"/>
                        </a:spcAft>
                        <a:buNone/>
                      </a:pPr>
                      <a:r>
                        <a:rPr b="1" lang="en" sz="900">
                          <a:latin typeface="Nunito"/>
                          <a:ea typeface="Nunito"/>
                          <a:cs typeface="Nunito"/>
                          <a:sym typeface="Nunito"/>
                        </a:rPr>
                        <a:t>Variable del código</a:t>
                      </a:r>
                      <a:endParaRPr b="1" sz="900">
                        <a:latin typeface="Nunito"/>
                        <a:ea typeface="Nunito"/>
                        <a:cs typeface="Nunito"/>
                        <a:sym typeface="Nunito"/>
                      </a:endParaRPr>
                    </a:p>
                  </a:txBody>
                  <a:tcPr marT="91425" marB="91425" marR="91425" marL="91425"/>
                </a:tc>
                <a:tc>
                  <a:txBody>
                    <a:bodyPr/>
                    <a:lstStyle/>
                    <a:p>
                      <a:pPr indent="0" lvl="0" marL="0" rtl="0" algn="ctr">
                        <a:lnSpc>
                          <a:spcPct val="115000"/>
                        </a:lnSpc>
                        <a:spcBef>
                          <a:spcPts val="0"/>
                        </a:spcBef>
                        <a:spcAft>
                          <a:spcPts val="0"/>
                        </a:spcAft>
                        <a:buNone/>
                      </a:pPr>
                      <a:r>
                        <a:rPr b="1" lang="en" sz="900">
                          <a:latin typeface="Nunito"/>
                          <a:ea typeface="Nunito"/>
                          <a:cs typeface="Nunito"/>
                          <a:sym typeface="Nunito"/>
                        </a:rPr>
                        <a:t>Información</a:t>
                      </a:r>
                      <a:endParaRPr b="1" sz="900">
                        <a:latin typeface="Nunito"/>
                        <a:ea typeface="Nunito"/>
                        <a:cs typeface="Nunito"/>
                        <a:sym typeface="Nunito"/>
                      </a:endParaRPr>
                    </a:p>
                  </a:txBody>
                  <a:tcPr marT="91425" marB="91425" marR="91425" marL="91425"/>
                </a:tc>
              </a:tr>
              <a:tr h="328750">
                <a:tc>
                  <a:txBody>
                    <a:bodyPr/>
                    <a:lstStyle/>
                    <a:p>
                      <a:pPr indent="0" lvl="0" marL="0" rtl="0" algn="l">
                        <a:spcBef>
                          <a:spcPts val="0"/>
                        </a:spcBef>
                        <a:spcAft>
                          <a:spcPts val="0"/>
                        </a:spcAft>
                        <a:buNone/>
                      </a:pPr>
                      <a:r>
                        <a:rPr lang="en" sz="900">
                          <a:solidFill>
                            <a:srgbClr val="188038"/>
                          </a:solidFill>
                          <a:latin typeface="Nunito"/>
                          <a:ea typeface="Nunito"/>
                          <a:cs typeface="Nunito"/>
                          <a:sym typeface="Nunito"/>
                        </a:rPr>
                        <a:t>age_group_model</a:t>
                      </a:r>
                      <a:endParaRPr sz="900">
                        <a:solidFill>
                          <a:srgbClr val="188038"/>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sz="900">
                          <a:latin typeface="Nunito"/>
                          <a:ea typeface="Nunito"/>
                          <a:cs typeface="Nunito"/>
                          <a:sym typeface="Nunito"/>
                        </a:rPr>
                        <a:t>Grupo de edad</a:t>
                      </a:r>
                      <a:endParaRPr sz="900">
                        <a:latin typeface="Nunito"/>
                        <a:ea typeface="Nunito"/>
                        <a:cs typeface="Nunito"/>
                        <a:sym typeface="Nunito"/>
                      </a:endParaRPr>
                    </a:p>
                  </a:txBody>
                  <a:tcPr marT="91425" marB="91425" marR="91425" marL="91425"/>
                </a:tc>
              </a:tr>
              <a:tr h="328300">
                <a:tc>
                  <a:txBody>
                    <a:bodyPr/>
                    <a:lstStyle/>
                    <a:p>
                      <a:pPr indent="0" lvl="0" marL="0" rtl="0" algn="l">
                        <a:spcBef>
                          <a:spcPts val="0"/>
                        </a:spcBef>
                        <a:spcAft>
                          <a:spcPts val="0"/>
                        </a:spcAft>
                        <a:buNone/>
                      </a:pPr>
                      <a:r>
                        <a:rPr lang="en" sz="900">
                          <a:solidFill>
                            <a:srgbClr val="188038"/>
                          </a:solidFill>
                          <a:latin typeface="Nunito"/>
                          <a:ea typeface="Nunito"/>
                          <a:cs typeface="Nunito"/>
                          <a:sym typeface="Nunito"/>
                        </a:rPr>
                        <a:t>gender_model</a:t>
                      </a:r>
                      <a:endParaRPr sz="900">
                        <a:solidFill>
                          <a:srgbClr val="188038"/>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sz="900">
                          <a:latin typeface="Nunito"/>
                          <a:ea typeface="Nunito"/>
                          <a:cs typeface="Nunito"/>
                          <a:sym typeface="Nunito"/>
                        </a:rPr>
                        <a:t>Género</a:t>
                      </a:r>
                      <a:endParaRPr sz="900">
                        <a:latin typeface="Nunito"/>
                        <a:ea typeface="Nunito"/>
                        <a:cs typeface="Nunito"/>
                        <a:sym typeface="Nunito"/>
                      </a:endParaRPr>
                    </a:p>
                  </a:txBody>
                  <a:tcPr marT="91425" marB="91425" marR="91425" marL="91425"/>
                </a:tc>
              </a:tr>
              <a:tr h="328750">
                <a:tc>
                  <a:txBody>
                    <a:bodyPr/>
                    <a:lstStyle/>
                    <a:p>
                      <a:pPr indent="0" lvl="0" marL="0" rtl="0" algn="l">
                        <a:spcBef>
                          <a:spcPts val="0"/>
                        </a:spcBef>
                        <a:spcAft>
                          <a:spcPts val="0"/>
                        </a:spcAft>
                        <a:buNone/>
                      </a:pPr>
                      <a:r>
                        <a:rPr lang="en" sz="900">
                          <a:solidFill>
                            <a:srgbClr val="188038"/>
                          </a:solidFill>
                          <a:latin typeface="Nunito"/>
                          <a:ea typeface="Nunito"/>
                          <a:cs typeface="Nunito"/>
                          <a:sym typeface="Nunito"/>
                        </a:rPr>
                        <a:t>country_model_grouped</a:t>
                      </a:r>
                      <a:endParaRPr sz="900">
                        <a:solidFill>
                          <a:srgbClr val="188038"/>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sz="900">
                          <a:latin typeface="Nunito"/>
                          <a:ea typeface="Nunito"/>
                          <a:cs typeface="Nunito"/>
                          <a:sym typeface="Nunito"/>
                        </a:rPr>
                        <a:t>País agrupado</a:t>
                      </a:r>
                      <a:endParaRPr sz="900">
                        <a:latin typeface="Nunito"/>
                        <a:ea typeface="Nunito"/>
                        <a:cs typeface="Nunito"/>
                        <a:sym typeface="Nunito"/>
                      </a:endParaRPr>
                    </a:p>
                  </a:txBody>
                  <a:tcPr marT="91425" marB="91425" marR="91425" marL="91425"/>
                </a:tc>
              </a:tr>
              <a:tr h="328750">
                <a:tc>
                  <a:txBody>
                    <a:bodyPr/>
                    <a:lstStyle/>
                    <a:p>
                      <a:pPr indent="0" lvl="0" marL="0" rtl="0" algn="l">
                        <a:spcBef>
                          <a:spcPts val="0"/>
                        </a:spcBef>
                        <a:spcAft>
                          <a:spcPts val="0"/>
                        </a:spcAft>
                        <a:buNone/>
                      </a:pPr>
                      <a:r>
                        <a:rPr lang="en" sz="900">
                          <a:solidFill>
                            <a:srgbClr val="188038"/>
                          </a:solidFill>
                          <a:latin typeface="Nunito"/>
                          <a:ea typeface="Nunito"/>
                          <a:cs typeface="Nunito"/>
                          <a:sym typeface="Nunito"/>
                        </a:rPr>
                        <a:t>employment_model</a:t>
                      </a:r>
                      <a:endParaRPr sz="900">
                        <a:solidFill>
                          <a:srgbClr val="188038"/>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sz="900">
                          <a:latin typeface="Nunito"/>
                          <a:ea typeface="Nunito"/>
                          <a:cs typeface="Nunito"/>
                          <a:sym typeface="Nunito"/>
                        </a:rPr>
                        <a:t>Situación laboral</a:t>
                      </a:r>
                      <a:endParaRPr sz="900">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412c17598e8_0_586"/>
          <p:cNvSpPr txBox="1"/>
          <p:nvPr>
            <p:ph type="title"/>
          </p:nvPr>
        </p:nvSpPr>
        <p:spPr>
          <a:xfrm>
            <a:off x="715050" y="548900"/>
            <a:ext cx="79365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Bootstrap europeo: estimación de la propensión al voto</a:t>
            </a:r>
            <a:endParaRPr sz="1100">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04_2b_propensity_bootstrap_eu_pfe_esn_renew_greens_merged_clustering_usable.R</a:t>
            </a:r>
            <a:endParaRPr sz="1100">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t/>
            </a:r>
            <a:endParaRPr/>
          </a:p>
        </p:txBody>
      </p:sp>
      <p:sp>
        <p:nvSpPr>
          <p:cNvPr id="404" name="Google Shape;404;g412c17598e8_0_5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05" name="Google Shape;405;g412c17598e8_0_586"/>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406" name="Google Shape;406;g412c17598e8_0_586"/>
          <p:cNvSpPr txBox="1"/>
          <p:nvPr/>
        </p:nvSpPr>
        <p:spPr>
          <a:xfrm>
            <a:off x="608700" y="2442625"/>
            <a:ext cx="8149200" cy="1594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 sz="1100">
                <a:latin typeface="Nunito"/>
                <a:ea typeface="Nunito"/>
                <a:cs typeface="Nunito"/>
                <a:sym typeface="Nunito"/>
              </a:rPr>
              <a:t>Entrada:</a:t>
            </a:r>
            <a:r>
              <a:rPr lang="en" sz="1100">
                <a:latin typeface="Nunito"/>
                <a:ea typeface="Nunito"/>
                <a:cs typeface="Nunito"/>
                <a:sym typeface="Nunito"/>
              </a:rPr>
              <a:t> </a:t>
            </a:r>
            <a:r>
              <a:rPr lang="en" sz="1100">
                <a:solidFill>
                  <a:srgbClr val="188038"/>
                </a:solidFill>
                <a:latin typeface="Nunito"/>
                <a:ea typeface="Nunito"/>
                <a:cs typeface="Nunito"/>
                <a:sym typeface="Nunito"/>
              </a:rPr>
              <a:t>03_2_phase_dimension_scores/all_sources_integrated_component_quality_phase_scores.csv</a:t>
            </a:r>
            <a:endParaRPr sz="1100">
              <a:solidFill>
                <a:srgbClr val="188038"/>
              </a:solidFill>
              <a:latin typeface="Nunito"/>
              <a:ea typeface="Nunito"/>
              <a:cs typeface="Nunito"/>
              <a:sym typeface="Nunito"/>
            </a:endParaRPr>
          </a:p>
          <a:p>
            <a:pPr indent="0" lvl="0" marL="0" rtl="0" algn="ctr">
              <a:lnSpc>
                <a:spcPct val="115000"/>
              </a:lnSpc>
              <a:spcBef>
                <a:spcPts val="1200"/>
              </a:spcBef>
              <a:spcAft>
                <a:spcPts val="0"/>
              </a:spcAft>
              <a:buNone/>
            </a:pPr>
            <a:r>
              <a:rPr b="1" lang="en" sz="1100">
                <a:latin typeface="Nunito"/>
                <a:ea typeface="Nunito"/>
                <a:cs typeface="Nunito"/>
                <a:sym typeface="Nunito"/>
              </a:rPr>
              <a:t>Filtro de participantes:</a:t>
            </a:r>
            <a:r>
              <a:rPr lang="en" sz="1100">
                <a:latin typeface="Nunito"/>
                <a:ea typeface="Nunito"/>
                <a:cs typeface="Nunito"/>
                <a:sym typeface="Nunito"/>
              </a:rPr>
              <a:t> </a:t>
            </a:r>
            <a:r>
              <a:rPr lang="en" sz="1100">
                <a:solidFill>
                  <a:srgbClr val="188038"/>
                </a:solidFill>
                <a:latin typeface="Nunito"/>
                <a:ea typeface="Nunito"/>
                <a:cs typeface="Nunito"/>
                <a:sym typeface="Nunito"/>
              </a:rPr>
              <a:t>03_component_quality/matrix_32det_for_clustering.csv</a:t>
            </a:r>
            <a:endParaRPr sz="1100">
              <a:solidFill>
                <a:srgbClr val="188038"/>
              </a:solidFill>
              <a:latin typeface="Nunito"/>
              <a:ea typeface="Nunito"/>
              <a:cs typeface="Nunito"/>
              <a:sym typeface="Nunito"/>
            </a:endParaRPr>
          </a:p>
          <a:p>
            <a:pPr indent="0" lvl="0" marL="0" rtl="0" algn="ctr">
              <a:lnSpc>
                <a:spcPct val="115000"/>
              </a:lnSpc>
              <a:spcBef>
                <a:spcPts val="1200"/>
              </a:spcBef>
              <a:spcAft>
                <a:spcPts val="0"/>
              </a:spcAft>
              <a:buNone/>
            </a:pPr>
            <a:r>
              <a:rPr b="1" lang="en" sz="1100">
                <a:latin typeface="Nunito"/>
                <a:ea typeface="Nunito"/>
                <a:cs typeface="Nunito"/>
                <a:sym typeface="Nunito"/>
              </a:rPr>
              <a:t>Salidas del modelo:</a:t>
            </a:r>
            <a:r>
              <a:rPr lang="en" sz="1100">
                <a:latin typeface="Nunito"/>
                <a:ea typeface="Nunito"/>
                <a:cs typeface="Nunito"/>
                <a:sym typeface="Nunito"/>
              </a:rPr>
              <a:t> </a:t>
            </a:r>
            <a:r>
              <a:rPr lang="en" sz="1100">
                <a:solidFill>
                  <a:srgbClr val="188038"/>
                </a:solidFill>
                <a:latin typeface="Nunito"/>
                <a:ea typeface="Nunito"/>
                <a:cs typeface="Nunito"/>
                <a:sym typeface="Nunito"/>
              </a:rPr>
              <a:t>dataset_with_propensity_and_electoral_groups.csv</a:t>
            </a:r>
            <a:r>
              <a:rPr lang="en" sz="1100">
                <a:latin typeface="Nunito"/>
                <a:ea typeface="Nunito"/>
                <a:cs typeface="Nunito"/>
                <a:sym typeface="Nunito"/>
              </a:rPr>
              <a:t>, </a:t>
            </a:r>
            <a:r>
              <a:rPr lang="en" sz="1100">
                <a:solidFill>
                  <a:srgbClr val="188038"/>
                </a:solidFill>
                <a:latin typeface="Nunito"/>
                <a:ea typeface="Nunito"/>
                <a:cs typeface="Nunito"/>
                <a:sym typeface="Nunito"/>
              </a:rPr>
              <a:t>propensity_model_coefficients.csv</a:t>
            </a:r>
            <a:r>
              <a:rPr lang="en" sz="1100">
                <a:latin typeface="Nunito"/>
                <a:ea typeface="Nunito"/>
                <a:cs typeface="Nunito"/>
                <a:sym typeface="Nunito"/>
              </a:rPr>
              <a:t> y </a:t>
            </a:r>
            <a:r>
              <a:rPr lang="en" sz="1100">
                <a:solidFill>
                  <a:srgbClr val="188038"/>
                </a:solidFill>
                <a:latin typeface="Nunito"/>
                <a:ea typeface="Nunito"/>
                <a:cs typeface="Nunito"/>
                <a:sym typeface="Nunito"/>
              </a:rPr>
              <a:t>propensity_model_summary.txt</a:t>
            </a:r>
            <a:r>
              <a:rPr lang="en" sz="1100">
                <a:latin typeface="Nunito"/>
                <a:ea typeface="Nunito"/>
                <a:cs typeface="Nunito"/>
                <a:sym typeface="Nunito"/>
              </a:rPr>
              <a:t>, dentro de la carpeta de resultados de </a:t>
            </a:r>
            <a:r>
              <a:rPr lang="en" sz="1100">
                <a:solidFill>
                  <a:srgbClr val="188038"/>
                </a:solidFill>
                <a:latin typeface="Nunito"/>
                <a:ea typeface="Nunito"/>
                <a:cs typeface="Nunito"/>
                <a:sym typeface="Nunito"/>
              </a:rPr>
              <a:t>04_2b</a:t>
            </a:r>
            <a:endParaRPr sz="1100">
              <a:solidFill>
                <a:srgbClr val="188038"/>
              </a:solidFill>
              <a:latin typeface="Nunito"/>
              <a:ea typeface="Nunito"/>
              <a:cs typeface="Nunito"/>
              <a:sym typeface="Nunito"/>
            </a:endParaRPr>
          </a:p>
          <a:p>
            <a:pPr indent="0" lvl="0" marL="0" rtl="0" algn="ctr">
              <a:spcBef>
                <a:spcPts val="1200"/>
              </a:spcBef>
              <a:spcAft>
                <a:spcPts val="0"/>
              </a:spcAft>
              <a:buNone/>
            </a:pPr>
            <a:r>
              <a:t/>
            </a:r>
            <a:endParaRPr sz="1100">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412c17598e8_0_598"/>
          <p:cNvSpPr txBox="1"/>
          <p:nvPr>
            <p:ph type="title"/>
          </p:nvPr>
        </p:nvSpPr>
        <p:spPr>
          <a:xfrm>
            <a:off x="715050" y="548900"/>
            <a:ext cx="79365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Bootstrap europeo: construcción de las réplicas</a:t>
            </a:r>
            <a:endParaRPr sz="1100">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04_2b_propensity_bootstrap_eu_pfe_esn_renew_greens_merged_clustering_usable.R</a:t>
            </a:r>
            <a:endParaRPr sz="1100">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t/>
            </a:r>
            <a:endParaRPr/>
          </a:p>
        </p:txBody>
      </p:sp>
      <p:sp>
        <p:nvSpPr>
          <p:cNvPr id="412" name="Google Shape;412;g412c17598e8_0_5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13" name="Google Shape;413;g412c17598e8_0_598"/>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414" name="Google Shape;414;g412c17598e8_0_598"/>
          <p:cNvSpPr txBox="1"/>
          <p:nvPr/>
        </p:nvSpPr>
        <p:spPr>
          <a:xfrm>
            <a:off x="608700" y="1221850"/>
            <a:ext cx="8149200" cy="35280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200"/>
              </a:spcBef>
              <a:spcAft>
                <a:spcPts val="0"/>
              </a:spcAft>
              <a:buSzPts val="1400"/>
              <a:buChar char="●"/>
            </a:pPr>
            <a:r>
              <a:rPr b="1" lang="en">
                <a:latin typeface="Nunito"/>
                <a:ea typeface="Nunito"/>
                <a:cs typeface="Nunito"/>
                <a:sym typeface="Nunito"/>
              </a:rPr>
              <a:t>Define el tamaño del remuestreo:</a:t>
            </a:r>
            <a:r>
              <a:rPr lang="en">
                <a:latin typeface="Nunito"/>
                <a:ea typeface="Nunito"/>
                <a:cs typeface="Nunito"/>
                <a:sym typeface="Nunito"/>
              </a:rPr>
              <a:t> genera </a:t>
            </a:r>
            <a:r>
              <a:rPr b="1" lang="en">
                <a:latin typeface="Nunito"/>
                <a:ea typeface="Nunito"/>
                <a:cs typeface="Nunito"/>
                <a:sym typeface="Nunito"/>
              </a:rPr>
              <a:t>1.000 réplicas</a:t>
            </a:r>
            <a:r>
              <a:rPr lang="en">
                <a:latin typeface="Nunito"/>
                <a:ea typeface="Nunito"/>
                <a:cs typeface="Nunito"/>
                <a:sym typeface="Nunito"/>
              </a:rPr>
              <a:t> con </a:t>
            </a:r>
            <a:r>
              <a:rPr b="1" lang="en">
                <a:latin typeface="Nunito"/>
                <a:ea typeface="Nunito"/>
                <a:cs typeface="Nunito"/>
                <a:sym typeface="Nunito"/>
              </a:rPr>
              <a:t>1.000 draws europeos</a:t>
            </a:r>
            <a:r>
              <a:rPr lang="en">
                <a:latin typeface="Nunito"/>
                <a:ea typeface="Nunito"/>
                <a:cs typeface="Nunito"/>
                <a:sym typeface="Nunito"/>
              </a:rPr>
              <a:t> cada una.</a:t>
            </a:r>
            <a:endParaRPr>
              <a:latin typeface="Nunito"/>
              <a:ea typeface="Nunito"/>
              <a:cs typeface="Nunito"/>
              <a:sym typeface="Nunito"/>
            </a:endParaRPr>
          </a:p>
          <a:p>
            <a:pPr indent="-317500" lvl="0" marL="457200" rtl="0" algn="just">
              <a:lnSpc>
                <a:spcPct val="115000"/>
              </a:lnSpc>
              <a:spcBef>
                <a:spcPts val="0"/>
              </a:spcBef>
              <a:spcAft>
                <a:spcPts val="0"/>
              </a:spcAft>
              <a:buSzPts val="1400"/>
              <a:buChar char="●"/>
            </a:pPr>
            <a:r>
              <a:rPr b="1" lang="en">
                <a:latin typeface="Nunito"/>
                <a:ea typeface="Nunito"/>
                <a:cs typeface="Nunito"/>
                <a:sym typeface="Nunito"/>
              </a:rPr>
              <a:t>Fija la proporción objetivo:</a:t>
            </a:r>
            <a:r>
              <a:rPr lang="en">
                <a:latin typeface="Nunito"/>
                <a:ea typeface="Nunito"/>
                <a:cs typeface="Nunito"/>
                <a:sym typeface="Nunito"/>
              </a:rPr>
              <a:t> separa votantes y abstencionistas según el target externo usado en el análisis(</a:t>
            </a:r>
            <a:r>
              <a:rPr lang="en" u="sng">
                <a:solidFill>
                  <a:schemeClr val="hlink"/>
                </a:solidFill>
                <a:latin typeface="Nunito"/>
                <a:ea typeface="Nunito"/>
                <a:cs typeface="Nunito"/>
                <a:sym typeface="Nunito"/>
                <a:hlinkClick r:id="rId4"/>
              </a:rPr>
              <a:t>https://docs.google.com/spreadsheets/d/1BekmD4_mipV7m7xa7ZuT8-LQ7pFOEsgTU_Jbnzlc-Xw/edit?gid=0#gid=0</a:t>
            </a:r>
            <a:r>
              <a:rPr lang="en">
                <a:latin typeface="Nunito"/>
                <a:ea typeface="Nunito"/>
                <a:cs typeface="Nunito"/>
                <a:sym typeface="Nunito"/>
              </a:rPr>
              <a:t>).</a:t>
            </a:r>
            <a:endParaRPr>
              <a:latin typeface="Nunito"/>
              <a:ea typeface="Nunito"/>
              <a:cs typeface="Nunito"/>
              <a:sym typeface="Nunito"/>
            </a:endParaRPr>
          </a:p>
          <a:p>
            <a:pPr indent="-317500" lvl="0" marL="457200" rtl="0" algn="just">
              <a:lnSpc>
                <a:spcPct val="115000"/>
              </a:lnSpc>
              <a:spcBef>
                <a:spcPts val="0"/>
              </a:spcBef>
              <a:spcAft>
                <a:spcPts val="0"/>
              </a:spcAft>
              <a:buSzPts val="1400"/>
              <a:buChar char="●"/>
            </a:pPr>
            <a:r>
              <a:rPr b="1" lang="en">
                <a:latin typeface="Nunito"/>
                <a:ea typeface="Nunito"/>
                <a:cs typeface="Nunito"/>
                <a:sym typeface="Nunito"/>
              </a:rPr>
              <a:t>Selecciona abstencionistas:</a:t>
            </a:r>
            <a:r>
              <a:rPr lang="en">
                <a:latin typeface="Nunito"/>
                <a:ea typeface="Nunito"/>
                <a:cs typeface="Nunito"/>
                <a:sym typeface="Nunito"/>
              </a:rPr>
              <a:t> remuestrea según la probabilidad estimada de abstención.</a:t>
            </a:r>
            <a:endParaRPr>
              <a:latin typeface="Nunito"/>
              <a:ea typeface="Nunito"/>
              <a:cs typeface="Nunito"/>
              <a:sym typeface="Nunito"/>
            </a:endParaRPr>
          </a:p>
          <a:p>
            <a:pPr indent="-317500" lvl="0" marL="457200" rtl="0" algn="just">
              <a:lnSpc>
                <a:spcPct val="115000"/>
              </a:lnSpc>
              <a:spcBef>
                <a:spcPts val="0"/>
              </a:spcBef>
              <a:spcAft>
                <a:spcPts val="0"/>
              </a:spcAft>
              <a:buSzPts val="1400"/>
              <a:buChar char="●"/>
            </a:pPr>
            <a:r>
              <a:rPr b="1" lang="en">
                <a:latin typeface="Nunito"/>
                <a:ea typeface="Nunito"/>
                <a:cs typeface="Nunito"/>
                <a:sym typeface="Nunito"/>
              </a:rPr>
              <a:t>Selecciona votantes:</a:t>
            </a:r>
            <a:r>
              <a:rPr lang="en">
                <a:latin typeface="Nunito"/>
                <a:ea typeface="Nunito"/>
                <a:cs typeface="Nunito"/>
                <a:sym typeface="Nunito"/>
              </a:rPr>
              <a:t> remuestrea por grupos electorales europeos fusionados.</a:t>
            </a:r>
            <a:endParaRPr>
              <a:latin typeface="Nunito"/>
              <a:ea typeface="Nunito"/>
              <a:cs typeface="Nunito"/>
              <a:sym typeface="Nunito"/>
            </a:endParaRPr>
          </a:p>
          <a:p>
            <a:pPr indent="-317500" lvl="0" marL="457200" rtl="0" algn="just">
              <a:lnSpc>
                <a:spcPct val="115000"/>
              </a:lnSpc>
              <a:spcBef>
                <a:spcPts val="0"/>
              </a:spcBef>
              <a:spcAft>
                <a:spcPts val="0"/>
              </a:spcAft>
              <a:buSzPts val="1400"/>
              <a:buChar char="●"/>
            </a:pPr>
            <a:r>
              <a:rPr b="1" lang="en">
                <a:latin typeface="Nunito"/>
                <a:ea typeface="Nunito"/>
                <a:cs typeface="Nunito"/>
                <a:sym typeface="Nunito"/>
              </a:rPr>
              <a:t>Limita pesos extremos:</a:t>
            </a:r>
            <a:r>
              <a:rPr lang="en">
                <a:latin typeface="Nunito"/>
                <a:ea typeface="Nunito"/>
                <a:cs typeface="Nunito"/>
                <a:sym typeface="Nunito"/>
              </a:rPr>
              <a:t> aplica un máximo de peso para evitar que pocos casos dominen el remuestreo.</a:t>
            </a:r>
            <a:endParaRPr>
              <a:latin typeface="Nunito"/>
              <a:ea typeface="Nunito"/>
              <a:cs typeface="Nunito"/>
              <a:sym typeface="Nunito"/>
            </a:endParaRPr>
          </a:p>
          <a:p>
            <a:pPr indent="-317500" lvl="0" marL="457200" rtl="0" algn="just">
              <a:lnSpc>
                <a:spcPct val="115000"/>
              </a:lnSpc>
              <a:spcBef>
                <a:spcPts val="0"/>
              </a:spcBef>
              <a:spcAft>
                <a:spcPts val="0"/>
              </a:spcAft>
              <a:buSzPts val="1400"/>
              <a:buChar char="●"/>
            </a:pPr>
            <a:r>
              <a:rPr b="1" lang="en">
                <a:latin typeface="Nunito"/>
                <a:ea typeface="Nunito"/>
                <a:cs typeface="Nunito"/>
                <a:sym typeface="Nunito"/>
              </a:rPr>
              <a:t>Guarda el índice bootstrap:</a:t>
            </a:r>
            <a:r>
              <a:rPr lang="en">
                <a:latin typeface="Nunito"/>
                <a:ea typeface="Nunito"/>
                <a:cs typeface="Nunito"/>
                <a:sym typeface="Nunito"/>
              </a:rPr>
              <a:t> cada fila representa una selección (draw) de un participante dentro de una réplica, identificada mediante bootstrap_id.</a:t>
            </a:r>
            <a:endParaRPr>
              <a:latin typeface="Nunito"/>
              <a:ea typeface="Nunito"/>
              <a:cs typeface="Nunito"/>
              <a:sym typeface="Nunito"/>
            </a:endParaRPr>
          </a:p>
          <a:p>
            <a:pPr indent="0" lvl="0" marL="0" rtl="0" algn="just">
              <a:spcBef>
                <a:spcPts val="1200"/>
              </a:spcBef>
              <a:spcAft>
                <a:spcPts val="0"/>
              </a:spcAft>
              <a:buNone/>
            </a:pPr>
            <a:r>
              <a:t/>
            </a:r>
            <a:endParaRPr b="1">
              <a:latin typeface="Nunito"/>
              <a:ea typeface="Nunito"/>
              <a:cs typeface="Nunito"/>
              <a:sym typeface="Nunito"/>
            </a:endParaRPr>
          </a:p>
        </p:txBody>
      </p:sp>
      <p:sp>
        <p:nvSpPr>
          <p:cNvPr id="415" name="Google Shape;415;g412c17598e8_0_598"/>
          <p:cNvSpPr txBox="1"/>
          <p:nvPr/>
        </p:nvSpPr>
        <p:spPr>
          <a:xfrm>
            <a:off x="630000" y="4249125"/>
            <a:ext cx="7884000" cy="938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100">
                <a:latin typeface="Nunito"/>
                <a:ea typeface="Nunito"/>
                <a:cs typeface="Nunito"/>
                <a:sym typeface="Nunito"/>
              </a:rPr>
              <a:t>Salida principal:</a:t>
            </a:r>
            <a:br>
              <a:rPr b="1" lang="en" sz="1100">
                <a:latin typeface="Nunito"/>
                <a:ea typeface="Nunito"/>
                <a:cs typeface="Nunito"/>
                <a:sym typeface="Nunito"/>
              </a:rPr>
            </a:br>
            <a:r>
              <a:rPr lang="en" sz="1100">
                <a:latin typeface="Nunito"/>
                <a:ea typeface="Nunito"/>
                <a:cs typeface="Nunito"/>
                <a:sym typeface="Nunito"/>
              </a:rPr>
              <a:t> </a:t>
            </a:r>
            <a:r>
              <a:rPr lang="en" sz="1100">
                <a:solidFill>
                  <a:srgbClr val="188038"/>
                </a:solidFill>
                <a:latin typeface="Nunito"/>
                <a:ea typeface="Nunito"/>
                <a:cs typeface="Nunito"/>
                <a:sym typeface="Nunito"/>
              </a:rPr>
              <a:t>04_2b.../bootstrap_samples_index.csv</a:t>
            </a:r>
            <a:endParaRPr sz="1100">
              <a:solidFill>
                <a:srgbClr val="188038"/>
              </a:solidFill>
              <a:latin typeface="Nunito"/>
              <a:ea typeface="Nunito"/>
              <a:cs typeface="Nunito"/>
              <a:sym typeface="Nunito"/>
            </a:endParaRPr>
          </a:p>
          <a:p>
            <a:pPr indent="0" lvl="0" marL="0" rtl="0" algn="ctr">
              <a:lnSpc>
                <a:spcPct val="115000"/>
              </a:lnSpc>
              <a:spcBef>
                <a:spcPts val="0"/>
              </a:spcBef>
              <a:spcAft>
                <a:spcPts val="0"/>
              </a:spcAft>
              <a:buNone/>
            </a:pPr>
            <a:r>
              <a:rPr b="1" lang="en" sz="1100">
                <a:latin typeface="Nunito"/>
                <a:ea typeface="Nunito"/>
                <a:cs typeface="Nunito"/>
                <a:sym typeface="Nunito"/>
              </a:rPr>
              <a:t>Otros archivos clave:</a:t>
            </a:r>
            <a:br>
              <a:rPr b="1" lang="en" sz="1100">
                <a:latin typeface="Nunito"/>
                <a:ea typeface="Nunito"/>
                <a:cs typeface="Nunito"/>
                <a:sym typeface="Nunito"/>
              </a:rPr>
            </a:br>
            <a:r>
              <a:rPr lang="en" sz="1100">
                <a:latin typeface="Nunito"/>
                <a:ea typeface="Nunito"/>
                <a:cs typeface="Nunito"/>
                <a:sym typeface="Nunito"/>
              </a:rPr>
              <a:t> </a:t>
            </a:r>
            <a:r>
              <a:rPr lang="en" sz="1100">
                <a:solidFill>
                  <a:srgbClr val="188038"/>
                </a:solidFill>
                <a:latin typeface="Nunito"/>
                <a:ea typeface="Nunito"/>
                <a:cs typeface="Nunito"/>
                <a:sym typeface="Nunito"/>
              </a:rPr>
              <a:t>bootstrap_targets_final.csv</a:t>
            </a:r>
            <a:r>
              <a:rPr lang="en" sz="1100">
                <a:latin typeface="Nunito"/>
                <a:ea typeface="Nunito"/>
                <a:cs typeface="Nunito"/>
                <a:sym typeface="Nunito"/>
              </a:rPr>
              <a:t> · </a:t>
            </a:r>
            <a:r>
              <a:rPr lang="en" sz="1100">
                <a:solidFill>
                  <a:srgbClr val="188038"/>
                </a:solidFill>
                <a:latin typeface="Nunito"/>
                <a:ea typeface="Nunito"/>
                <a:cs typeface="Nunito"/>
                <a:sym typeface="Nunito"/>
              </a:rPr>
              <a:t>bootstrap_samples_summary.csv</a:t>
            </a:r>
            <a:r>
              <a:rPr lang="en" sz="1100">
                <a:latin typeface="Nunito"/>
                <a:ea typeface="Nunito"/>
                <a:cs typeface="Nunito"/>
                <a:sym typeface="Nunito"/>
              </a:rPr>
              <a:t> · </a:t>
            </a:r>
            <a:r>
              <a:rPr lang="en" sz="1100">
                <a:solidFill>
                  <a:srgbClr val="188038"/>
                </a:solidFill>
                <a:latin typeface="Nunito"/>
                <a:ea typeface="Nunito"/>
                <a:cs typeface="Nunito"/>
                <a:sym typeface="Nunito"/>
              </a:rPr>
              <a:t>bootstrap_clustering_usable_check.csv</a:t>
            </a:r>
            <a:endParaRPr sz="1100">
              <a:solidFill>
                <a:srgbClr val="188038"/>
              </a:solidFill>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412c17598e8_0_613"/>
          <p:cNvSpPr txBox="1"/>
          <p:nvPr>
            <p:ph type="title"/>
          </p:nvPr>
        </p:nvSpPr>
        <p:spPr>
          <a:xfrm>
            <a:off x="715050" y="548900"/>
            <a:ext cx="79365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500"/>
              <a:buNone/>
            </a:pPr>
            <a:r>
              <a:rPr lang="en"/>
              <a:t>Bootstrap europeo: construcción de las réplicas</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04_2b_propensity_bootstrap_eu_pfe_esn_renew_greens_merged_clustering_usable.R</a:t>
            </a:r>
            <a:endParaRPr sz="1100">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t/>
            </a:r>
            <a:endParaRPr/>
          </a:p>
        </p:txBody>
      </p:sp>
      <p:sp>
        <p:nvSpPr>
          <p:cNvPr id="421" name="Google Shape;421;g412c17598e8_0_6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22" name="Google Shape;422;g412c17598e8_0_613"/>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423" name="Google Shape;423;g412c17598e8_0_613"/>
          <p:cNvGraphicFramePr/>
          <p:nvPr/>
        </p:nvGraphicFramePr>
        <p:xfrm>
          <a:off x="951100" y="1325250"/>
          <a:ext cx="3000000" cy="3000000"/>
        </p:xfrm>
        <a:graphic>
          <a:graphicData uri="http://schemas.openxmlformats.org/drawingml/2006/table">
            <a:tbl>
              <a:tblPr>
                <a:noFill/>
                <a:tableStyleId>{E52E4BE9-5879-4D65-9C92-106A106E9681}</a:tableStyleId>
              </a:tblPr>
              <a:tblGrid>
                <a:gridCol w="2450775"/>
                <a:gridCol w="2303375"/>
                <a:gridCol w="2487625"/>
              </a:tblGrid>
              <a:tr h="20002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Réplicas generadas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Draws por réplica</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Total de selecciones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200025">
                <a:tc>
                  <a:txBody>
                    <a:bodyPr/>
                    <a:lstStyle/>
                    <a:p>
                      <a:pPr indent="0" lvl="0" marL="0" rtl="0" algn="ctr">
                        <a:spcBef>
                          <a:spcPts val="0"/>
                        </a:spcBef>
                        <a:spcAft>
                          <a:spcPts val="0"/>
                        </a:spcAft>
                        <a:buNone/>
                      </a:pPr>
                      <a:r>
                        <a:rPr b="1" lang="en">
                          <a:latin typeface="Nunito"/>
                          <a:ea typeface="Nunito"/>
                          <a:cs typeface="Nunito"/>
                          <a:sym typeface="Nunito"/>
                        </a:rPr>
                        <a:t>1.000</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Nunito"/>
                          <a:ea typeface="Nunito"/>
                          <a:cs typeface="Nunito"/>
                          <a:sym typeface="Nunito"/>
                        </a:rPr>
                        <a:t>1.000</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Nunito"/>
                          <a:ea typeface="Nunito"/>
                          <a:cs typeface="Nunito"/>
                          <a:sym typeface="Nunito"/>
                        </a:rPr>
                        <a:t>1.000.000</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424" name="Google Shape;424;g412c17598e8_0_613"/>
          <p:cNvGraphicFramePr/>
          <p:nvPr/>
        </p:nvGraphicFramePr>
        <p:xfrm>
          <a:off x="1712300" y="2889575"/>
          <a:ext cx="3000000" cy="3000000"/>
        </p:xfrm>
        <a:graphic>
          <a:graphicData uri="http://schemas.openxmlformats.org/drawingml/2006/table">
            <a:tbl>
              <a:tblPr>
                <a:noFill/>
                <a:tableStyleId>{E52E4BE9-5879-4D65-9C92-106A106E9681}</a:tableStyleId>
              </a:tblPr>
              <a:tblGrid>
                <a:gridCol w="2845750"/>
                <a:gridCol w="3096225"/>
              </a:tblGrid>
              <a:tr h="7247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Grupo</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Proporción objetivo</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200025">
                <a:tc>
                  <a:txBody>
                    <a:bodyPr/>
                    <a:lstStyle/>
                    <a:p>
                      <a:pPr indent="0" lvl="0" marL="0" rtl="0" algn="ctr">
                        <a:spcBef>
                          <a:spcPts val="0"/>
                        </a:spcBef>
                        <a:spcAft>
                          <a:spcPts val="0"/>
                        </a:spcAft>
                        <a:buNone/>
                      </a:pPr>
                      <a:r>
                        <a:rPr lang="en">
                          <a:latin typeface="Nunito"/>
                          <a:ea typeface="Nunito"/>
                          <a:cs typeface="Nunito"/>
                          <a:sym typeface="Nunito"/>
                        </a:rPr>
                        <a:t>Abstención</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50,65 %</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a:latin typeface="Nunito"/>
                          <a:ea typeface="Nunito"/>
                          <a:cs typeface="Nunito"/>
                          <a:sym typeface="Nunito"/>
                        </a:rPr>
                        <a:t>Voto</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49,35 %</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25" name="Google Shape;425;g412c17598e8_0_613"/>
          <p:cNvSpPr txBox="1"/>
          <p:nvPr/>
        </p:nvSpPr>
        <p:spPr>
          <a:xfrm>
            <a:off x="455250" y="2148150"/>
            <a:ext cx="8233500" cy="847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
                <a:latin typeface="Nunito"/>
                <a:ea typeface="Nunito"/>
                <a:cs typeface="Nunito"/>
                <a:sym typeface="Nunito"/>
              </a:rPr>
              <a:t>Distribución objetivo utilizada. </a:t>
            </a:r>
            <a:r>
              <a:rPr lang="en">
                <a:latin typeface="Nunito"/>
                <a:ea typeface="Nunito"/>
                <a:cs typeface="Nunito"/>
                <a:sym typeface="Nunito"/>
              </a:rPr>
              <a:t>Cada réplica se construye con 506 selecciones de abstencionistas y 494 de votantes, distribuidas entre los grupos electorales definidos</a:t>
            </a:r>
            <a:endParaRPr>
              <a:latin typeface="Nunito"/>
              <a:ea typeface="Nunito"/>
              <a:cs typeface="Nunito"/>
              <a:sym typeface="Nunito"/>
            </a:endParaRPr>
          </a:p>
        </p:txBody>
      </p:sp>
      <p:sp>
        <p:nvSpPr>
          <p:cNvPr id="426" name="Google Shape;426;g412c17598e8_0_613"/>
          <p:cNvSpPr txBox="1"/>
          <p:nvPr/>
        </p:nvSpPr>
        <p:spPr>
          <a:xfrm>
            <a:off x="1117800" y="4045900"/>
            <a:ext cx="7131000" cy="938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100">
                <a:latin typeface="Nunito"/>
                <a:ea typeface="Nunito"/>
                <a:cs typeface="Nunito"/>
                <a:sym typeface="Nunito"/>
              </a:rPr>
              <a:t>Índice de participantes seleccionados:</a:t>
            </a:r>
            <a:r>
              <a:rPr lang="en" sz="1100">
                <a:latin typeface="Nunito"/>
                <a:ea typeface="Nunito"/>
                <a:cs typeface="Nunito"/>
                <a:sym typeface="Nunito"/>
              </a:rPr>
              <a:t> </a:t>
            </a:r>
            <a:r>
              <a:rPr lang="en" sz="1100">
                <a:solidFill>
                  <a:srgbClr val="188038"/>
                </a:solidFill>
                <a:latin typeface="Nunito"/>
                <a:ea typeface="Nunito"/>
                <a:cs typeface="Nunito"/>
                <a:sym typeface="Nunito"/>
              </a:rPr>
              <a:t>bootstrap_samples_index.csv</a:t>
            </a:r>
            <a:endParaRPr sz="1100">
              <a:solidFill>
                <a:srgbClr val="188038"/>
              </a:solidFill>
              <a:latin typeface="Nunito"/>
              <a:ea typeface="Nunito"/>
              <a:cs typeface="Nunito"/>
              <a:sym typeface="Nunito"/>
            </a:endParaRPr>
          </a:p>
          <a:p>
            <a:pPr indent="0" lvl="0" marL="0" rtl="0" algn="ctr">
              <a:lnSpc>
                <a:spcPct val="115000"/>
              </a:lnSpc>
              <a:spcBef>
                <a:spcPts val="0"/>
              </a:spcBef>
              <a:spcAft>
                <a:spcPts val="0"/>
              </a:spcAft>
              <a:buNone/>
            </a:pPr>
            <a:r>
              <a:rPr b="1" lang="en" sz="1100">
                <a:latin typeface="Nunito"/>
                <a:ea typeface="Nunito"/>
                <a:cs typeface="Nunito"/>
                <a:sym typeface="Nunito"/>
              </a:rPr>
              <a:t>Distribución objetivo:</a:t>
            </a:r>
            <a:r>
              <a:rPr lang="en" sz="1100">
                <a:latin typeface="Nunito"/>
                <a:ea typeface="Nunito"/>
                <a:cs typeface="Nunito"/>
                <a:sym typeface="Nunito"/>
              </a:rPr>
              <a:t> </a:t>
            </a:r>
            <a:r>
              <a:rPr lang="en" sz="1100">
                <a:solidFill>
                  <a:srgbClr val="188038"/>
                </a:solidFill>
                <a:latin typeface="Nunito"/>
                <a:ea typeface="Nunito"/>
                <a:cs typeface="Nunito"/>
                <a:sym typeface="Nunito"/>
              </a:rPr>
              <a:t>bootstrap_targets_final.csv</a:t>
            </a:r>
            <a:endParaRPr sz="1100">
              <a:solidFill>
                <a:srgbClr val="188038"/>
              </a:solidFill>
              <a:latin typeface="Nunito"/>
              <a:ea typeface="Nunito"/>
              <a:cs typeface="Nunito"/>
              <a:sym typeface="Nunito"/>
            </a:endParaRPr>
          </a:p>
          <a:p>
            <a:pPr indent="0" lvl="0" marL="0" rtl="0" algn="ctr">
              <a:lnSpc>
                <a:spcPct val="115000"/>
              </a:lnSpc>
              <a:spcBef>
                <a:spcPts val="0"/>
              </a:spcBef>
              <a:spcAft>
                <a:spcPts val="0"/>
              </a:spcAft>
              <a:buNone/>
            </a:pPr>
            <a:r>
              <a:rPr b="1" lang="en" sz="1100">
                <a:latin typeface="Nunito"/>
                <a:ea typeface="Nunito"/>
                <a:cs typeface="Nunito"/>
                <a:sym typeface="Nunito"/>
              </a:rPr>
              <a:t>Comprobación de calidad:</a:t>
            </a:r>
            <a:r>
              <a:rPr lang="en" sz="1100">
                <a:latin typeface="Nunito"/>
                <a:ea typeface="Nunito"/>
                <a:cs typeface="Nunito"/>
                <a:sym typeface="Nunito"/>
              </a:rPr>
              <a:t> </a:t>
            </a:r>
            <a:r>
              <a:rPr lang="en" sz="1100">
                <a:solidFill>
                  <a:srgbClr val="188038"/>
                </a:solidFill>
                <a:latin typeface="Nunito"/>
                <a:ea typeface="Nunito"/>
                <a:cs typeface="Nunito"/>
                <a:sym typeface="Nunito"/>
              </a:rPr>
              <a:t>bootstrap_clustering_usable_check.csv</a:t>
            </a:r>
            <a:endParaRPr sz="1100">
              <a:solidFill>
                <a:srgbClr val="188038"/>
              </a:solidFill>
              <a:latin typeface="Nunito"/>
              <a:ea typeface="Nunito"/>
              <a:cs typeface="Nunito"/>
              <a:sym typeface="Nunito"/>
            </a:endParaRPr>
          </a:p>
          <a:p>
            <a:pPr indent="0" lvl="0" marL="0" rtl="0" algn="ctr">
              <a:lnSpc>
                <a:spcPct val="115000"/>
              </a:lnSpc>
              <a:spcBef>
                <a:spcPts val="0"/>
              </a:spcBef>
              <a:spcAft>
                <a:spcPts val="0"/>
              </a:spcAft>
              <a:buNone/>
            </a:pPr>
            <a:r>
              <a:rPr b="1" lang="en" sz="1100">
                <a:latin typeface="Nunito"/>
                <a:ea typeface="Nunito"/>
                <a:cs typeface="Nunito"/>
                <a:sym typeface="Nunito"/>
              </a:rPr>
              <a:t>Resumen de las réplicas:</a:t>
            </a:r>
            <a:r>
              <a:rPr lang="en" sz="1100">
                <a:latin typeface="Nunito"/>
                <a:ea typeface="Nunito"/>
                <a:cs typeface="Nunito"/>
                <a:sym typeface="Nunito"/>
              </a:rPr>
              <a:t> </a:t>
            </a:r>
            <a:r>
              <a:rPr lang="en" sz="1100">
                <a:solidFill>
                  <a:srgbClr val="188038"/>
                </a:solidFill>
                <a:latin typeface="Nunito"/>
                <a:ea typeface="Nunito"/>
                <a:cs typeface="Nunito"/>
                <a:sym typeface="Nunito"/>
              </a:rPr>
              <a:t>bootstrap_samples_summary.csv</a:t>
            </a:r>
            <a:endParaRPr sz="1100">
              <a:solidFill>
                <a:srgbClr val="188038"/>
              </a:solidFill>
              <a:latin typeface="Nunito"/>
              <a:ea typeface="Nunito"/>
              <a:cs typeface="Nunito"/>
              <a:sym typeface="Nuni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412c17598e8_0_631"/>
          <p:cNvSpPr txBox="1"/>
          <p:nvPr>
            <p:ph type="title"/>
          </p:nvPr>
        </p:nvSpPr>
        <p:spPr>
          <a:xfrm>
            <a:off x="715050" y="548900"/>
            <a:ext cx="82827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solidFill>
                  <a:srgbClr val="000000"/>
                </a:solidFill>
                <a:latin typeface="Alexandria"/>
                <a:ea typeface="Alexandria"/>
                <a:cs typeface="Alexandria"/>
                <a:sym typeface="Alexandria"/>
              </a:rPr>
              <a:t>Bootstrap europeo: distribución de las selecciones por grupo electoral</a:t>
            </a:r>
            <a:endParaRPr>
              <a:solidFill>
                <a:srgbClr val="000000"/>
              </a:solidFill>
              <a:latin typeface="Alexandria"/>
              <a:ea typeface="Alexandria"/>
              <a:cs typeface="Alexandria"/>
              <a:sym typeface="Alexandria"/>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csv:</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bootstrap_samples_summary.csv</a:t>
            </a:r>
            <a:endParaRPr sz="1100">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t/>
            </a:r>
            <a:endParaRPr/>
          </a:p>
        </p:txBody>
      </p:sp>
      <p:sp>
        <p:nvSpPr>
          <p:cNvPr id="432" name="Google Shape;432;g412c17598e8_0_6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33" name="Google Shape;433;g412c17598e8_0_631"/>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434" name="Google Shape;434;g412c17598e8_0_631" title="Captura de pantalla 2026-09-21 a las 10.14.05.png"/>
          <p:cNvPicPr preferRelativeResize="0"/>
          <p:nvPr/>
        </p:nvPicPr>
        <p:blipFill rotWithShape="1">
          <a:blip r:embed="rId4">
            <a:alphaModFix/>
          </a:blip>
          <a:srcRect b="0" l="0" r="40113" t="0"/>
          <a:stretch/>
        </p:blipFill>
        <p:spPr>
          <a:xfrm>
            <a:off x="3435775" y="1383750"/>
            <a:ext cx="4754150" cy="3647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412c17598e8_0_108"/>
          <p:cNvSpPr txBox="1"/>
          <p:nvPr>
            <p:ph type="title"/>
          </p:nvPr>
        </p:nvSpPr>
        <p:spPr>
          <a:xfrm>
            <a:off x="715050" y="548900"/>
            <a:ext cx="7713900" cy="59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Construcción del bootstrap LATAM: criterio de remuestreo</a:t>
            </a:r>
            <a:endParaRPr/>
          </a:p>
          <a:p>
            <a:pPr indent="0" lvl="0" marL="0" rtl="0" algn="l">
              <a:lnSpc>
                <a:spcPct val="115000"/>
              </a:lnSpc>
              <a:spcBef>
                <a:spcPts val="0"/>
              </a:spcBef>
              <a:spcAft>
                <a:spcPts val="0"/>
              </a:spcAft>
              <a:buNone/>
            </a:pPr>
            <a:r>
              <a:rPr lang="en" sz="1100"/>
              <a:t>Ajuste de la composición de la muestra según país e ingresos</a:t>
            </a:r>
            <a:endParaRPr sz="1100"/>
          </a:p>
          <a:p>
            <a:pPr indent="0" lvl="0" marL="0" rtl="0" algn="l">
              <a:lnSpc>
                <a:spcPct val="100000"/>
              </a:lnSpc>
              <a:spcBef>
                <a:spcPts val="0"/>
              </a:spcBef>
              <a:spcAft>
                <a:spcPts val="0"/>
              </a:spcAft>
              <a:buSzPts val="2500"/>
              <a:buNone/>
            </a:pPr>
            <a:r>
              <a:t/>
            </a:r>
            <a:endParaRPr/>
          </a:p>
        </p:txBody>
      </p:sp>
      <p:sp>
        <p:nvSpPr>
          <p:cNvPr id="440" name="Google Shape;440;g412c17598e8_0_10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41" name="Google Shape;441;g412c17598e8_0_108"/>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442" name="Google Shape;442;g412c17598e8_0_108"/>
          <p:cNvSpPr txBox="1"/>
          <p:nvPr/>
        </p:nvSpPr>
        <p:spPr>
          <a:xfrm>
            <a:off x="664875" y="1832625"/>
            <a:ext cx="8008800" cy="3032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a:latin typeface="Nunito"/>
                <a:ea typeface="Nunito"/>
                <a:cs typeface="Nunito"/>
                <a:sym typeface="Nunito"/>
              </a:rPr>
              <a:t>Problema de partida. </a:t>
            </a:r>
            <a:r>
              <a:rPr lang="en">
                <a:latin typeface="Nunito"/>
                <a:ea typeface="Nunito"/>
                <a:cs typeface="Nunito"/>
                <a:sym typeface="Nunito"/>
              </a:rPr>
              <a:t>El modelo europeo se construye utilizando información electoral. Para LATAM se define un procedimiento diferente, basado en la distribución de ingresos de los participantes y en unas distribuciones objetivo por país.</a:t>
            </a:r>
            <a:endParaRPr b="1">
              <a:latin typeface="Nunito"/>
              <a:ea typeface="Nunito"/>
              <a:cs typeface="Nunito"/>
              <a:sym typeface="Nunito"/>
            </a:endParaRPr>
          </a:p>
          <a:p>
            <a:pPr indent="-317500" lvl="0" marL="457200" rtl="0" algn="just">
              <a:lnSpc>
                <a:spcPct val="115000"/>
              </a:lnSpc>
              <a:spcBef>
                <a:spcPts val="1200"/>
              </a:spcBef>
              <a:spcAft>
                <a:spcPts val="0"/>
              </a:spcAft>
              <a:buSzPts val="1400"/>
              <a:buChar char="●"/>
            </a:pPr>
            <a:r>
              <a:rPr b="1" lang="en">
                <a:latin typeface="Nunito"/>
                <a:ea typeface="Nunito"/>
                <a:cs typeface="Nunito"/>
                <a:sym typeface="Nunito"/>
              </a:rPr>
              <a:t>Considerar las diferencias económicas:</a:t>
            </a:r>
            <a:r>
              <a:rPr lang="en">
                <a:latin typeface="Nunito"/>
                <a:ea typeface="Nunito"/>
                <a:cs typeface="Nunito"/>
                <a:sym typeface="Nunito"/>
              </a:rPr>
              <a:t> utilizar los ingresos como variable para organizar el remuestreo de los participantes de WHY_LATAM.</a:t>
            </a:r>
            <a:endParaRPr>
              <a:latin typeface="Nunito"/>
              <a:ea typeface="Nunito"/>
              <a:cs typeface="Nunito"/>
              <a:sym typeface="Nunito"/>
            </a:endParaRPr>
          </a:p>
          <a:p>
            <a:pPr indent="-317500" lvl="0" marL="457200" rtl="0" algn="just">
              <a:lnSpc>
                <a:spcPct val="115000"/>
              </a:lnSpc>
              <a:spcBef>
                <a:spcPts val="0"/>
              </a:spcBef>
              <a:spcAft>
                <a:spcPts val="0"/>
              </a:spcAft>
              <a:buSzPts val="1400"/>
              <a:buChar char="●"/>
            </a:pPr>
            <a:r>
              <a:rPr b="1" lang="en">
                <a:latin typeface="Nunito"/>
                <a:ea typeface="Nunito"/>
                <a:cs typeface="Nunito"/>
                <a:sym typeface="Nunito"/>
              </a:rPr>
              <a:t>Establecer una distribución objetivo:</a:t>
            </a:r>
            <a:r>
              <a:rPr lang="en">
                <a:latin typeface="Nunito"/>
                <a:ea typeface="Nunito"/>
                <a:cs typeface="Nunito"/>
                <a:sym typeface="Nunito"/>
              </a:rPr>
              <a:t> definir qué proporción corresponde a cada tramo de ingreso dentro de cada país (</a:t>
            </a:r>
            <a:r>
              <a:rPr lang="en" u="sng">
                <a:solidFill>
                  <a:schemeClr val="hlink"/>
                </a:solidFill>
                <a:latin typeface="Nunito"/>
                <a:ea typeface="Nunito"/>
                <a:cs typeface="Nunito"/>
                <a:sym typeface="Nunito"/>
                <a:hlinkClick r:id="rId4"/>
              </a:rPr>
              <a:t>https://gemini.google.com/app/f82afee0ac76d1b7</a:t>
            </a:r>
            <a:r>
              <a:rPr lang="en">
                <a:latin typeface="Nunito"/>
                <a:ea typeface="Nunito"/>
                <a:cs typeface="Nunito"/>
                <a:sym typeface="Nunito"/>
              </a:rPr>
              <a:t>).</a:t>
            </a:r>
            <a:endParaRPr>
              <a:latin typeface="Nunito"/>
              <a:ea typeface="Nunito"/>
              <a:cs typeface="Nunito"/>
              <a:sym typeface="Nunito"/>
            </a:endParaRPr>
          </a:p>
          <a:p>
            <a:pPr indent="-317500" lvl="0" marL="457200" rtl="0" algn="just">
              <a:lnSpc>
                <a:spcPct val="115000"/>
              </a:lnSpc>
              <a:spcBef>
                <a:spcPts val="0"/>
              </a:spcBef>
              <a:spcAft>
                <a:spcPts val="0"/>
              </a:spcAft>
              <a:buSzPts val="1400"/>
              <a:buChar char="●"/>
            </a:pPr>
            <a:r>
              <a:rPr b="1" lang="en">
                <a:latin typeface="Nunito"/>
                <a:ea typeface="Nunito"/>
                <a:cs typeface="Nunito"/>
                <a:sym typeface="Nunito"/>
              </a:rPr>
              <a:t>Construir las réplicas por país:</a:t>
            </a:r>
            <a:r>
              <a:rPr lang="en">
                <a:latin typeface="Nunito"/>
                <a:ea typeface="Nunito"/>
                <a:cs typeface="Nunito"/>
                <a:sym typeface="Nunito"/>
              </a:rPr>
              <a:t> seleccionar participantes de acuerdo con las distribuciones objetivo, conservando el tamaño de muestra establecido para cada país.</a:t>
            </a:r>
            <a:endParaRPr>
              <a:latin typeface="Nunito"/>
              <a:ea typeface="Nunito"/>
              <a:cs typeface="Nunito"/>
              <a:sym typeface="Nunito"/>
            </a:endParaRPr>
          </a:p>
          <a:p>
            <a:pPr indent="-317500" lvl="0" marL="457200" rtl="0" algn="just">
              <a:lnSpc>
                <a:spcPct val="115000"/>
              </a:lnSpc>
              <a:spcBef>
                <a:spcPts val="0"/>
              </a:spcBef>
              <a:spcAft>
                <a:spcPts val="0"/>
              </a:spcAft>
              <a:buSzPts val="1400"/>
              <a:buChar char="●"/>
            </a:pPr>
            <a:r>
              <a:rPr b="1" lang="en">
                <a:latin typeface="Nunito"/>
                <a:ea typeface="Nunito"/>
                <a:cs typeface="Nunito"/>
                <a:sym typeface="Nunito"/>
              </a:rPr>
              <a:t>Mantener el criterio de calidad:</a:t>
            </a:r>
            <a:r>
              <a:rPr lang="en">
                <a:latin typeface="Nunito"/>
                <a:ea typeface="Nunito"/>
                <a:cs typeface="Nunito"/>
                <a:sym typeface="Nunito"/>
              </a:rPr>
              <a:t> utilizar únicamente participantes considerados válidos para clustering.</a:t>
            </a:r>
            <a:endParaRPr>
              <a:latin typeface="Nunito"/>
              <a:ea typeface="Nunito"/>
              <a:cs typeface="Nunito"/>
              <a:sym typeface="Nuni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412c17598e8_0_660"/>
          <p:cNvSpPr txBox="1"/>
          <p:nvPr>
            <p:ph type="title"/>
          </p:nvPr>
        </p:nvSpPr>
        <p:spPr>
          <a:xfrm>
            <a:off x="715050" y="548900"/>
            <a:ext cx="7713900" cy="59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Construcción del bootstrap</a:t>
            </a:r>
            <a:endParaRPr/>
          </a:p>
        </p:txBody>
      </p:sp>
      <p:sp>
        <p:nvSpPr>
          <p:cNvPr id="448" name="Google Shape;448;g412c17598e8_0_6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49" name="Google Shape;449;g412c17598e8_0_660"/>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450" name="Google Shape;450;g412c17598e8_0_660"/>
          <p:cNvSpPr txBox="1"/>
          <p:nvPr/>
        </p:nvSpPr>
        <p:spPr>
          <a:xfrm>
            <a:off x="1566600" y="1984500"/>
            <a:ext cx="6010800" cy="1417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1800">
                <a:latin typeface="Nunito"/>
                <a:ea typeface="Nunito"/>
                <a:cs typeface="Nunito"/>
                <a:sym typeface="Nunito"/>
              </a:rPr>
              <a:t>Idea clave:</a:t>
            </a:r>
            <a:r>
              <a:rPr lang="en" sz="1800">
                <a:latin typeface="Nunito"/>
                <a:ea typeface="Nunito"/>
                <a:cs typeface="Nunito"/>
                <a:sym typeface="Nunito"/>
              </a:rPr>
              <a:t> el remuestreo </a:t>
            </a:r>
            <a:r>
              <a:rPr b="1" lang="en" sz="1800">
                <a:latin typeface="Nunito"/>
                <a:ea typeface="Nunito"/>
                <a:cs typeface="Nunito"/>
                <a:sym typeface="Nunito"/>
              </a:rPr>
              <a:t>LATAM</a:t>
            </a:r>
            <a:r>
              <a:rPr lang="en" sz="1800">
                <a:latin typeface="Nunito"/>
                <a:ea typeface="Nunito"/>
                <a:cs typeface="Nunito"/>
                <a:sym typeface="Nunito"/>
              </a:rPr>
              <a:t> se organiza por </a:t>
            </a:r>
            <a:r>
              <a:rPr b="1" lang="en" sz="1800">
                <a:latin typeface="Nunito"/>
                <a:ea typeface="Nunito"/>
                <a:cs typeface="Nunito"/>
                <a:sym typeface="Nunito"/>
              </a:rPr>
              <a:t>país y tramo de ingreso</a:t>
            </a:r>
            <a:r>
              <a:rPr lang="en" sz="1800">
                <a:latin typeface="Nunito"/>
                <a:ea typeface="Nunito"/>
                <a:cs typeface="Nunito"/>
                <a:sym typeface="Nunito"/>
              </a:rPr>
              <a:t>, mientras que el </a:t>
            </a:r>
            <a:r>
              <a:rPr b="1" lang="en" sz="1800">
                <a:latin typeface="Nunito"/>
                <a:ea typeface="Nunito"/>
                <a:cs typeface="Nunito"/>
                <a:sym typeface="Nunito"/>
              </a:rPr>
              <a:t>europeo</a:t>
            </a:r>
            <a:r>
              <a:rPr lang="en" sz="1800">
                <a:latin typeface="Nunito"/>
                <a:ea typeface="Nunito"/>
                <a:cs typeface="Nunito"/>
                <a:sym typeface="Nunito"/>
              </a:rPr>
              <a:t> incorpora un modelo de propensión al</a:t>
            </a:r>
            <a:r>
              <a:rPr b="1" lang="en" sz="1800">
                <a:latin typeface="Nunito"/>
                <a:ea typeface="Nunito"/>
                <a:cs typeface="Nunito"/>
                <a:sym typeface="Nunito"/>
              </a:rPr>
              <a:t> voto</a:t>
            </a:r>
            <a:r>
              <a:rPr lang="en" sz="1800">
                <a:latin typeface="Nunito"/>
                <a:ea typeface="Nunito"/>
                <a:cs typeface="Nunito"/>
                <a:sym typeface="Nunito"/>
              </a:rPr>
              <a:t> y una distribución electoral objetivo.</a:t>
            </a:r>
            <a:endParaRPr sz="1800">
              <a:latin typeface="Nunito"/>
              <a:ea typeface="Nunito"/>
              <a:cs typeface="Nunito"/>
              <a:sym typeface="Nuni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412c17598e8_0_116"/>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Bootstrap LATAM: preparación de datos, targets y remuestreo</a:t>
            </a:r>
            <a:endParaRPr/>
          </a:p>
        </p:txBody>
      </p:sp>
      <p:sp>
        <p:nvSpPr>
          <p:cNvPr id="456" name="Google Shape;456;g412c17598e8_0_1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57" name="Google Shape;457;g412c17598e8_0_116"/>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458" name="Google Shape;458;g412c17598e8_0_116"/>
          <p:cNvSpPr txBox="1"/>
          <p:nvPr/>
        </p:nvSpPr>
        <p:spPr>
          <a:xfrm>
            <a:off x="760400" y="1509750"/>
            <a:ext cx="35322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Nunito"/>
                <a:ea typeface="Nunito"/>
                <a:cs typeface="Nunito"/>
                <a:sym typeface="Nunito"/>
              </a:rPr>
              <a:t>04_2c · Preparación de datos</a:t>
            </a:r>
            <a:endParaRPr b="1">
              <a:latin typeface="Nunito"/>
              <a:ea typeface="Nunito"/>
              <a:cs typeface="Nunito"/>
              <a:sym typeface="Nunito"/>
            </a:endParaRPr>
          </a:p>
          <a:p>
            <a:pPr indent="0" lvl="0" marL="0" rtl="0" algn="ctr">
              <a:spcBef>
                <a:spcPts val="0"/>
              </a:spcBef>
              <a:spcAft>
                <a:spcPts val="0"/>
              </a:spcAft>
              <a:buNone/>
            </a:pPr>
            <a:r>
              <a:t/>
            </a:r>
            <a:endParaRPr>
              <a:latin typeface="Nunito"/>
              <a:ea typeface="Nunito"/>
              <a:cs typeface="Nunito"/>
              <a:sym typeface="Nunito"/>
            </a:endParaRPr>
          </a:p>
          <a:p>
            <a:pPr indent="0" lvl="0" marL="0" rtl="0" algn="ctr">
              <a:spcBef>
                <a:spcPts val="0"/>
              </a:spcBef>
              <a:spcAft>
                <a:spcPts val="0"/>
              </a:spcAft>
              <a:buNone/>
            </a:pPr>
            <a:r>
              <a:rPr lang="en">
                <a:latin typeface="Nunito"/>
                <a:ea typeface="Nunito"/>
                <a:cs typeface="Nunito"/>
                <a:sym typeface="Nunito"/>
              </a:rPr>
              <a:t>Selecciona WHY_LATAM (México, Chile y Colombia), clasifica los ingresos en cinco tramos e identifica los participantes utilizables para clustering.</a:t>
            </a:r>
            <a:endParaRPr>
              <a:latin typeface="Nunito"/>
              <a:ea typeface="Nunito"/>
              <a:cs typeface="Nunito"/>
              <a:sym typeface="Nunito"/>
            </a:endParaRPr>
          </a:p>
          <a:p>
            <a:pPr indent="0" lvl="0" marL="0" rtl="0" algn="ctr">
              <a:spcBef>
                <a:spcPts val="0"/>
              </a:spcBef>
              <a:spcAft>
                <a:spcPts val="0"/>
              </a:spcAft>
              <a:buNone/>
            </a:pPr>
            <a:r>
              <a:t/>
            </a:r>
            <a:endParaRPr>
              <a:latin typeface="Nunito"/>
              <a:ea typeface="Nunito"/>
              <a:cs typeface="Nunito"/>
              <a:sym typeface="Nunito"/>
            </a:endParaRPr>
          </a:p>
          <a:p>
            <a:pPr indent="0" lvl="0" marL="0" rtl="0" algn="ctr">
              <a:spcBef>
                <a:spcPts val="0"/>
              </a:spcBef>
              <a:spcAft>
                <a:spcPts val="0"/>
              </a:spcAft>
              <a:buNone/>
            </a:pPr>
            <a:r>
              <a:rPr b="1" lang="en">
                <a:latin typeface="Nunito"/>
                <a:ea typeface="Nunito"/>
                <a:cs typeface="Nunito"/>
                <a:sym typeface="Nunito"/>
              </a:rPr>
              <a:t>Salida: </a:t>
            </a:r>
            <a:r>
              <a:rPr lang="en">
                <a:solidFill>
                  <a:srgbClr val="188038"/>
                </a:solidFill>
                <a:latin typeface="Nunito"/>
                <a:ea typeface="Nunito"/>
                <a:cs typeface="Nunito"/>
                <a:sym typeface="Nunito"/>
              </a:rPr>
              <a:t>latam_income_individual_level.csv</a:t>
            </a:r>
            <a:endParaRPr>
              <a:latin typeface="Nunito"/>
              <a:ea typeface="Nunito"/>
              <a:cs typeface="Nunito"/>
              <a:sym typeface="Nunito"/>
            </a:endParaRPr>
          </a:p>
        </p:txBody>
      </p:sp>
      <p:sp>
        <p:nvSpPr>
          <p:cNvPr id="459" name="Google Shape;459;g412c17598e8_0_116"/>
          <p:cNvSpPr txBox="1"/>
          <p:nvPr/>
        </p:nvSpPr>
        <p:spPr>
          <a:xfrm>
            <a:off x="4990725" y="1509750"/>
            <a:ext cx="3532200" cy="191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Nunito"/>
                <a:ea typeface="Nunito"/>
                <a:cs typeface="Nunito"/>
                <a:sym typeface="Nunito"/>
              </a:rPr>
              <a:t>04_2d · Distribución objetivo</a:t>
            </a:r>
            <a:endParaRPr b="1">
              <a:latin typeface="Nunito"/>
              <a:ea typeface="Nunito"/>
              <a:cs typeface="Nunito"/>
              <a:sym typeface="Nunito"/>
            </a:endParaRPr>
          </a:p>
          <a:p>
            <a:pPr indent="0" lvl="0" marL="0" marR="381000" rtl="0" algn="ctr">
              <a:lnSpc>
                <a:spcPct val="115000"/>
              </a:lnSpc>
              <a:spcBef>
                <a:spcPts val="1200"/>
              </a:spcBef>
              <a:spcAft>
                <a:spcPts val="0"/>
              </a:spcAft>
              <a:buNone/>
            </a:pPr>
            <a:r>
              <a:rPr lang="en">
                <a:latin typeface="Nunito"/>
                <a:ea typeface="Nunito"/>
                <a:cs typeface="Nunito"/>
                <a:sym typeface="Nunito"/>
              </a:rPr>
              <a:t>Define la proporción objetivo de cada uno de los cinco tramos de ingreso para México, Chile y Colombia.</a:t>
            </a:r>
            <a:endParaRPr>
              <a:latin typeface="Nunito"/>
              <a:ea typeface="Nunito"/>
              <a:cs typeface="Nunito"/>
              <a:sym typeface="Nunito"/>
            </a:endParaRPr>
          </a:p>
          <a:p>
            <a:pPr indent="0" lvl="0" marL="0" rtl="0" algn="ctr">
              <a:lnSpc>
                <a:spcPct val="115000"/>
              </a:lnSpc>
              <a:spcBef>
                <a:spcPts val="1200"/>
              </a:spcBef>
              <a:spcAft>
                <a:spcPts val="1200"/>
              </a:spcAft>
              <a:buNone/>
            </a:pPr>
            <a:r>
              <a:rPr b="1" lang="en">
                <a:latin typeface="Nunito"/>
                <a:ea typeface="Nunito"/>
                <a:cs typeface="Nunito"/>
                <a:sym typeface="Nunito"/>
              </a:rPr>
              <a:t>Salida:</a:t>
            </a:r>
            <a:r>
              <a:rPr lang="en">
                <a:latin typeface="Nunito"/>
                <a:ea typeface="Nunito"/>
                <a:cs typeface="Nunito"/>
                <a:sym typeface="Nunito"/>
              </a:rPr>
              <a:t> </a:t>
            </a:r>
            <a:r>
              <a:rPr lang="en">
                <a:solidFill>
                  <a:srgbClr val="188038"/>
                </a:solidFill>
                <a:latin typeface="Nunito"/>
                <a:ea typeface="Nunito"/>
                <a:cs typeface="Nunito"/>
                <a:sym typeface="Nunito"/>
              </a:rPr>
              <a:t>latam_income_population_targets.csv</a:t>
            </a:r>
            <a:endParaRPr>
              <a:latin typeface="Nunito"/>
              <a:ea typeface="Nunito"/>
              <a:cs typeface="Nunito"/>
              <a:sym typeface="Nunito"/>
            </a:endParaRPr>
          </a:p>
        </p:txBody>
      </p:sp>
      <p:sp>
        <p:nvSpPr>
          <p:cNvPr id="460" name="Google Shape;460;g412c17598e8_0_116"/>
          <p:cNvSpPr txBox="1"/>
          <p:nvPr/>
        </p:nvSpPr>
        <p:spPr>
          <a:xfrm>
            <a:off x="2148000" y="3424650"/>
            <a:ext cx="4848000" cy="1699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
                <a:latin typeface="Nunito"/>
                <a:ea typeface="Nunito"/>
                <a:cs typeface="Nunito"/>
                <a:sym typeface="Nunito"/>
              </a:rPr>
              <a:t>04_2e · Remuestreo</a:t>
            </a:r>
            <a:endParaRPr b="1">
              <a:latin typeface="Nunito"/>
              <a:ea typeface="Nunito"/>
              <a:cs typeface="Nunito"/>
              <a:sym typeface="Nunito"/>
            </a:endParaRPr>
          </a:p>
          <a:p>
            <a:pPr indent="0" lvl="0" marL="381000" marR="381000" rtl="0" algn="ctr">
              <a:lnSpc>
                <a:spcPct val="115000"/>
              </a:lnSpc>
              <a:spcBef>
                <a:spcPts val="1200"/>
              </a:spcBef>
              <a:spcAft>
                <a:spcPts val="0"/>
              </a:spcAft>
              <a:buNone/>
            </a:pPr>
            <a:r>
              <a:rPr lang="en">
                <a:latin typeface="Nunito"/>
                <a:ea typeface="Nunito"/>
                <a:cs typeface="Nunito"/>
                <a:sym typeface="Nunito"/>
              </a:rPr>
              <a:t>Combina los datos individuales y los targets para generar 1.000 réplicas bootstrap, con 608 selecciones por réplica.</a:t>
            </a:r>
            <a:endParaRPr>
              <a:latin typeface="Nunito"/>
              <a:ea typeface="Nunito"/>
              <a:cs typeface="Nunito"/>
              <a:sym typeface="Nunito"/>
            </a:endParaRPr>
          </a:p>
          <a:p>
            <a:pPr indent="0" lvl="0" marL="0" rtl="0" algn="ctr">
              <a:lnSpc>
                <a:spcPct val="115000"/>
              </a:lnSpc>
              <a:spcBef>
                <a:spcPts val="1200"/>
              </a:spcBef>
              <a:spcAft>
                <a:spcPts val="1200"/>
              </a:spcAft>
              <a:buNone/>
            </a:pPr>
            <a:r>
              <a:rPr b="1" lang="en">
                <a:latin typeface="Nunito"/>
                <a:ea typeface="Nunito"/>
                <a:cs typeface="Nunito"/>
                <a:sym typeface="Nunito"/>
              </a:rPr>
              <a:t>Salida:</a:t>
            </a:r>
            <a:r>
              <a:rPr lang="en">
                <a:latin typeface="Nunito"/>
                <a:ea typeface="Nunito"/>
                <a:cs typeface="Nunito"/>
                <a:sym typeface="Nunito"/>
              </a:rPr>
              <a:t> </a:t>
            </a:r>
            <a:r>
              <a:rPr lang="en">
                <a:solidFill>
                  <a:srgbClr val="188038"/>
                </a:solidFill>
                <a:latin typeface="Nunito"/>
                <a:ea typeface="Nunito"/>
                <a:cs typeface="Nunito"/>
                <a:sym typeface="Nunito"/>
              </a:rPr>
              <a:t>bootstrap_samples_index_latam_income.csv</a:t>
            </a:r>
            <a:endParaRPr>
              <a:solidFill>
                <a:srgbClr val="188038"/>
              </a:solidFill>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412c17598e8_0_690"/>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500"/>
              <a:buFont typeface="Arial"/>
              <a:buNone/>
            </a:pPr>
            <a:r>
              <a:rPr lang="en"/>
              <a:t>Bootstrap LATAM: distribución de ingresos observada y objetivo</a:t>
            </a:r>
            <a:endParaRPr/>
          </a:p>
          <a:p>
            <a:pPr indent="0" lvl="0" marL="0" rtl="0" algn="l">
              <a:lnSpc>
                <a:spcPct val="115000"/>
              </a:lnSpc>
              <a:spcBef>
                <a:spcPts val="1200"/>
              </a:spcBef>
              <a:spcAft>
                <a:spcPts val="0"/>
              </a:spcAft>
              <a:buNone/>
            </a:pPr>
            <a:r>
              <a:t/>
            </a:r>
            <a:endParaRPr/>
          </a:p>
          <a:p>
            <a:pPr indent="0" lvl="0" marL="0" rtl="0" algn="l">
              <a:lnSpc>
                <a:spcPct val="100000"/>
              </a:lnSpc>
              <a:spcBef>
                <a:spcPts val="1200"/>
              </a:spcBef>
              <a:spcAft>
                <a:spcPts val="0"/>
              </a:spcAft>
              <a:buSzPts val="2500"/>
              <a:buNone/>
            </a:pPr>
            <a:r>
              <a:t/>
            </a:r>
            <a:endParaRPr/>
          </a:p>
        </p:txBody>
      </p:sp>
      <p:sp>
        <p:nvSpPr>
          <p:cNvPr id="466" name="Google Shape;466;g412c17598e8_0_6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67" name="Google Shape;467;g412c17598e8_0_690"/>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468" name="Google Shape;468;g412c17598e8_0_690" title="Captura de pantalla 2026-09-21 a las 10.44.59.png"/>
          <p:cNvPicPr preferRelativeResize="0"/>
          <p:nvPr/>
        </p:nvPicPr>
        <p:blipFill>
          <a:blip r:embed="rId4">
            <a:alphaModFix/>
          </a:blip>
          <a:stretch>
            <a:fillRect/>
          </a:stretch>
        </p:blipFill>
        <p:spPr>
          <a:xfrm>
            <a:off x="848088" y="1439600"/>
            <a:ext cx="7447823" cy="3392976"/>
          </a:xfrm>
          <a:prstGeom prst="rect">
            <a:avLst/>
          </a:prstGeom>
          <a:noFill/>
          <a:ln>
            <a:noFill/>
          </a:ln>
        </p:spPr>
      </p:pic>
      <p:sp>
        <p:nvSpPr>
          <p:cNvPr id="469" name="Google Shape;469;g412c17598e8_0_690"/>
          <p:cNvSpPr/>
          <p:nvPr/>
        </p:nvSpPr>
        <p:spPr>
          <a:xfrm>
            <a:off x="4756600" y="2038275"/>
            <a:ext cx="916200" cy="333300"/>
          </a:xfrm>
          <a:prstGeom prst="rect">
            <a:avLst/>
          </a:pr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70" name="Google Shape;470;g412c17598e8_0_690"/>
          <p:cNvSpPr/>
          <p:nvPr/>
        </p:nvSpPr>
        <p:spPr>
          <a:xfrm>
            <a:off x="6381225" y="2038275"/>
            <a:ext cx="916200" cy="333300"/>
          </a:xfrm>
          <a:prstGeom prst="rect">
            <a:avLst/>
          </a:pr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g412c17598e8_0_124"/>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Bootstrap LATAM: distribución de ingresos observada y objetivo</a:t>
            </a:r>
            <a:endParaRPr/>
          </a:p>
        </p:txBody>
      </p:sp>
      <p:sp>
        <p:nvSpPr>
          <p:cNvPr id="476" name="Google Shape;476;g412c17598e8_0_1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77" name="Google Shape;477;g412c17598e8_0_124"/>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478" name="Google Shape;478;g412c17598e8_0_124"/>
          <p:cNvGraphicFramePr/>
          <p:nvPr/>
        </p:nvGraphicFramePr>
        <p:xfrm>
          <a:off x="635775" y="1837025"/>
          <a:ext cx="3000000" cy="3000000"/>
        </p:xfrm>
        <a:graphic>
          <a:graphicData uri="http://schemas.openxmlformats.org/drawingml/2006/table">
            <a:tbl>
              <a:tblPr>
                <a:noFill/>
                <a:tableStyleId>{E52E4BE9-5879-4D65-9C92-106A106E9681}</a:tableStyleId>
              </a:tblPr>
              <a:tblGrid>
                <a:gridCol w="1011850"/>
                <a:gridCol w="1620600"/>
                <a:gridCol w="1800950"/>
                <a:gridCol w="2313325"/>
                <a:gridCol w="1125725"/>
              </a:tblGrid>
              <a:tr h="20002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País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Participantes iniciales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Utilizables para clustering</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Utilizables con ingresos válidos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Draws por réplica</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200025">
                <a:tc>
                  <a:txBody>
                    <a:bodyPr/>
                    <a:lstStyle/>
                    <a:p>
                      <a:pPr indent="0" lvl="0" marL="0" rtl="0" algn="ctr">
                        <a:spcBef>
                          <a:spcPts val="0"/>
                        </a:spcBef>
                        <a:spcAft>
                          <a:spcPts val="0"/>
                        </a:spcAft>
                        <a:buNone/>
                      </a:pPr>
                      <a:r>
                        <a:rPr lang="en">
                          <a:latin typeface="Nunito"/>
                          <a:ea typeface="Nunito"/>
                          <a:cs typeface="Nunito"/>
                          <a:sym typeface="Nunito"/>
                        </a:rPr>
                        <a:t>México</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544</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Nunito"/>
                          <a:ea typeface="Nunito"/>
                          <a:cs typeface="Nunito"/>
                          <a:sym typeface="Nunito"/>
                        </a:rPr>
                        <a:t>517</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347</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Nunito"/>
                          <a:ea typeface="Nunito"/>
                          <a:cs typeface="Nunito"/>
                          <a:sym typeface="Nunito"/>
                        </a:rPr>
                        <a:t>517</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a:latin typeface="Nunito"/>
                          <a:ea typeface="Nunito"/>
                          <a:cs typeface="Nunito"/>
                          <a:sym typeface="Nunito"/>
                        </a:rPr>
                        <a:t>Chile</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78</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Nunito"/>
                          <a:ea typeface="Nunito"/>
                          <a:cs typeface="Nunito"/>
                          <a:sym typeface="Nunito"/>
                        </a:rPr>
                        <a:t>78</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66</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Nunito"/>
                          <a:ea typeface="Nunito"/>
                          <a:cs typeface="Nunito"/>
                          <a:sym typeface="Nunito"/>
                        </a:rPr>
                        <a:t>78</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a:latin typeface="Nunito"/>
                          <a:ea typeface="Nunito"/>
                          <a:cs typeface="Nunito"/>
                          <a:sym typeface="Nunito"/>
                        </a:rPr>
                        <a:t>Colombia</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16</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Nunito"/>
                          <a:ea typeface="Nunito"/>
                          <a:cs typeface="Nunito"/>
                          <a:sym typeface="Nunito"/>
                        </a:rPr>
                        <a:t>13</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Nunito"/>
                          <a:ea typeface="Nunito"/>
                          <a:cs typeface="Nunito"/>
                          <a:sym typeface="Nunito"/>
                        </a:rPr>
                        <a:t>13</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b="1" lang="en">
                          <a:latin typeface="Nunito"/>
                          <a:ea typeface="Nunito"/>
                          <a:cs typeface="Nunito"/>
                          <a:sym typeface="Nunito"/>
                        </a:rPr>
                        <a:t>TOTAL</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latin typeface="Nunito"/>
                          <a:ea typeface="Nunito"/>
                          <a:cs typeface="Nunito"/>
                          <a:sym typeface="Nunito"/>
                        </a:rPr>
                        <a:t>638</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latin typeface="Nunito"/>
                          <a:ea typeface="Nunito"/>
                          <a:cs typeface="Nunito"/>
                          <a:sym typeface="Nunito"/>
                        </a:rPr>
                        <a:t>608</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latin typeface="Nunito"/>
                          <a:ea typeface="Nunito"/>
                          <a:cs typeface="Nunito"/>
                          <a:sym typeface="Nunito"/>
                        </a:rPr>
                        <a:t>416</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latin typeface="Nunito"/>
                          <a:ea typeface="Nunito"/>
                          <a:cs typeface="Nunito"/>
                          <a:sym typeface="Nunito"/>
                        </a:rPr>
                        <a:t>608</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412c17598e8_0_142"/>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Unión de los bootstraps Europa–LATAM</a:t>
            </a:r>
            <a:endParaRPr/>
          </a:p>
          <a:p>
            <a:pPr indent="0" lvl="0" marL="0" rtl="0" algn="l">
              <a:lnSpc>
                <a:spcPct val="100000"/>
              </a:lnSpc>
              <a:spcBef>
                <a:spcPts val="0"/>
              </a:spcBef>
              <a:spcAft>
                <a:spcPts val="0"/>
              </a:spcAft>
              <a:buSzPts val="2500"/>
              <a:buNone/>
            </a:pPr>
            <a:r>
              <a:rPr b="1" lang="en" sz="1100">
                <a:solidFill>
                  <a:srgbClr val="000000"/>
                </a:solidFill>
                <a:latin typeface="Arial"/>
                <a:ea typeface="Arial"/>
                <a:cs typeface="Arial"/>
                <a:sym typeface="Arial"/>
              </a:rPr>
              <a:t>Script:</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04_2f_combine_eu_latam_bootstrap.R</a:t>
            </a:r>
            <a:endParaRPr/>
          </a:p>
        </p:txBody>
      </p:sp>
      <p:sp>
        <p:nvSpPr>
          <p:cNvPr id="484" name="Google Shape;484;g412c17598e8_0_1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85" name="Google Shape;485;g412c17598e8_0_142"/>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486" name="Google Shape;486;g412c17598e8_0_142" title="Captura de pantalla 2026-09-21 a las 11.06.30.png"/>
          <p:cNvPicPr preferRelativeResize="0"/>
          <p:nvPr/>
        </p:nvPicPr>
        <p:blipFill>
          <a:blip r:embed="rId4">
            <a:alphaModFix/>
          </a:blip>
          <a:stretch>
            <a:fillRect/>
          </a:stretch>
        </p:blipFill>
        <p:spPr>
          <a:xfrm>
            <a:off x="530500" y="1442325"/>
            <a:ext cx="5863774" cy="3430125"/>
          </a:xfrm>
          <a:prstGeom prst="rect">
            <a:avLst/>
          </a:prstGeom>
          <a:noFill/>
          <a:ln>
            <a:noFill/>
          </a:ln>
        </p:spPr>
      </p:pic>
      <p:sp>
        <p:nvSpPr>
          <p:cNvPr id="487" name="Google Shape;487;g412c17598e8_0_142"/>
          <p:cNvSpPr txBox="1"/>
          <p:nvPr/>
        </p:nvSpPr>
        <p:spPr>
          <a:xfrm>
            <a:off x="6485000" y="1547025"/>
            <a:ext cx="2442900" cy="1870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n" sz="1100">
                <a:latin typeface="Nunito"/>
                <a:ea typeface="Nunito"/>
                <a:cs typeface="Nunito"/>
                <a:sym typeface="Nunito"/>
              </a:rPr>
              <a:t>El resultado se guarda en </a:t>
            </a:r>
            <a:r>
              <a:rPr b="1" lang="en" sz="1100">
                <a:solidFill>
                  <a:srgbClr val="188038"/>
                </a:solidFill>
                <a:latin typeface="Nunito"/>
                <a:ea typeface="Nunito"/>
                <a:cs typeface="Nunito"/>
                <a:sym typeface="Nunito"/>
              </a:rPr>
              <a:t>bootstrap_samples_index.csv.gz</a:t>
            </a:r>
            <a:r>
              <a:rPr b="1" lang="en" sz="1100">
                <a:latin typeface="Nunito"/>
                <a:ea typeface="Nunito"/>
                <a:cs typeface="Nunito"/>
                <a:sym typeface="Nunito"/>
              </a:rPr>
              <a:t>. </a:t>
            </a:r>
            <a:endParaRPr b="1" sz="1100">
              <a:latin typeface="Nunito"/>
              <a:ea typeface="Nunito"/>
              <a:cs typeface="Nunito"/>
              <a:sym typeface="Nunito"/>
            </a:endParaRPr>
          </a:p>
          <a:p>
            <a:pPr indent="0" lvl="0" marL="0" rtl="0" algn="ctr">
              <a:lnSpc>
                <a:spcPct val="115000"/>
              </a:lnSpc>
              <a:spcBef>
                <a:spcPts val="1200"/>
              </a:spcBef>
              <a:spcAft>
                <a:spcPts val="1200"/>
              </a:spcAft>
              <a:buNone/>
            </a:pPr>
            <a:r>
              <a:rPr lang="en" sz="1100">
                <a:latin typeface="Nunito"/>
                <a:ea typeface="Nunito"/>
                <a:cs typeface="Nunito"/>
                <a:sym typeface="Nunito"/>
              </a:rPr>
              <a:t>Este es uno de los archivos fundamentales del proyecto porque contiene los índices de las réplicas combinadas que utilizaremos después para construir y analizar las matrices.</a:t>
            </a:r>
            <a:endParaRPr sz="1100">
              <a:latin typeface="Nunito"/>
              <a:ea typeface="Nunito"/>
              <a:cs typeface="Nunito"/>
              <a:sym typeface="Nuni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412c17598e8_0_150"/>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Validación y visualización del bootstrap combinado</a:t>
            </a:r>
            <a:endParaRPr/>
          </a:p>
          <a:p>
            <a:pPr indent="0" lvl="0" marL="0" rtl="0" algn="l">
              <a:lnSpc>
                <a:spcPct val="100000"/>
              </a:lnSpc>
              <a:spcBef>
                <a:spcPts val="1200"/>
              </a:spcBef>
              <a:spcAft>
                <a:spcPts val="0"/>
              </a:spcAft>
              <a:buSzPts val="2500"/>
              <a:buNone/>
            </a:pPr>
            <a:r>
              <a:t/>
            </a:r>
            <a:endParaRPr/>
          </a:p>
        </p:txBody>
      </p:sp>
      <p:sp>
        <p:nvSpPr>
          <p:cNvPr id="493" name="Google Shape;493;g412c17598e8_0_15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94" name="Google Shape;494;g412c17598e8_0_150"/>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495" name="Google Shape;495;g412c17598e8_0_150"/>
          <p:cNvGraphicFramePr/>
          <p:nvPr/>
        </p:nvGraphicFramePr>
        <p:xfrm>
          <a:off x="518100" y="1618225"/>
          <a:ext cx="3000000" cy="3000000"/>
        </p:xfrm>
        <a:graphic>
          <a:graphicData uri="http://schemas.openxmlformats.org/drawingml/2006/table">
            <a:tbl>
              <a:tblPr>
                <a:noFill/>
                <a:tableStyleId>{E52E4BE9-5879-4D65-9C92-106A106E9681}</a:tableStyleId>
              </a:tblPr>
              <a:tblGrid>
                <a:gridCol w="4031750"/>
                <a:gridCol w="4076025"/>
              </a:tblGrid>
              <a:tr h="200025">
                <a:tc>
                  <a:txBody>
                    <a:bodyPr/>
                    <a:lstStyle/>
                    <a:p>
                      <a:pPr indent="0" lvl="0" marL="0" rtl="0" algn="ctr">
                        <a:spcBef>
                          <a:spcPts val="0"/>
                        </a:spcBef>
                        <a:spcAft>
                          <a:spcPts val="0"/>
                        </a:spcAft>
                        <a:buNone/>
                      </a:pPr>
                      <a:r>
                        <a:rPr b="1" lang="en">
                          <a:solidFill>
                            <a:schemeClr val="lt1"/>
                          </a:solidFill>
                          <a:latin typeface="Nunito"/>
                          <a:ea typeface="Nunito"/>
                          <a:cs typeface="Nunito"/>
                          <a:sym typeface="Nunito"/>
                        </a:rPr>
                        <a:t>Distribuciones sociodemográficas</a:t>
                      </a:r>
                      <a:endParaRPr b="1">
                        <a:solidFill>
                          <a:schemeClr val="lt1"/>
                        </a:solidFill>
                        <a:latin typeface="Nunito"/>
                        <a:ea typeface="Nunito"/>
                        <a:cs typeface="Nunito"/>
                        <a:sym typeface="Nunito"/>
                      </a:endParaRPr>
                    </a:p>
                    <a:p>
                      <a:pPr indent="0" lvl="0" marL="0" rtl="0" algn="ctr">
                        <a:spcBef>
                          <a:spcPts val="0"/>
                        </a:spcBef>
                        <a:spcAft>
                          <a:spcPts val="0"/>
                        </a:spcAft>
                        <a:buNone/>
                      </a:pPr>
                      <a:r>
                        <a:rPr b="1" lang="en">
                          <a:solidFill>
                            <a:schemeClr val="lt1"/>
                          </a:solidFill>
                          <a:latin typeface="Nunito"/>
                          <a:ea typeface="Nunito"/>
                          <a:cs typeface="Nunito"/>
                          <a:sym typeface="Nunito"/>
                        </a:rPr>
                        <a:t>(</a:t>
                      </a:r>
                      <a:r>
                        <a:rPr lang="en">
                          <a:solidFill>
                            <a:schemeClr val="lt1"/>
                          </a:solidFill>
                          <a:latin typeface="Nunito"/>
                          <a:ea typeface="Nunito"/>
                          <a:cs typeface="Nunito"/>
                          <a:sym typeface="Nunito"/>
                        </a:rPr>
                        <a:t>04_2g_sociodemographic_distribution.R</a:t>
                      </a:r>
                      <a:r>
                        <a:rPr b="1" lang="en">
                          <a:solidFill>
                            <a:schemeClr val="lt1"/>
                          </a:solidFill>
                          <a:latin typeface="Nunito"/>
                          <a:ea typeface="Nunito"/>
                          <a:cs typeface="Nunito"/>
                          <a:sym typeface="Nunito"/>
                        </a:rPr>
                        <a:t>)</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lt1"/>
                          </a:solidFill>
                          <a:latin typeface="Nunito"/>
                          <a:ea typeface="Nunito"/>
                          <a:cs typeface="Nunito"/>
                          <a:sym typeface="Nunito"/>
                        </a:rPr>
                        <a:t>Variabilidad entre réplicas</a:t>
                      </a:r>
                      <a:endParaRPr b="1">
                        <a:solidFill>
                          <a:schemeClr val="lt1"/>
                        </a:solidFill>
                        <a:latin typeface="Nunito"/>
                        <a:ea typeface="Nunito"/>
                        <a:cs typeface="Nunito"/>
                        <a:sym typeface="Nunito"/>
                      </a:endParaRPr>
                    </a:p>
                    <a:p>
                      <a:pPr indent="0" lvl="0" marL="0" rtl="0" algn="ctr">
                        <a:spcBef>
                          <a:spcPts val="0"/>
                        </a:spcBef>
                        <a:spcAft>
                          <a:spcPts val="0"/>
                        </a:spcAft>
                        <a:buNone/>
                      </a:pPr>
                      <a:r>
                        <a:rPr b="1" lang="en">
                          <a:solidFill>
                            <a:schemeClr val="lt1"/>
                          </a:solidFill>
                          <a:latin typeface="Nunito"/>
                          <a:ea typeface="Nunito"/>
                          <a:cs typeface="Nunito"/>
                          <a:sym typeface="Nunito"/>
                        </a:rPr>
                        <a:t>(</a:t>
                      </a:r>
                      <a:r>
                        <a:rPr lang="en">
                          <a:solidFill>
                            <a:schemeClr val="lt1"/>
                          </a:solidFill>
                          <a:latin typeface="Nunito"/>
                          <a:ea typeface="Nunito"/>
                          <a:cs typeface="Nunito"/>
                          <a:sym typeface="Nunito"/>
                        </a:rPr>
                        <a:t>04_2h_bootstrap_boxplots.R</a:t>
                      </a:r>
                      <a:r>
                        <a:rPr b="1" lang="en">
                          <a:solidFill>
                            <a:schemeClr val="lt1"/>
                          </a:solidFill>
                          <a:latin typeface="Nunito"/>
                          <a:ea typeface="Nunito"/>
                          <a:cs typeface="Nunito"/>
                          <a:sym typeface="Nunito"/>
                        </a:rPr>
                        <a:t>)</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71475">
                <a:tc>
                  <a:txBody>
                    <a:bodyPr/>
                    <a:lstStyle/>
                    <a:p>
                      <a:pPr indent="0" lvl="0" marL="0" rtl="0" algn="ctr">
                        <a:spcBef>
                          <a:spcPts val="0"/>
                        </a:spcBef>
                        <a:spcAft>
                          <a:spcPts val="0"/>
                        </a:spcAft>
                        <a:buNone/>
                      </a:pPr>
                      <a:r>
                        <a:rPr lang="en">
                          <a:latin typeface="Nunito"/>
                          <a:ea typeface="Nunito"/>
                          <a:cs typeface="Nunito"/>
                          <a:sym typeface="Nunito"/>
                        </a:rPr>
                        <a:t>Comprueba los tamaños de las muestras y resume las distribuciones de variables sociodemográficas y de otras categorías disponibles.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Genera boxplots para visualizar cómo varía la proporción de cada categoría entre las 1.000 réplicas bootstrap.</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496" name="Google Shape;496;g412c17598e8_0_150" title="Captura de pantalla 2026-09-21 a las 11.21.19.png"/>
          <p:cNvPicPr preferRelativeResize="0"/>
          <p:nvPr/>
        </p:nvPicPr>
        <p:blipFill>
          <a:blip r:embed="rId4">
            <a:alphaModFix/>
          </a:blip>
          <a:stretch>
            <a:fillRect/>
          </a:stretch>
        </p:blipFill>
        <p:spPr>
          <a:xfrm>
            <a:off x="1135225" y="3354450"/>
            <a:ext cx="2714568" cy="1610449"/>
          </a:xfrm>
          <a:prstGeom prst="rect">
            <a:avLst/>
          </a:prstGeom>
          <a:noFill/>
          <a:ln>
            <a:noFill/>
          </a:ln>
        </p:spPr>
      </p:pic>
      <p:pic>
        <p:nvPicPr>
          <p:cNvPr id="497" name="Google Shape;497;g412c17598e8_0_150" title="Captura de pantalla 2026-09-21 a las 11.21.42.png"/>
          <p:cNvPicPr preferRelativeResize="0"/>
          <p:nvPr/>
        </p:nvPicPr>
        <p:blipFill>
          <a:blip r:embed="rId5">
            <a:alphaModFix/>
          </a:blip>
          <a:stretch>
            <a:fillRect/>
          </a:stretch>
        </p:blipFill>
        <p:spPr>
          <a:xfrm>
            <a:off x="5332293" y="3354450"/>
            <a:ext cx="2821386" cy="1610449"/>
          </a:xfrm>
          <a:prstGeom prst="rect">
            <a:avLst/>
          </a:prstGeom>
          <a:noFill/>
          <a:ln>
            <a:noFill/>
          </a:ln>
        </p:spPr>
      </p:pic>
      <p:sp>
        <p:nvSpPr>
          <p:cNvPr id="498" name="Google Shape;498;g412c17598e8_0_150"/>
          <p:cNvSpPr txBox="1"/>
          <p:nvPr/>
        </p:nvSpPr>
        <p:spPr>
          <a:xfrm>
            <a:off x="261500" y="4399275"/>
            <a:ext cx="8666400" cy="54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100">
                <a:latin typeface="Nunito"/>
                <a:ea typeface="Nunito"/>
                <a:cs typeface="Nunito"/>
                <a:sym typeface="Nunito"/>
              </a:rPr>
              <a:t>Figuras </a:t>
            </a:r>
            <a:r>
              <a:rPr b="1" lang="en" sz="1100">
                <a:solidFill>
                  <a:srgbClr val="188038"/>
                </a:solidFill>
                <a:latin typeface="Nunito"/>
                <a:ea typeface="Nunito"/>
                <a:cs typeface="Nunito"/>
                <a:sym typeface="Nunito"/>
              </a:rPr>
              <a:t>04_2g</a:t>
            </a:r>
            <a:r>
              <a:rPr b="1" lang="en" sz="1100">
                <a:latin typeface="Nunito"/>
                <a:ea typeface="Nunito"/>
                <a:cs typeface="Nunito"/>
                <a:sym typeface="Nunito"/>
              </a:rPr>
              <a:t>:</a:t>
            </a:r>
            <a:r>
              <a:rPr lang="en" sz="1100">
                <a:latin typeface="Nunito"/>
                <a:ea typeface="Nunito"/>
                <a:cs typeface="Nunito"/>
                <a:sym typeface="Nunito"/>
              </a:rPr>
              <a:t> </a:t>
            </a:r>
            <a:r>
              <a:rPr lang="en" sz="1100">
                <a:solidFill>
                  <a:srgbClr val="188038"/>
                </a:solidFill>
                <a:latin typeface="Nunito"/>
                <a:ea typeface="Nunito"/>
                <a:cs typeface="Nunito"/>
                <a:sym typeface="Nunito"/>
              </a:rPr>
              <a:t>data/processed/04_2g_sociodemographic_distribution/figures/</a:t>
            </a:r>
            <a:endParaRPr sz="1100">
              <a:solidFill>
                <a:srgbClr val="188038"/>
              </a:solidFill>
              <a:latin typeface="Nunito"/>
              <a:ea typeface="Nunito"/>
              <a:cs typeface="Nunito"/>
              <a:sym typeface="Nunito"/>
            </a:endParaRPr>
          </a:p>
          <a:p>
            <a:pPr indent="0" lvl="0" marL="0" rtl="0" algn="ctr">
              <a:lnSpc>
                <a:spcPct val="115000"/>
              </a:lnSpc>
              <a:spcBef>
                <a:spcPts val="0"/>
              </a:spcBef>
              <a:spcAft>
                <a:spcPts val="0"/>
              </a:spcAft>
              <a:buNone/>
            </a:pPr>
            <a:r>
              <a:rPr b="1" lang="en" sz="1100">
                <a:latin typeface="Nunito"/>
                <a:ea typeface="Nunito"/>
                <a:cs typeface="Nunito"/>
                <a:sym typeface="Nunito"/>
              </a:rPr>
              <a:t>Figuras </a:t>
            </a:r>
            <a:r>
              <a:rPr b="1" lang="en" sz="1100">
                <a:solidFill>
                  <a:srgbClr val="188038"/>
                </a:solidFill>
                <a:latin typeface="Nunito"/>
                <a:ea typeface="Nunito"/>
                <a:cs typeface="Nunito"/>
                <a:sym typeface="Nunito"/>
              </a:rPr>
              <a:t>04_2h</a:t>
            </a:r>
            <a:r>
              <a:rPr b="1" lang="en" sz="1100">
                <a:latin typeface="Nunito"/>
                <a:ea typeface="Nunito"/>
                <a:cs typeface="Nunito"/>
                <a:sym typeface="Nunito"/>
              </a:rPr>
              <a:t>:</a:t>
            </a:r>
            <a:r>
              <a:rPr lang="en" sz="1100">
                <a:latin typeface="Nunito"/>
                <a:ea typeface="Nunito"/>
                <a:cs typeface="Nunito"/>
                <a:sym typeface="Nunito"/>
              </a:rPr>
              <a:t> </a:t>
            </a:r>
            <a:r>
              <a:rPr lang="en" sz="1100">
                <a:solidFill>
                  <a:srgbClr val="188038"/>
                </a:solidFill>
                <a:latin typeface="Nunito"/>
                <a:ea typeface="Nunito"/>
                <a:cs typeface="Nunito"/>
                <a:sym typeface="Nunito"/>
              </a:rPr>
              <a:t>data/processed/04_2h_bootstrap_boxplots/figures/</a:t>
            </a:r>
            <a:endParaRPr sz="1100">
              <a:solidFill>
                <a:srgbClr val="188038"/>
              </a:solidFill>
              <a:latin typeface="Nunito"/>
              <a:ea typeface="Nunito"/>
              <a:cs typeface="Nunito"/>
              <a:sym typeface="Nuni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412c17598e8_0_758"/>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Validación y visualización del bootstrap combinado</a:t>
            </a:r>
            <a:endParaRPr/>
          </a:p>
          <a:p>
            <a:pPr indent="0" lvl="0" marL="0" rtl="0" algn="l">
              <a:lnSpc>
                <a:spcPct val="100000"/>
              </a:lnSpc>
              <a:spcBef>
                <a:spcPts val="1200"/>
              </a:spcBef>
              <a:spcAft>
                <a:spcPts val="0"/>
              </a:spcAft>
              <a:buSzPts val="2500"/>
              <a:buNone/>
            </a:pPr>
            <a:r>
              <a:t/>
            </a:r>
            <a:endParaRPr/>
          </a:p>
        </p:txBody>
      </p:sp>
      <p:sp>
        <p:nvSpPr>
          <p:cNvPr id="504" name="Google Shape;504;g412c17598e8_0_7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05" name="Google Shape;505;g412c17598e8_0_758"/>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506" name="Google Shape;506;g412c17598e8_0_758"/>
          <p:cNvGraphicFramePr/>
          <p:nvPr/>
        </p:nvGraphicFramePr>
        <p:xfrm>
          <a:off x="518125" y="1814800"/>
          <a:ext cx="3000000" cy="3000000"/>
        </p:xfrm>
        <a:graphic>
          <a:graphicData uri="http://schemas.openxmlformats.org/drawingml/2006/table">
            <a:tbl>
              <a:tblPr>
                <a:noFill/>
                <a:tableStyleId>{E52E4BE9-5879-4D65-9C92-106A106E9681}</a:tableStyleId>
              </a:tblPr>
              <a:tblGrid>
                <a:gridCol w="4031750"/>
                <a:gridCol w="4076025"/>
              </a:tblGrid>
              <a:tr h="200025">
                <a:tc>
                  <a:txBody>
                    <a:bodyPr/>
                    <a:lstStyle/>
                    <a:p>
                      <a:pPr indent="0" lvl="0" marL="0" rtl="0" algn="ctr">
                        <a:spcBef>
                          <a:spcPts val="0"/>
                        </a:spcBef>
                        <a:spcAft>
                          <a:spcPts val="0"/>
                        </a:spcAft>
                        <a:buNone/>
                      </a:pPr>
                      <a:r>
                        <a:rPr b="1" lang="en">
                          <a:solidFill>
                            <a:schemeClr val="lt1"/>
                          </a:solidFill>
                          <a:latin typeface="Nunito"/>
                          <a:ea typeface="Nunito"/>
                          <a:cs typeface="Nunito"/>
                          <a:sym typeface="Nunito"/>
                        </a:rPr>
                        <a:t>Distribuciones sociodemográficas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lt1"/>
                          </a:solidFill>
                          <a:latin typeface="Nunito"/>
                          <a:ea typeface="Nunito"/>
                          <a:cs typeface="Nunito"/>
                          <a:sym typeface="Nunito"/>
                        </a:rPr>
                        <a:t>Variabilidad entre réplicas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71475">
                <a:tc>
                  <a:txBody>
                    <a:bodyPr/>
                    <a:lstStyle/>
                    <a:p>
                      <a:pPr indent="0" lvl="0" marL="0" rtl="0" algn="ctr">
                        <a:spcBef>
                          <a:spcPts val="0"/>
                        </a:spcBef>
                        <a:spcAft>
                          <a:spcPts val="0"/>
                        </a:spcAft>
                        <a:buNone/>
                      </a:pPr>
                      <a:r>
                        <a:rPr lang="en">
                          <a:latin typeface="Nunito"/>
                          <a:ea typeface="Nunito"/>
                          <a:cs typeface="Nunito"/>
                          <a:sym typeface="Nunito"/>
                        </a:rPr>
                        <a:t>Comprueba los tamaños de las muestras y resume las distribuciones de variables sociodemográficas y de otras categorías disponibles.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Genera boxplots para visualizar cómo varía la proporción de cada categoría entre las 1.000 réplicas bootstrap.</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507" name="Google Shape;507;g412c17598e8_0_758" title="Captura de pantalla 2026-09-21 a las 11.21.19.png"/>
          <p:cNvPicPr preferRelativeResize="0"/>
          <p:nvPr/>
        </p:nvPicPr>
        <p:blipFill>
          <a:blip r:embed="rId4">
            <a:alphaModFix/>
          </a:blip>
          <a:stretch>
            <a:fillRect/>
          </a:stretch>
        </p:blipFill>
        <p:spPr>
          <a:xfrm>
            <a:off x="761813" y="581675"/>
            <a:ext cx="7491835" cy="44446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g412c17598e8_0_767"/>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Validación y visualización del bootstrap combinado</a:t>
            </a:r>
            <a:endParaRPr/>
          </a:p>
          <a:p>
            <a:pPr indent="0" lvl="0" marL="0" rtl="0" algn="l">
              <a:lnSpc>
                <a:spcPct val="100000"/>
              </a:lnSpc>
              <a:spcBef>
                <a:spcPts val="1200"/>
              </a:spcBef>
              <a:spcAft>
                <a:spcPts val="0"/>
              </a:spcAft>
              <a:buSzPts val="2500"/>
              <a:buNone/>
            </a:pPr>
            <a:r>
              <a:t/>
            </a:r>
            <a:endParaRPr/>
          </a:p>
        </p:txBody>
      </p:sp>
      <p:sp>
        <p:nvSpPr>
          <p:cNvPr id="513" name="Google Shape;513;g412c17598e8_0_76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14" name="Google Shape;514;g412c17598e8_0_767"/>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515" name="Google Shape;515;g412c17598e8_0_767"/>
          <p:cNvGraphicFramePr/>
          <p:nvPr/>
        </p:nvGraphicFramePr>
        <p:xfrm>
          <a:off x="518125" y="1814800"/>
          <a:ext cx="3000000" cy="3000000"/>
        </p:xfrm>
        <a:graphic>
          <a:graphicData uri="http://schemas.openxmlformats.org/drawingml/2006/table">
            <a:tbl>
              <a:tblPr>
                <a:noFill/>
                <a:tableStyleId>{E52E4BE9-5879-4D65-9C92-106A106E9681}</a:tableStyleId>
              </a:tblPr>
              <a:tblGrid>
                <a:gridCol w="4031750"/>
                <a:gridCol w="4076025"/>
              </a:tblGrid>
              <a:tr h="200025">
                <a:tc>
                  <a:txBody>
                    <a:bodyPr/>
                    <a:lstStyle/>
                    <a:p>
                      <a:pPr indent="0" lvl="0" marL="0" rtl="0" algn="ctr">
                        <a:spcBef>
                          <a:spcPts val="0"/>
                        </a:spcBef>
                        <a:spcAft>
                          <a:spcPts val="0"/>
                        </a:spcAft>
                        <a:buNone/>
                      </a:pPr>
                      <a:r>
                        <a:rPr b="1" lang="en">
                          <a:solidFill>
                            <a:schemeClr val="lt1"/>
                          </a:solidFill>
                          <a:latin typeface="Nunito"/>
                          <a:ea typeface="Nunito"/>
                          <a:cs typeface="Nunito"/>
                          <a:sym typeface="Nunito"/>
                        </a:rPr>
                        <a:t>Distribuciones sociodemográficas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lt1"/>
                          </a:solidFill>
                          <a:latin typeface="Nunito"/>
                          <a:ea typeface="Nunito"/>
                          <a:cs typeface="Nunito"/>
                          <a:sym typeface="Nunito"/>
                        </a:rPr>
                        <a:t>Variabilidad entre réplicas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71475">
                <a:tc>
                  <a:txBody>
                    <a:bodyPr/>
                    <a:lstStyle/>
                    <a:p>
                      <a:pPr indent="0" lvl="0" marL="0" rtl="0" algn="ctr">
                        <a:spcBef>
                          <a:spcPts val="0"/>
                        </a:spcBef>
                        <a:spcAft>
                          <a:spcPts val="0"/>
                        </a:spcAft>
                        <a:buNone/>
                      </a:pPr>
                      <a:r>
                        <a:rPr lang="en">
                          <a:latin typeface="Nunito"/>
                          <a:ea typeface="Nunito"/>
                          <a:cs typeface="Nunito"/>
                          <a:sym typeface="Nunito"/>
                        </a:rPr>
                        <a:t>Comprueba los tamaños de las muestras y resume las distribuciones de variables sociodemográficas y de otras categorías disponibles.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Genera boxplots para visualizar cómo varía la proporción de cada categoría entre las 1.000 réplicas bootstrap.</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516" name="Google Shape;516;g412c17598e8_0_767" title="Captura de pantalla 2026-09-21 a las 11.21.19.png"/>
          <p:cNvPicPr preferRelativeResize="0"/>
          <p:nvPr/>
        </p:nvPicPr>
        <p:blipFill>
          <a:blip r:embed="rId4">
            <a:alphaModFix/>
          </a:blip>
          <a:stretch>
            <a:fillRect/>
          </a:stretch>
        </p:blipFill>
        <p:spPr>
          <a:xfrm>
            <a:off x="1135225" y="3354450"/>
            <a:ext cx="2714568" cy="1610449"/>
          </a:xfrm>
          <a:prstGeom prst="rect">
            <a:avLst/>
          </a:prstGeom>
          <a:noFill/>
          <a:ln>
            <a:noFill/>
          </a:ln>
        </p:spPr>
      </p:pic>
      <p:pic>
        <p:nvPicPr>
          <p:cNvPr id="517" name="Google Shape;517;g412c17598e8_0_767" title="Captura de pantalla 2026-09-21 a las 11.21.42.png"/>
          <p:cNvPicPr preferRelativeResize="0"/>
          <p:nvPr/>
        </p:nvPicPr>
        <p:blipFill>
          <a:blip r:embed="rId5">
            <a:alphaModFix/>
          </a:blip>
          <a:stretch>
            <a:fillRect/>
          </a:stretch>
        </p:blipFill>
        <p:spPr>
          <a:xfrm>
            <a:off x="715050" y="431343"/>
            <a:ext cx="7776200" cy="443868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412c17598e8_0_706"/>
          <p:cNvSpPr txBox="1"/>
          <p:nvPr>
            <p:ph type="title"/>
          </p:nvPr>
        </p:nvSpPr>
        <p:spPr>
          <a:xfrm>
            <a:off x="498875" y="3328050"/>
            <a:ext cx="8472600" cy="125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4700"/>
              <a:t>Construcción de las matrices</a:t>
            </a:r>
            <a:endParaRPr sz="4700"/>
          </a:p>
        </p:txBody>
      </p:sp>
      <p:sp>
        <p:nvSpPr>
          <p:cNvPr id="523" name="Google Shape;523;g412c17598e8_0_706"/>
          <p:cNvSpPr txBox="1"/>
          <p:nvPr>
            <p:ph idx="2" type="title"/>
          </p:nvPr>
        </p:nvSpPr>
        <p:spPr>
          <a:xfrm>
            <a:off x="715100" y="2074250"/>
            <a:ext cx="7708800" cy="125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04</a:t>
            </a:r>
            <a:endParaRPr/>
          </a:p>
        </p:txBody>
      </p:sp>
      <p:sp>
        <p:nvSpPr>
          <p:cNvPr id="524" name="Google Shape;524;g412c17598e8_0_7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25" name="Google Shape;525;g412c17598e8_0_706"/>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412c17598e8_0_158"/>
          <p:cNvSpPr txBox="1"/>
          <p:nvPr>
            <p:ph idx="1" type="subTitle"/>
          </p:nvPr>
        </p:nvSpPr>
        <p:spPr>
          <a:xfrm>
            <a:off x="787800" y="1297750"/>
            <a:ext cx="7445100" cy="2496600"/>
          </a:xfrm>
          <a:prstGeom prst="rect">
            <a:avLst/>
          </a:prstGeom>
          <a:noFill/>
          <a:ln>
            <a:noFill/>
          </a:ln>
        </p:spPr>
        <p:txBody>
          <a:bodyPr anchorCtr="0" anchor="t" bIns="91425" lIns="91425" spcFirstLastPara="1" rIns="91425" wrap="square" tIns="91425">
            <a:noAutofit/>
          </a:bodyPr>
          <a:lstStyle/>
          <a:p>
            <a:pPr indent="0" lvl="0" marL="0" rtl="0" algn="just">
              <a:spcBef>
                <a:spcPts val="1200"/>
              </a:spcBef>
              <a:spcAft>
                <a:spcPts val="0"/>
              </a:spcAft>
              <a:buNone/>
            </a:pPr>
            <a:r>
              <a:rPr lang="en" sz="1400">
                <a:solidFill>
                  <a:srgbClr val="000000"/>
                </a:solidFill>
                <a:latin typeface="Nunito"/>
                <a:ea typeface="Nunito"/>
                <a:cs typeface="Nunito"/>
                <a:sym typeface="Nunito"/>
              </a:rPr>
              <a:t>Parte de los 32 determinantes de los participantes originales utilizables para clustering, antes de aplicar las réplicas bootstrap (</a:t>
            </a:r>
            <a:r>
              <a:rPr lang="en" sz="1500">
                <a:solidFill>
                  <a:srgbClr val="188038"/>
                </a:solidFill>
                <a:latin typeface="Nunito"/>
                <a:ea typeface="Nunito"/>
                <a:cs typeface="Nunito"/>
                <a:sym typeface="Nunito"/>
              </a:rPr>
              <a:t>matrix_32det_for_clustering.csv</a:t>
            </a:r>
            <a:r>
              <a:rPr lang="en" sz="1400">
                <a:solidFill>
                  <a:srgbClr val="000000"/>
                </a:solidFill>
                <a:latin typeface="Nunito"/>
                <a:ea typeface="Nunito"/>
                <a:cs typeface="Nunito"/>
                <a:sym typeface="Nunito"/>
              </a:rPr>
              <a:t>).</a:t>
            </a:r>
            <a:endParaRPr sz="1400">
              <a:solidFill>
                <a:srgbClr val="000000"/>
              </a:solidFill>
              <a:latin typeface="Nunito"/>
              <a:ea typeface="Nunito"/>
              <a:cs typeface="Nunito"/>
              <a:sym typeface="Nunito"/>
            </a:endParaRPr>
          </a:p>
          <a:p>
            <a:pPr indent="0" lvl="0" marL="0" rtl="0" algn="just">
              <a:spcBef>
                <a:spcPts val="1200"/>
              </a:spcBef>
              <a:spcAft>
                <a:spcPts val="0"/>
              </a:spcAft>
              <a:buNone/>
            </a:pPr>
            <a:r>
              <a:rPr lang="en" sz="1400">
                <a:solidFill>
                  <a:srgbClr val="000000"/>
                </a:solidFill>
                <a:latin typeface="Nunito"/>
                <a:ea typeface="Nunito"/>
                <a:cs typeface="Nunito"/>
                <a:sym typeface="Nunito"/>
              </a:rPr>
              <a:t>Construye matrices para las muestras de análisis: </a:t>
            </a:r>
            <a:r>
              <a:rPr lang="en" sz="1400">
                <a:solidFill>
                  <a:srgbClr val="188038"/>
                </a:solidFill>
                <a:latin typeface="Nunito"/>
                <a:ea typeface="Nunito"/>
                <a:cs typeface="Nunito"/>
                <a:sym typeface="Nunito"/>
              </a:rPr>
              <a:t>COMPLETE</a:t>
            </a:r>
            <a:r>
              <a:rPr lang="en" sz="1400">
                <a:solidFill>
                  <a:srgbClr val="000000"/>
                </a:solidFill>
                <a:latin typeface="Nunito"/>
                <a:ea typeface="Nunito"/>
                <a:cs typeface="Nunito"/>
                <a:sym typeface="Nunito"/>
              </a:rPr>
              <a:t>, </a:t>
            </a:r>
            <a:r>
              <a:rPr lang="en" sz="1400">
                <a:solidFill>
                  <a:srgbClr val="188038"/>
                </a:solidFill>
                <a:latin typeface="Nunito"/>
                <a:ea typeface="Nunito"/>
                <a:cs typeface="Nunito"/>
                <a:sym typeface="Nunito"/>
              </a:rPr>
              <a:t>EUROPE</a:t>
            </a:r>
            <a:r>
              <a:rPr lang="en" sz="1400">
                <a:solidFill>
                  <a:srgbClr val="000000"/>
                </a:solidFill>
                <a:latin typeface="Nunito"/>
                <a:ea typeface="Nunito"/>
                <a:cs typeface="Nunito"/>
                <a:sym typeface="Nunito"/>
              </a:rPr>
              <a:t>, </a:t>
            </a:r>
            <a:r>
              <a:rPr lang="en" sz="1400">
                <a:solidFill>
                  <a:srgbClr val="188038"/>
                </a:solidFill>
                <a:latin typeface="Nunito"/>
                <a:ea typeface="Nunito"/>
                <a:cs typeface="Nunito"/>
                <a:sym typeface="Nunito"/>
              </a:rPr>
              <a:t>LATAM</a:t>
            </a:r>
            <a:r>
              <a:rPr lang="en" sz="1400">
                <a:solidFill>
                  <a:srgbClr val="000000"/>
                </a:solidFill>
                <a:latin typeface="Nunito"/>
                <a:ea typeface="Nunito"/>
                <a:cs typeface="Nunito"/>
                <a:sym typeface="Nunito"/>
              </a:rPr>
              <a:t>, </a:t>
            </a:r>
            <a:r>
              <a:rPr lang="en" sz="1400">
                <a:solidFill>
                  <a:srgbClr val="188038"/>
                </a:solidFill>
                <a:latin typeface="Nunito"/>
                <a:ea typeface="Nunito"/>
                <a:cs typeface="Nunito"/>
                <a:sym typeface="Nunito"/>
              </a:rPr>
              <a:t>DIEGO</a:t>
            </a:r>
            <a:r>
              <a:rPr lang="en" sz="1400">
                <a:solidFill>
                  <a:srgbClr val="000000"/>
                </a:solidFill>
                <a:latin typeface="Nunito"/>
                <a:ea typeface="Nunito"/>
                <a:cs typeface="Nunito"/>
                <a:sym typeface="Nunito"/>
              </a:rPr>
              <a:t>, </a:t>
            </a:r>
            <a:r>
              <a:rPr lang="en" sz="1400">
                <a:solidFill>
                  <a:srgbClr val="188038"/>
                </a:solidFill>
                <a:latin typeface="Nunito"/>
                <a:ea typeface="Nunito"/>
                <a:cs typeface="Nunito"/>
                <a:sym typeface="Nunito"/>
              </a:rPr>
              <a:t>RENOVISOR</a:t>
            </a:r>
            <a:r>
              <a:rPr lang="en" sz="1400">
                <a:solidFill>
                  <a:srgbClr val="000000"/>
                </a:solidFill>
                <a:latin typeface="Nunito"/>
                <a:ea typeface="Nunito"/>
                <a:cs typeface="Nunito"/>
                <a:sym typeface="Nunito"/>
              </a:rPr>
              <a:t>, </a:t>
            </a:r>
            <a:r>
              <a:rPr lang="en" sz="1400">
                <a:solidFill>
                  <a:srgbClr val="188038"/>
                </a:solidFill>
                <a:latin typeface="Nunito"/>
                <a:ea typeface="Nunito"/>
                <a:cs typeface="Nunito"/>
                <a:sym typeface="Nunito"/>
              </a:rPr>
              <a:t>WHY_EUROPE</a:t>
            </a:r>
            <a:r>
              <a:rPr lang="en" sz="1400">
                <a:solidFill>
                  <a:srgbClr val="000000"/>
                </a:solidFill>
                <a:latin typeface="Nunito"/>
                <a:ea typeface="Nunito"/>
                <a:cs typeface="Nunito"/>
                <a:sym typeface="Nunito"/>
              </a:rPr>
              <a:t>, </a:t>
            </a:r>
            <a:r>
              <a:rPr lang="en" sz="1400">
                <a:solidFill>
                  <a:srgbClr val="188038"/>
                </a:solidFill>
                <a:latin typeface="Nunito"/>
                <a:ea typeface="Nunito"/>
                <a:cs typeface="Nunito"/>
                <a:sym typeface="Nunito"/>
              </a:rPr>
              <a:t>WHY_LATAM</a:t>
            </a:r>
            <a:r>
              <a:rPr lang="en" sz="1400">
                <a:solidFill>
                  <a:srgbClr val="000000"/>
                </a:solidFill>
                <a:latin typeface="Nunito"/>
                <a:ea typeface="Nunito"/>
                <a:cs typeface="Nunito"/>
                <a:sym typeface="Nunito"/>
              </a:rPr>
              <a:t>.</a:t>
            </a:r>
            <a:endParaRPr sz="1400">
              <a:solidFill>
                <a:srgbClr val="000000"/>
              </a:solidFill>
              <a:latin typeface="Nunito"/>
              <a:ea typeface="Nunito"/>
              <a:cs typeface="Nunito"/>
              <a:sym typeface="Nunito"/>
            </a:endParaRPr>
          </a:p>
          <a:p>
            <a:pPr indent="0" lvl="0" marL="0" rtl="0" algn="just">
              <a:spcBef>
                <a:spcPts val="1200"/>
              </a:spcBef>
              <a:spcAft>
                <a:spcPts val="0"/>
              </a:spcAft>
              <a:buNone/>
            </a:pPr>
            <a:r>
              <a:rPr lang="en" sz="1400">
                <a:solidFill>
                  <a:srgbClr val="000000"/>
                </a:solidFill>
                <a:latin typeface="Nunito"/>
                <a:ea typeface="Nunito"/>
                <a:cs typeface="Nunito"/>
                <a:sym typeface="Nunito"/>
              </a:rPr>
              <a:t>Genera dos niveles de representación:</a:t>
            </a:r>
            <a:endParaRPr sz="1400">
              <a:solidFill>
                <a:srgbClr val="000000"/>
              </a:solidFill>
              <a:latin typeface="Nunito"/>
              <a:ea typeface="Nunito"/>
              <a:cs typeface="Nunito"/>
              <a:sym typeface="Nunito"/>
            </a:endParaRPr>
          </a:p>
          <a:p>
            <a:pPr indent="-317500" lvl="0" marL="457200" rtl="0" algn="l">
              <a:lnSpc>
                <a:spcPct val="115000"/>
              </a:lnSpc>
              <a:spcBef>
                <a:spcPts val="1200"/>
              </a:spcBef>
              <a:spcAft>
                <a:spcPts val="0"/>
              </a:spcAft>
              <a:buClr>
                <a:srgbClr val="000000"/>
              </a:buClr>
              <a:buSzPts val="1400"/>
              <a:buFont typeface="Nunito"/>
              <a:buChar char="●"/>
            </a:pPr>
            <a:r>
              <a:rPr b="1" lang="en" sz="1400">
                <a:solidFill>
                  <a:srgbClr val="000000"/>
                </a:solidFill>
                <a:latin typeface="Nunito"/>
                <a:ea typeface="Nunito"/>
                <a:cs typeface="Nunito"/>
                <a:sym typeface="Nunito"/>
              </a:rPr>
              <a:t>32 determinantes</a:t>
            </a:r>
            <a:endParaRPr b="1" sz="1400">
              <a:solidFill>
                <a:srgbClr val="000000"/>
              </a:solidFill>
              <a:latin typeface="Nunito"/>
              <a:ea typeface="Nunito"/>
              <a:cs typeface="Nunito"/>
              <a:sym typeface="Nunito"/>
            </a:endParaRPr>
          </a:p>
          <a:p>
            <a:pPr indent="-317500" lvl="0" marL="457200" rtl="0" algn="l">
              <a:lnSpc>
                <a:spcPct val="115000"/>
              </a:lnSpc>
              <a:spcBef>
                <a:spcPts val="0"/>
              </a:spcBef>
              <a:spcAft>
                <a:spcPts val="0"/>
              </a:spcAft>
              <a:buClr>
                <a:srgbClr val="000000"/>
              </a:buClr>
              <a:buSzPts val="1400"/>
              <a:buFont typeface="Nunito"/>
              <a:buChar char="●"/>
            </a:pPr>
            <a:r>
              <a:rPr b="1" lang="en" sz="1400">
                <a:solidFill>
                  <a:srgbClr val="000000"/>
                </a:solidFill>
                <a:latin typeface="Nunito"/>
                <a:ea typeface="Nunito"/>
                <a:cs typeface="Nunito"/>
                <a:sym typeface="Nunito"/>
              </a:rPr>
              <a:t>9 dimensiones teóricas</a:t>
            </a:r>
            <a:endParaRPr b="1" sz="1400">
              <a:solidFill>
                <a:srgbClr val="000000"/>
              </a:solidFill>
              <a:latin typeface="Nunito"/>
              <a:ea typeface="Nunito"/>
              <a:cs typeface="Nunito"/>
              <a:sym typeface="Nunito"/>
            </a:endParaRPr>
          </a:p>
          <a:p>
            <a:pPr indent="0" lvl="0" marL="0" rtl="0" algn="l">
              <a:lnSpc>
                <a:spcPct val="115000"/>
              </a:lnSpc>
              <a:spcBef>
                <a:spcPts val="1200"/>
              </a:spcBef>
              <a:spcAft>
                <a:spcPts val="0"/>
              </a:spcAft>
              <a:buNone/>
            </a:pPr>
            <a:r>
              <a:rPr lang="en" sz="1400">
                <a:solidFill>
                  <a:srgbClr val="000000"/>
                </a:solidFill>
                <a:latin typeface="Nunito"/>
                <a:ea typeface="Nunito"/>
                <a:cs typeface="Nunito"/>
                <a:sym typeface="Nunito"/>
              </a:rPr>
              <a:t>Crea distintas transformaciones de los datos para comparar resultados posteriores.</a:t>
            </a:r>
            <a:endParaRPr sz="1400">
              <a:solidFill>
                <a:srgbClr val="000000"/>
              </a:solidFill>
              <a:latin typeface="Nunito"/>
              <a:ea typeface="Nunito"/>
              <a:cs typeface="Nunito"/>
              <a:sym typeface="Nunito"/>
            </a:endParaRPr>
          </a:p>
          <a:p>
            <a:pPr indent="0" lvl="0" marL="0" rtl="0" algn="just">
              <a:lnSpc>
                <a:spcPct val="100000"/>
              </a:lnSpc>
              <a:spcBef>
                <a:spcPts val="1200"/>
              </a:spcBef>
              <a:spcAft>
                <a:spcPts val="0"/>
              </a:spcAft>
              <a:buSzPts val="1200"/>
              <a:buNone/>
            </a:pPr>
            <a:r>
              <a:t/>
            </a:r>
            <a:endParaRPr sz="1400">
              <a:solidFill>
                <a:srgbClr val="000000"/>
              </a:solidFill>
              <a:latin typeface="Nunito"/>
              <a:ea typeface="Nunito"/>
              <a:cs typeface="Nunito"/>
              <a:sym typeface="Nunito"/>
            </a:endParaRPr>
          </a:p>
        </p:txBody>
      </p:sp>
      <p:sp>
        <p:nvSpPr>
          <p:cNvPr id="531" name="Google Shape;531;g412c17598e8_0_158"/>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Construcci</a:t>
            </a:r>
            <a:r>
              <a:rPr lang="en"/>
              <a:t>ón de las matrices de análisis</a:t>
            </a:r>
            <a:endParaRPr/>
          </a:p>
          <a:p>
            <a:pPr indent="0" lvl="0" marL="0" rtl="0" algn="l">
              <a:lnSpc>
                <a:spcPct val="100000"/>
              </a:lnSpc>
              <a:spcBef>
                <a:spcPts val="0"/>
              </a:spcBef>
              <a:spcAft>
                <a:spcPts val="0"/>
              </a:spcAft>
              <a:buSzPts val="2500"/>
              <a:buNone/>
            </a:pPr>
            <a:r>
              <a:rPr b="1" lang="en" sz="1100">
                <a:solidFill>
                  <a:srgbClr val="000000"/>
                </a:solidFill>
                <a:latin typeface="Arial"/>
                <a:ea typeface="Arial"/>
                <a:cs typeface="Arial"/>
                <a:sym typeface="Arial"/>
              </a:rPr>
              <a:t>Script:</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05_clustering_matrices.R</a:t>
            </a:r>
            <a:endParaRPr/>
          </a:p>
        </p:txBody>
      </p:sp>
      <p:sp>
        <p:nvSpPr>
          <p:cNvPr id="532" name="Google Shape;532;g412c17598e8_0_1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33" name="Google Shape;533;g412c17598e8_0_158"/>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412c17598e8_0_166"/>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Las cuatro transformaciones: RAW, POS, EXT y Z_ABS</a:t>
            </a:r>
            <a:endParaRPr/>
          </a:p>
        </p:txBody>
      </p:sp>
      <p:sp>
        <p:nvSpPr>
          <p:cNvPr id="539" name="Google Shape;539;g412c17598e8_0_1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40" name="Google Shape;540;g412c17598e8_0_166"/>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541" name="Google Shape;541;g412c17598e8_0_166"/>
          <p:cNvGraphicFramePr/>
          <p:nvPr/>
        </p:nvGraphicFramePr>
        <p:xfrm>
          <a:off x="774850" y="1534950"/>
          <a:ext cx="3000000" cy="3000000"/>
        </p:xfrm>
        <a:graphic>
          <a:graphicData uri="http://schemas.openxmlformats.org/drawingml/2006/table">
            <a:tbl>
              <a:tblPr>
                <a:noFill/>
                <a:tableStyleId>{E52E4BE9-5879-4D65-9C92-106A106E9681}</a:tableStyleId>
              </a:tblPr>
              <a:tblGrid>
                <a:gridCol w="1048900"/>
                <a:gridCol w="3197475"/>
                <a:gridCol w="3195700"/>
              </a:tblGrid>
              <a:tr h="20002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Matriz</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Qué representa</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Interpretación</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200025">
                <a:tc>
                  <a:txBody>
                    <a:bodyPr/>
                    <a:lstStyle/>
                    <a:p>
                      <a:pPr indent="0" lvl="0" marL="0" rtl="0" algn="ctr">
                        <a:spcBef>
                          <a:spcPts val="0"/>
                        </a:spcBef>
                        <a:spcAft>
                          <a:spcPts val="0"/>
                        </a:spcAft>
                        <a:buNone/>
                      </a:pPr>
                      <a:r>
                        <a:rPr b="1" lang="en">
                          <a:latin typeface="Nunito"/>
                          <a:ea typeface="Nunito"/>
                          <a:cs typeface="Nunito"/>
                          <a:sym typeface="Nunito"/>
                        </a:rPr>
                        <a:t>RAW</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Valor original 0–100 pasado a 0–1.</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Intensidad directa del determinante.</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b="1" lang="en">
                          <a:latin typeface="Nunito"/>
                          <a:ea typeface="Nunito"/>
                          <a:cs typeface="Nunito"/>
                          <a:sym typeface="Nunito"/>
                        </a:rPr>
                        <a:t>POS</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Solo valores positivos/altos(&gt;=50).</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Qué determinantes son claramente relevantes.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b="1" lang="en">
                          <a:latin typeface="Nunito"/>
                          <a:ea typeface="Nunito"/>
                          <a:cs typeface="Nunito"/>
                          <a:sym typeface="Nunito"/>
                        </a:rPr>
                        <a:t>EXT</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Distancia respecto a 50, conservando sólo desviaciones de 25 puntos o +.</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Qué determinantes generan posiciones extremas.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b="1" lang="en">
                          <a:latin typeface="Nunito"/>
                          <a:ea typeface="Nunito"/>
                          <a:cs typeface="Nunito"/>
                          <a:sym typeface="Nunito"/>
                        </a:rPr>
                        <a:t>Z_ABS</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Desviación absoluta estandarizada.</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Qué determinantes diferencian más respecto a la muestra.</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42" name="Google Shape;542;g412c17598e8_0_166"/>
          <p:cNvSpPr txBox="1"/>
          <p:nvPr/>
        </p:nvSpPr>
        <p:spPr>
          <a:xfrm>
            <a:off x="756538" y="4265500"/>
            <a:ext cx="7478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Nunito"/>
                <a:ea typeface="Nunito"/>
                <a:cs typeface="Nunito"/>
                <a:sym typeface="Nunito"/>
              </a:rPr>
              <a:t>Estas matrices permiten comprobar si los perfiles aparecen de forma consistente bajo distintas formas de representar los determinantes.</a:t>
            </a:r>
            <a:endParaRPr>
              <a:latin typeface="Nunito"/>
              <a:ea typeface="Nunito"/>
              <a:cs typeface="Nunito"/>
              <a:sym typeface="Nuni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412c17598e8_0_178"/>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Salidas de 05_clustering_matrices.R</a:t>
            </a:r>
            <a:endParaRPr/>
          </a:p>
        </p:txBody>
      </p:sp>
      <p:sp>
        <p:nvSpPr>
          <p:cNvPr id="548" name="Google Shape;548;g412c17598e8_0_1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49" name="Google Shape;549;g412c17598e8_0_178"/>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550" name="Google Shape;550;g412c17598e8_0_178"/>
          <p:cNvSpPr txBox="1"/>
          <p:nvPr/>
        </p:nvSpPr>
        <p:spPr>
          <a:xfrm>
            <a:off x="746750" y="1270175"/>
            <a:ext cx="7353600" cy="1477500"/>
          </a:xfrm>
          <a:prstGeom prst="rect">
            <a:avLst/>
          </a:prstGeom>
          <a:noFill/>
          <a:ln>
            <a:noFill/>
          </a:ln>
        </p:spPr>
        <p:txBody>
          <a:bodyPr anchorCtr="0" anchor="t" bIns="91425" lIns="91425" spcFirstLastPara="1" rIns="91425" wrap="square" tIns="91425">
            <a:spAutoFit/>
          </a:bodyPr>
          <a:lstStyle/>
          <a:p>
            <a:pPr indent="-317500" lvl="0" marL="457200" rtl="0" algn="just">
              <a:spcBef>
                <a:spcPts val="0"/>
              </a:spcBef>
              <a:spcAft>
                <a:spcPts val="0"/>
              </a:spcAft>
              <a:buSzPts val="1400"/>
              <a:buFont typeface="Nunito"/>
              <a:buChar char="●"/>
            </a:pPr>
            <a:r>
              <a:rPr lang="en">
                <a:latin typeface="Nunito"/>
                <a:ea typeface="Nunito"/>
                <a:cs typeface="Nunito"/>
                <a:sym typeface="Nunito"/>
              </a:rPr>
              <a:t>Para cada muestra se generan matrices en CSV.</a:t>
            </a:r>
            <a:endParaRPr>
              <a:latin typeface="Nunito"/>
              <a:ea typeface="Nunito"/>
              <a:cs typeface="Nunito"/>
              <a:sym typeface="Nunito"/>
            </a:endParaRPr>
          </a:p>
          <a:p>
            <a:pPr indent="-317500" lvl="0" marL="457200" rtl="0" algn="just">
              <a:spcBef>
                <a:spcPts val="0"/>
              </a:spcBef>
              <a:spcAft>
                <a:spcPts val="0"/>
              </a:spcAft>
              <a:buSzPts val="1400"/>
              <a:buFont typeface="Nunito"/>
              <a:buChar char="●"/>
            </a:pPr>
            <a:r>
              <a:rPr lang="en">
                <a:latin typeface="Nunito"/>
                <a:ea typeface="Nunito"/>
                <a:cs typeface="Nunito"/>
                <a:sym typeface="Nunito"/>
              </a:rPr>
              <a:t>Las matrices de </a:t>
            </a:r>
            <a:r>
              <a:rPr b="1" lang="en">
                <a:latin typeface="Nunito"/>
                <a:ea typeface="Nunito"/>
                <a:cs typeface="Nunito"/>
                <a:sym typeface="Nunito"/>
              </a:rPr>
              <a:t>32 determinantes</a:t>
            </a:r>
            <a:r>
              <a:rPr lang="en">
                <a:latin typeface="Nunito"/>
                <a:ea typeface="Nunito"/>
                <a:cs typeface="Nunito"/>
                <a:sym typeface="Nunito"/>
              </a:rPr>
              <a:t> alimentan K-means, EFA y Greedy.</a:t>
            </a:r>
            <a:endParaRPr>
              <a:latin typeface="Nunito"/>
              <a:ea typeface="Nunito"/>
              <a:cs typeface="Nunito"/>
              <a:sym typeface="Nunito"/>
            </a:endParaRPr>
          </a:p>
          <a:p>
            <a:pPr indent="-317500" lvl="0" marL="457200" rtl="0" algn="just">
              <a:spcBef>
                <a:spcPts val="0"/>
              </a:spcBef>
              <a:spcAft>
                <a:spcPts val="0"/>
              </a:spcAft>
              <a:buSzPts val="1400"/>
              <a:buFont typeface="Nunito"/>
              <a:buChar char="●"/>
            </a:pPr>
            <a:r>
              <a:rPr lang="en">
                <a:latin typeface="Nunito"/>
                <a:ea typeface="Nunito"/>
                <a:cs typeface="Nunito"/>
                <a:sym typeface="Nunito"/>
              </a:rPr>
              <a:t>Las matrices de </a:t>
            </a:r>
            <a:r>
              <a:rPr b="1" lang="en">
                <a:latin typeface="Nunito"/>
                <a:ea typeface="Nunito"/>
                <a:cs typeface="Nunito"/>
                <a:sym typeface="Nunito"/>
              </a:rPr>
              <a:t>9 dimensiones</a:t>
            </a:r>
            <a:r>
              <a:rPr lang="en">
                <a:latin typeface="Nunito"/>
                <a:ea typeface="Nunito"/>
                <a:cs typeface="Nunito"/>
                <a:sym typeface="Nunito"/>
              </a:rPr>
              <a:t> permiten comparar resultados agregados. </a:t>
            </a:r>
            <a:r>
              <a:rPr lang="en">
                <a:solidFill>
                  <a:srgbClr val="E06666"/>
                </a:solidFill>
                <a:latin typeface="Nunito"/>
                <a:ea typeface="Nunito"/>
                <a:cs typeface="Nunito"/>
                <a:sym typeface="Nunito"/>
              </a:rPr>
              <a:t>(NO HECHO)</a:t>
            </a:r>
            <a:endParaRPr>
              <a:solidFill>
                <a:srgbClr val="E06666"/>
              </a:solidFill>
              <a:latin typeface="Nunito"/>
              <a:ea typeface="Nunito"/>
              <a:cs typeface="Nunito"/>
              <a:sym typeface="Nunito"/>
            </a:endParaRPr>
          </a:p>
          <a:p>
            <a:pPr indent="-317500" lvl="0" marL="457200" rtl="0" algn="just">
              <a:spcBef>
                <a:spcPts val="0"/>
              </a:spcBef>
              <a:spcAft>
                <a:spcPts val="0"/>
              </a:spcAft>
              <a:buSzPts val="1400"/>
              <a:buFont typeface="Nunito"/>
              <a:buChar char="●"/>
            </a:pPr>
            <a:r>
              <a:rPr lang="en">
                <a:latin typeface="Nunito"/>
                <a:ea typeface="Nunito"/>
                <a:cs typeface="Nunito"/>
                <a:sym typeface="Nunito"/>
              </a:rPr>
              <a:t>También se guardan diagnósticos de missing, umbrales POS/EXT y estadísticas de las matrices.</a:t>
            </a:r>
            <a:endParaRPr>
              <a:latin typeface="Nunito"/>
              <a:ea typeface="Nunito"/>
              <a:cs typeface="Nunito"/>
              <a:sym typeface="Nunito"/>
            </a:endParaRPr>
          </a:p>
        </p:txBody>
      </p:sp>
      <p:graphicFrame>
        <p:nvGraphicFramePr>
          <p:cNvPr id="551" name="Google Shape;551;g412c17598e8_0_178"/>
          <p:cNvGraphicFramePr/>
          <p:nvPr/>
        </p:nvGraphicFramePr>
        <p:xfrm>
          <a:off x="864413" y="2862700"/>
          <a:ext cx="3000000" cy="3000000"/>
        </p:xfrm>
        <a:graphic>
          <a:graphicData uri="http://schemas.openxmlformats.org/drawingml/2006/table">
            <a:tbl>
              <a:tblPr>
                <a:noFill/>
                <a:tableStyleId>{E52E4BE9-5879-4D65-9C92-106A106E9681}</a:tableStyleId>
              </a:tblPr>
              <a:tblGrid>
                <a:gridCol w="2295650"/>
                <a:gridCol w="5268875"/>
              </a:tblGrid>
              <a:tr h="20002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Archivo</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Para qué sirve</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200025">
                <a:tc>
                  <a:txBody>
                    <a:bodyPr/>
                    <a:lstStyle/>
                    <a:p>
                      <a:pPr indent="0" lvl="0" marL="0" rtl="0" algn="l">
                        <a:spcBef>
                          <a:spcPts val="0"/>
                        </a:spcBef>
                        <a:spcAft>
                          <a:spcPts val="0"/>
                        </a:spcAft>
                        <a:buNone/>
                      </a:pPr>
                      <a:r>
                        <a:rPr lang="en">
                          <a:solidFill>
                            <a:srgbClr val="188038"/>
                          </a:solidFill>
                          <a:latin typeface="Nunito"/>
                          <a:ea typeface="Nunito"/>
                          <a:cs typeface="Nunito"/>
                          <a:sym typeface="Nunito"/>
                        </a:rPr>
                        <a:t>matrix_32_raw_0_1.csv</a:t>
                      </a:r>
                      <a:endParaRPr>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Análisis con los valores originales reescalados.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a:solidFill>
                            <a:srgbClr val="188038"/>
                          </a:solidFill>
                          <a:latin typeface="Nunito"/>
                          <a:ea typeface="Nunito"/>
                          <a:cs typeface="Nunito"/>
                          <a:sym typeface="Nunito"/>
                        </a:rPr>
                        <a:t>matrix_32_pos_0_1.csv</a:t>
                      </a:r>
                      <a:endParaRPr>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Análisis centrado en determinantes con valores altos.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a:solidFill>
                            <a:srgbClr val="188038"/>
                          </a:solidFill>
                          <a:latin typeface="Nunito"/>
                          <a:ea typeface="Nunito"/>
                          <a:cs typeface="Nunito"/>
                          <a:sym typeface="Nunito"/>
                        </a:rPr>
                        <a:t>matrix_32_ext_0_1.csv</a:t>
                      </a:r>
                      <a:endParaRPr>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Análisis centrado en desviaciones respecto al valor neutral.</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a:solidFill>
                            <a:srgbClr val="188038"/>
                          </a:solidFill>
                          <a:latin typeface="Nunito"/>
                          <a:ea typeface="Nunito"/>
                          <a:cs typeface="Nunito"/>
                          <a:sym typeface="Nunito"/>
                        </a:rPr>
                        <a:t>matrix_32_z_abs.csv</a:t>
                      </a:r>
                      <a:endParaRPr>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Análisis de desviaciones absolutas estandarizadas.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412c17598e8_0_713"/>
          <p:cNvSpPr txBox="1"/>
          <p:nvPr>
            <p:ph type="title"/>
          </p:nvPr>
        </p:nvSpPr>
        <p:spPr>
          <a:xfrm>
            <a:off x="498875" y="3328050"/>
            <a:ext cx="8472600" cy="125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4700"/>
              <a:t>K-means y EFA</a:t>
            </a:r>
            <a:endParaRPr sz="4700"/>
          </a:p>
        </p:txBody>
      </p:sp>
      <p:sp>
        <p:nvSpPr>
          <p:cNvPr id="557" name="Google Shape;557;g412c17598e8_0_713"/>
          <p:cNvSpPr txBox="1"/>
          <p:nvPr>
            <p:ph idx="2" type="title"/>
          </p:nvPr>
        </p:nvSpPr>
        <p:spPr>
          <a:xfrm>
            <a:off x="715100" y="2074250"/>
            <a:ext cx="7708800" cy="125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05</a:t>
            </a:r>
            <a:endParaRPr/>
          </a:p>
        </p:txBody>
      </p:sp>
      <p:sp>
        <p:nvSpPr>
          <p:cNvPr id="558" name="Google Shape;558;g412c17598e8_0_7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59" name="Google Shape;559;g412c17598e8_0_713"/>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412c17598e8_0_194"/>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Identificación de estructuras mediante K-means y EFA</a:t>
            </a:r>
            <a:endParaRPr/>
          </a:p>
        </p:txBody>
      </p:sp>
      <p:sp>
        <p:nvSpPr>
          <p:cNvPr id="565" name="Google Shape;565;g412c17598e8_0_1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66" name="Google Shape;566;g412c17598e8_0_194"/>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567" name="Google Shape;567;g412c17598e8_0_194"/>
          <p:cNvGraphicFramePr/>
          <p:nvPr/>
        </p:nvGraphicFramePr>
        <p:xfrm>
          <a:off x="382800" y="1745725"/>
          <a:ext cx="3000000" cy="3000000"/>
        </p:xfrm>
        <a:graphic>
          <a:graphicData uri="http://schemas.openxmlformats.org/drawingml/2006/table">
            <a:tbl>
              <a:tblPr>
                <a:noFill/>
                <a:tableStyleId>{E52E4BE9-5879-4D65-9C92-106A106E9681}</a:tableStyleId>
              </a:tblPr>
              <a:tblGrid>
                <a:gridCol w="4038225"/>
                <a:gridCol w="4340175"/>
              </a:tblGrid>
              <a:tr h="20002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K-means — Agrupación de participantes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EFA — Identificación de factores</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71475">
                <a:tc>
                  <a:txBody>
                    <a:bodyPr/>
                    <a:lstStyle/>
                    <a:p>
                      <a:pPr indent="0" lvl="0" marL="0" rtl="0" algn="ctr">
                        <a:spcBef>
                          <a:spcPts val="0"/>
                        </a:spcBef>
                        <a:spcAft>
                          <a:spcPts val="0"/>
                        </a:spcAft>
                        <a:buNone/>
                      </a:pPr>
                      <a:r>
                        <a:rPr lang="en">
                          <a:latin typeface="Nunito"/>
                          <a:ea typeface="Nunito"/>
                          <a:cs typeface="Nunito"/>
                          <a:sym typeface="Nunito"/>
                        </a:rPr>
                        <a:t>Agrupa participantes que presentan patrones similares en sus 32 determinantes.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Analiza las relaciones entre los 32 determinantes para identificar factores subyacentes.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1475">
                <a:tc>
                  <a:txBody>
                    <a:bodyPr/>
                    <a:lstStyle/>
                    <a:p>
                      <a:pPr indent="0" lvl="0" marL="0" rtl="0" algn="ctr">
                        <a:spcBef>
                          <a:spcPts val="0"/>
                        </a:spcBef>
                        <a:spcAft>
                          <a:spcPts val="0"/>
                        </a:spcAft>
                        <a:buNone/>
                      </a:pPr>
                      <a:r>
                        <a:rPr lang="en">
                          <a:latin typeface="Nunito"/>
                          <a:ea typeface="Nunito"/>
                          <a:cs typeface="Nunito"/>
                          <a:sym typeface="Nunito"/>
                        </a:rPr>
                        <a:t>Cada participante se asigna a un cluster.</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Cada factor se caracteriza por sus cargas factoriales, que indican su relación con los determinantes.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1475">
                <a:tc>
                  <a:txBody>
                    <a:bodyPr/>
                    <a:lstStyle/>
                    <a:p>
                      <a:pPr indent="0" lvl="0" marL="0" rtl="0" algn="ctr">
                        <a:spcBef>
                          <a:spcPts val="0"/>
                        </a:spcBef>
                        <a:spcAft>
                          <a:spcPts val="0"/>
                        </a:spcAft>
                        <a:buNone/>
                      </a:pPr>
                      <a:r>
                        <a:rPr b="1" lang="en">
                          <a:latin typeface="Nunito"/>
                          <a:ea typeface="Nunito"/>
                          <a:cs typeface="Nunito"/>
                          <a:sym typeface="Nunito"/>
                        </a:rPr>
                        <a:t>Resultado principal:</a:t>
                      </a:r>
                      <a:r>
                        <a:rPr lang="en">
                          <a:latin typeface="Nunito"/>
                          <a:ea typeface="Nunito"/>
                          <a:cs typeface="Nunito"/>
                          <a:sym typeface="Nunito"/>
                        </a:rPr>
                        <a:t> clusters y centroides que describen el perfil medio de cada grupo.</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Nunito"/>
                          <a:ea typeface="Nunito"/>
                          <a:cs typeface="Nunito"/>
                          <a:sym typeface="Nunito"/>
                        </a:rPr>
                        <a:t>Resultado principal:</a:t>
                      </a:r>
                      <a:r>
                        <a:rPr lang="en">
                          <a:latin typeface="Nunito"/>
                          <a:ea typeface="Nunito"/>
                          <a:cs typeface="Nunito"/>
                          <a:sym typeface="Nunito"/>
                        </a:rPr>
                        <a:t> factores y cargas factoriales que permiten identificar patrones comunes entre determinantes.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68" name="Google Shape;568;g412c17598e8_0_194"/>
          <p:cNvSpPr txBox="1"/>
          <p:nvPr/>
        </p:nvSpPr>
        <p:spPr>
          <a:xfrm>
            <a:off x="534775" y="4261500"/>
            <a:ext cx="837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Nunito"/>
                <a:ea typeface="Nunito"/>
                <a:cs typeface="Nunito"/>
                <a:sym typeface="Nunito"/>
              </a:rPr>
              <a:t>Objetivo común:</a:t>
            </a:r>
            <a:r>
              <a:rPr lang="en">
                <a:latin typeface="Nunito"/>
                <a:ea typeface="Nunito"/>
                <a:cs typeface="Nunito"/>
                <a:sym typeface="Nunito"/>
              </a:rPr>
              <a:t> </a:t>
            </a:r>
            <a:r>
              <a:rPr lang="en">
                <a:latin typeface="Nunito"/>
                <a:ea typeface="Nunito"/>
                <a:cs typeface="Nunito"/>
                <a:sym typeface="Nunito"/>
              </a:rPr>
              <a:t>identificar estructuras a partir de los 32 determinantes y utilizarlas posteriormente para construir firmas comparables que puedan evaluarse mediante Greedy.</a:t>
            </a:r>
            <a:endParaRPr>
              <a:latin typeface="Nunito"/>
              <a:ea typeface="Nunito"/>
              <a:cs typeface="Nunito"/>
              <a:sym typeface="Nuni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412c17598e8_0_202"/>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K-means: metodología y configuración del análisis</a:t>
            </a:r>
            <a:endParaRPr/>
          </a:p>
          <a:p>
            <a:pPr indent="0" lvl="0" marL="0" rtl="0" algn="l">
              <a:lnSpc>
                <a:spcPct val="100000"/>
              </a:lnSpc>
              <a:spcBef>
                <a:spcPts val="0"/>
              </a:spcBef>
              <a:spcAft>
                <a:spcPts val="0"/>
              </a:spcAft>
              <a:buSzPts val="2500"/>
              <a:buNone/>
            </a:pPr>
            <a:r>
              <a:rPr b="1" lang="en" sz="1100">
                <a:solidFill>
                  <a:srgbClr val="000000"/>
                </a:solidFill>
                <a:latin typeface="Arial"/>
                <a:ea typeface="Arial"/>
                <a:cs typeface="Arial"/>
                <a:sym typeface="Arial"/>
              </a:rPr>
              <a:t>Script:</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06_kmeans.R</a:t>
            </a:r>
            <a:endParaRPr/>
          </a:p>
        </p:txBody>
      </p:sp>
      <p:sp>
        <p:nvSpPr>
          <p:cNvPr id="574" name="Google Shape;574;g412c17598e8_0_2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75" name="Google Shape;575;g412c17598e8_0_202"/>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576" name="Google Shape;576;g412c17598e8_0_202"/>
          <p:cNvSpPr txBox="1"/>
          <p:nvPr/>
        </p:nvSpPr>
        <p:spPr>
          <a:xfrm>
            <a:off x="410350" y="1812025"/>
            <a:ext cx="3132300" cy="2956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
                <a:latin typeface="Nunito"/>
                <a:ea typeface="Nunito"/>
                <a:cs typeface="Nunito"/>
                <a:sym typeface="Nunito"/>
              </a:rPr>
              <a:t>Proceso</a:t>
            </a:r>
            <a:endParaRPr b="1">
              <a:latin typeface="Nunito"/>
              <a:ea typeface="Nunito"/>
              <a:cs typeface="Nunito"/>
              <a:sym typeface="Nunito"/>
            </a:endParaRPr>
          </a:p>
          <a:p>
            <a:pPr indent="0" lvl="0" marL="0" rtl="0" algn="ctr">
              <a:spcBef>
                <a:spcPts val="1200"/>
              </a:spcBef>
              <a:spcAft>
                <a:spcPts val="0"/>
              </a:spcAft>
              <a:buNone/>
            </a:pPr>
            <a:r>
              <a:rPr lang="en">
                <a:latin typeface="Nunito"/>
                <a:ea typeface="Nunito"/>
                <a:cs typeface="Nunito"/>
                <a:sym typeface="Nunito"/>
              </a:rPr>
              <a:t>Matrices del script 05</a:t>
            </a:r>
            <a:endParaRPr>
              <a:latin typeface="Nunito"/>
              <a:ea typeface="Nunito"/>
              <a:cs typeface="Nunito"/>
              <a:sym typeface="Nunito"/>
            </a:endParaRPr>
          </a:p>
          <a:p>
            <a:pPr indent="0" lvl="0" marL="0" rtl="0" algn="ctr">
              <a:spcBef>
                <a:spcPts val="0"/>
              </a:spcBef>
              <a:spcAft>
                <a:spcPts val="0"/>
              </a:spcAft>
              <a:buNone/>
            </a:pPr>
            <a:r>
              <a:rPr lang="en">
                <a:latin typeface="Nunito"/>
                <a:ea typeface="Nunito"/>
                <a:cs typeface="Nunito"/>
                <a:sym typeface="Nunito"/>
              </a:rPr>
              <a:t>RAW · POS · EXT · Z_ABS</a:t>
            </a:r>
            <a:endParaRPr>
              <a:latin typeface="Nunito"/>
              <a:ea typeface="Nunito"/>
              <a:cs typeface="Nunito"/>
              <a:sym typeface="Nunito"/>
            </a:endParaRPr>
          </a:p>
          <a:p>
            <a:pPr indent="0" lvl="0" marL="0" rtl="0" algn="ctr">
              <a:spcBef>
                <a:spcPts val="0"/>
              </a:spcBef>
              <a:spcAft>
                <a:spcPts val="0"/>
              </a:spcAft>
              <a:buNone/>
            </a:pPr>
            <a:r>
              <a:rPr lang="en">
                <a:latin typeface="Nunito"/>
                <a:ea typeface="Nunito"/>
                <a:cs typeface="Nunito"/>
                <a:sym typeface="Nunito"/>
              </a:rPr>
              <a:t>          +</a:t>
            </a:r>
            <a:endParaRPr>
              <a:latin typeface="Nunito"/>
              <a:ea typeface="Nunito"/>
              <a:cs typeface="Nunito"/>
              <a:sym typeface="Nunito"/>
            </a:endParaRPr>
          </a:p>
          <a:p>
            <a:pPr indent="0" lvl="0" marL="0" rtl="0" algn="ctr">
              <a:spcBef>
                <a:spcPts val="0"/>
              </a:spcBef>
              <a:spcAft>
                <a:spcPts val="0"/>
              </a:spcAft>
              <a:buNone/>
            </a:pPr>
            <a:r>
              <a:rPr lang="en">
                <a:latin typeface="Nunito"/>
                <a:ea typeface="Nunito"/>
                <a:cs typeface="Nunito"/>
                <a:sym typeface="Nunito"/>
              </a:rPr>
              <a:t>Índices bootstrap del script 04_2f</a:t>
            </a:r>
            <a:endParaRPr>
              <a:latin typeface="Nunito"/>
              <a:ea typeface="Nunito"/>
              <a:cs typeface="Nunito"/>
              <a:sym typeface="Nunito"/>
            </a:endParaRPr>
          </a:p>
          <a:p>
            <a:pPr indent="0" lvl="0" marL="0" rtl="0" algn="ctr">
              <a:spcBef>
                <a:spcPts val="0"/>
              </a:spcBef>
              <a:spcAft>
                <a:spcPts val="0"/>
              </a:spcAft>
              <a:buNone/>
            </a:pPr>
            <a:r>
              <a:rPr lang="en">
                <a:latin typeface="Nunito"/>
                <a:ea typeface="Nunito"/>
                <a:cs typeface="Nunito"/>
                <a:sym typeface="Nunito"/>
              </a:rPr>
              <a:t>          ↓</a:t>
            </a:r>
            <a:endParaRPr>
              <a:latin typeface="Nunito"/>
              <a:ea typeface="Nunito"/>
              <a:cs typeface="Nunito"/>
              <a:sym typeface="Nunito"/>
            </a:endParaRPr>
          </a:p>
          <a:p>
            <a:pPr indent="0" lvl="0" marL="0" rtl="0" algn="ctr">
              <a:spcBef>
                <a:spcPts val="0"/>
              </a:spcBef>
              <a:spcAft>
                <a:spcPts val="0"/>
              </a:spcAft>
              <a:buNone/>
            </a:pPr>
            <a:r>
              <a:rPr lang="en">
                <a:latin typeface="Nunito"/>
                <a:ea typeface="Nunito"/>
                <a:cs typeface="Nunito"/>
                <a:sym typeface="Nunito"/>
              </a:rPr>
              <a:t>Selección de participantes para cada réplica</a:t>
            </a:r>
            <a:endParaRPr>
              <a:latin typeface="Nunito"/>
              <a:ea typeface="Nunito"/>
              <a:cs typeface="Nunito"/>
              <a:sym typeface="Nunito"/>
            </a:endParaRPr>
          </a:p>
          <a:p>
            <a:pPr indent="0" lvl="0" marL="0" rtl="0" algn="ctr">
              <a:spcBef>
                <a:spcPts val="0"/>
              </a:spcBef>
              <a:spcAft>
                <a:spcPts val="0"/>
              </a:spcAft>
              <a:buNone/>
            </a:pPr>
            <a:r>
              <a:rPr lang="en">
                <a:latin typeface="Nunito"/>
                <a:ea typeface="Nunito"/>
                <a:cs typeface="Nunito"/>
                <a:sym typeface="Nunito"/>
              </a:rPr>
              <a:t>          ↓</a:t>
            </a:r>
            <a:endParaRPr>
              <a:latin typeface="Nunito"/>
              <a:ea typeface="Nunito"/>
              <a:cs typeface="Nunito"/>
              <a:sym typeface="Nunito"/>
            </a:endParaRPr>
          </a:p>
          <a:p>
            <a:pPr indent="0" lvl="0" marL="0" rtl="0" algn="ctr">
              <a:spcBef>
                <a:spcPts val="0"/>
              </a:spcBef>
              <a:spcAft>
                <a:spcPts val="0"/>
              </a:spcAft>
              <a:buNone/>
            </a:pPr>
            <a:r>
              <a:rPr lang="en">
                <a:latin typeface="Nunito"/>
                <a:ea typeface="Nunito"/>
                <a:cs typeface="Nunito"/>
                <a:sym typeface="Nunito"/>
              </a:rPr>
              <a:t>K-means con distintos valores de K</a:t>
            </a:r>
            <a:endParaRPr>
              <a:latin typeface="Nunito"/>
              <a:ea typeface="Nunito"/>
              <a:cs typeface="Nunito"/>
              <a:sym typeface="Nunito"/>
            </a:endParaRPr>
          </a:p>
          <a:p>
            <a:pPr indent="0" lvl="0" marL="0" rtl="0" algn="ctr">
              <a:spcBef>
                <a:spcPts val="0"/>
              </a:spcBef>
              <a:spcAft>
                <a:spcPts val="0"/>
              </a:spcAft>
              <a:buNone/>
            </a:pPr>
            <a:r>
              <a:rPr lang="en">
                <a:latin typeface="Nunito"/>
                <a:ea typeface="Nunito"/>
                <a:cs typeface="Nunito"/>
                <a:sym typeface="Nunito"/>
              </a:rPr>
              <a:t>          ↓</a:t>
            </a:r>
            <a:endParaRPr>
              <a:latin typeface="Nunito"/>
              <a:ea typeface="Nunito"/>
              <a:cs typeface="Nunito"/>
              <a:sym typeface="Nunito"/>
            </a:endParaRPr>
          </a:p>
          <a:p>
            <a:pPr indent="0" lvl="0" marL="0" rtl="0" algn="ctr">
              <a:lnSpc>
                <a:spcPct val="115000"/>
              </a:lnSpc>
              <a:spcBef>
                <a:spcPts val="0"/>
              </a:spcBef>
              <a:spcAft>
                <a:spcPts val="0"/>
              </a:spcAft>
              <a:buNone/>
            </a:pPr>
            <a:r>
              <a:rPr lang="en">
                <a:latin typeface="Nunito"/>
                <a:ea typeface="Nunito"/>
                <a:cs typeface="Nunito"/>
                <a:sym typeface="Nunito"/>
              </a:rPr>
              <a:t>Clusters y centroides</a:t>
            </a:r>
            <a:endParaRPr>
              <a:latin typeface="Nunito"/>
              <a:ea typeface="Nunito"/>
              <a:cs typeface="Nunito"/>
              <a:sym typeface="Nunito"/>
            </a:endParaRPr>
          </a:p>
        </p:txBody>
      </p:sp>
      <p:graphicFrame>
        <p:nvGraphicFramePr>
          <p:cNvPr id="577" name="Google Shape;577;g412c17598e8_0_202"/>
          <p:cNvGraphicFramePr/>
          <p:nvPr/>
        </p:nvGraphicFramePr>
        <p:xfrm>
          <a:off x="4557575" y="1897975"/>
          <a:ext cx="3000000" cy="3000000"/>
        </p:xfrm>
        <a:graphic>
          <a:graphicData uri="http://schemas.openxmlformats.org/drawingml/2006/table">
            <a:tbl>
              <a:tblPr>
                <a:noFill/>
                <a:tableStyleId>{E52E4BE9-5879-4D65-9C92-106A106E9681}</a:tableStyleId>
              </a:tblPr>
              <a:tblGrid>
                <a:gridCol w="2746875"/>
                <a:gridCol w="937950"/>
              </a:tblGrid>
              <a:tr h="20002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Parámetro</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Valor</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200025">
                <a:tc>
                  <a:txBody>
                    <a:bodyPr/>
                    <a:lstStyle/>
                    <a:p>
                      <a:pPr indent="0" lvl="0" marL="0" rtl="0" algn="l">
                        <a:spcBef>
                          <a:spcPts val="0"/>
                        </a:spcBef>
                        <a:spcAft>
                          <a:spcPts val="0"/>
                        </a:spcAft>
                        <a:buNone/>
                      </a:pPr>
                      <a:r>
                        <a:rPr lang="en">
                          <a:latin typeface="Nunito"/>
                          <a:ea typeface="Nunito"/>
                          <a:cs typeface="Nunito"/>
                          <a:sym typeface="Nunito"/>
                        </a:rPr>
                        <a:t>Muestras de análisis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7</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a:latin typeface="Nunito"/>
                          <a:ea typeface="Nunito"/>
                          <a:cs typeface="Nunito"/>
                          <a:sym typeface="Nunito"/>
                        </a:rPr>
                        <a:t>Matrices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4</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a:latin typeface="Nunito"/>
                          <a:ea typeface="Nunito"/>
                          <a:cs typeface="Nunito"/>
                          <a:sym typeface="Nunito"/>
                        </a:rPr>
                        <a:t>Réplicas bootstrap</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1.000</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a:latin typeface="Nunito"/>
                          <a:ea typeface="Nunito"/>
                          <a:cs typeface="Nunito"/>
                          <a:sym typeface="Nunito"/>
                        </a:rPr>
                        <a:t>Número de clusters (K)</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De 2 a 8</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a:latin typeface="Nunito"/>
                          <a:ea typeface="Nunito"/>
                          <a:cs typeface="Nunito"/>
                          <a:sym typeface="Nunito"/>
                        </a:rPr>
                        <a:t>Inicializaciones (</a:t>
                      </a:r>
                      <a:r>
                        <a:rPr lang="en">
                          <a:solidFill>
                            <a:srgbClr val="188038"/>
                          </a:solidFill>
                          <a:latin typeface="Nunito"/>
                          <a:ea typeface="Nunito"/>
                          <a:cs typeface="Nunito"/>
                          <a:sym typeface="Nunito"/>
                        </a:rPr>
                        <a:t>nstart</a:t>
                      </a:r>
                      <a:r>
                        <a:rPr lang="en">
                          <a:latin typeface="Nunito"/>
                          <a:ea typeface="Nunito"/>
                          <a:cs typeface="Nunito"/>
                          <a:sym typeface="Nunito"/>
                        </a:rPr>
                        <a:t>)</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25</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a:latin typeface="Nunito"/>
                          <a:ea typeface="Nunito"/>
                          <a:cs typeface="Nunito"/>
                          <a:sym typeface="Nunito"/>
                        </a:rPr>
                        <a:t>Máximo de iteraciones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100</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412c17598e8_0_214"/>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K-means: evaluación de las soluciones</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06_kmeans.R</a:t>
            </a:r>
            <a:endParaRPr>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t/>
            </a:r>
            <a:endParaRPr/>
          </a:p>
        </p:txBody>
      </p:sp>
      <p:sp>
        <p:nvSpPr>
          <p:cNvPr id="583" name="Google Shape;583;g412c17598e8_0_2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84" name="Google Shape;584;g412c17598e8_0_214"/>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585" name="Google Shape;585;g412c17598e8_0_214"/>
          <p:cNvGraphicFramePr/>
          <p:nvPr/>
        </p:nvGraphicFramePr>
        <p:xfrm>
          <a:off x="256388" y="1277663"/>
          <a:ext cx="3000000" cy="3000000"/>
        </p:xfrm>
        <a:graphic>
          <a:graphicData uri="http://schemas.openxmlformats.org/drawingml/2006/table">
            <a:tbl>
              <a:tblPr>
                <a:noFill/>
                <a:tableStyleId>{E52E4BE9-5879-4D65-9C92-106A106E9681}</a:tableStyleId>
              </a:tblPr>
              <a:tblGrid>
                <a:gridCol w="1666875"/>
                <a:gridCol w="3552825"/>
                <a:gridCol w="3533775"/>
              </a:tblGrid>
              <a:tr h="20002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Métrica</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¿Qué mide?</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¿Cómo se interpreta?</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200025">
                <a:tc>
                  <a:txBody>
                    <a:bodyPr/>
                    <a:lstStyle/>
                    <a:p>
                      <a:pPr indent="0" lvl="0" marL="0" rtl="0" algn="l">
                        <a:spcBef>
                          <a:spcPts val="0"/>
                        </a:spcBef>
                        <a:spcAft>
                          <a:spcPts val="0"/>
                        </a:spcAft>
                        <a:buNone/>
                      </a:pPr>
                      <a:r>
                        <a:rPr b="1" lang="en">
                          <a:solidFill>
                            <a:srgbClr val="188038"/>
                          </a:solidFill>
                          <a:latin typeface="Nunito"/>
                          <a:ea typeface="Nunito"/>
                          <a:cs typeface="Nunito"/>
                          <a:sym typeface="Nunito"/>
                        </a:rPr>
                        <a:t>tot_withinss</a:t>
                      </a:r>
                      <a:endParaRPr b="1">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Dispersión de los participantes dentro de sus clusters.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Cuanto menor, más compactos son los grupos.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1475">
                <a:tc>
                  <a:txBody>
                    <a:bodyPr/>
                    <a:lstStyle/>
                    <a:p>
                      <a:pPr indent="0" lvl="0" marL="0" rtl="0" algn="l">
                        <a:spcBef>
                          <a:spcPts val="0"/>
                        </a:spcBef>
                        <a:spcAft>
                          <a:spcPts val="0"/>
                        </a:spcAft>
                        <a:buNone/>
                      </a:pPr>
                      <a:r>
                        <a:rPr b="1" lang="en">
                          <a:solidFill>
                            <a:srgbClr val="188038"/>
                          </a:solidFill>
                          <a:latin typeface="Nunito"/>
                          <a:ea typeface="Nunito"/>
                          <a:cs typeface="Nunito"/>
                          <a:sym typeface="Nunito"/>
                        </a:rPr>
                        <a:t>betweenss</a:t>
                      </a:r>
                      <a:endParaRPr b="1">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Variabilidad asociada a las diferencias entre clusters.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Indica cuánto se diferencian los grupos respecto al conjunto.</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1475">
                <a:tc>
                  <a:txBody>
                    <a:bodyPr/>
                    <a:lstStyle/>
                    <a:p>
                      <a:pPr indent="0" lvl="0" marL="0" rtl="0" algn="l">
                        <a:spcBef>
                          <a:spcPts val="0"/>
                        </a:spcBef>
                        <a:spcAft>
                          <a:spcPts val="0"/>
                        </a:spcAft>
                        <a:buNone/>
                      </a:pPr>
                      <a:r>
                        <a:rPr b="1" lang="en">
                          <a:solidFill>
                            <a:srgbClr val="188038"/>
                          </a:solidFill>
                          <a:latin typeface="Nunito"/>
                          <a:ea typeface="Nunito"/>
                          <a:cs typeface="Nunito"/>
                          <a:sym typeface="Nunito"/>
                        </a:rPr>
                        <a:t>between_over_total</a:t>
                      </a:r>
                      <a:endParaRPr b="1">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Proporción de variabilidad entre clusters: </a:t>
                      </a:r>
                      <a:r>
                        <a:rPr lang="en">
                          <a:solidFill>
                            <a:srgbClr val="188038"/>
                          </a:solidFill>
                          <a:latin typeface="Nunito"/>
                          <a:ea typeface="Nunito"/>
                          <a:cs typeface="Nunito"/>
                          <a:sym typeface="Nunito"/>
                        </a:rPr>
                        <a:t>betweenss / totss</a:t>
                      </a:r>
                      <a:r>
                        <a:rPr lang="en">
                          <a:latin typeface="Nunito"/>
                          <a:ea typeface="Nunito"/>
                          <a:cs typeface="Nunito"/>
                          <a:sym typeface="Nunito"/>
                        </a:rPr>
                        <a:t>.</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Indica qué parte de la variabilidad total queda entre los grupos.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1475">
                <a:tc>
                  <a:txBody>
                    <a:bodyPr/>
                    <a:lstStyle/>
                    <a:p>
                      <a:pPr indent="0" lvl="0" marL="0" rtl="0" algn="l">
                        <a:spcBef>
                          <a:spcPts val="0"/>
                        </a:spcBef>
                        <a:spcAft>
                          <a:spcPts val="0"/>
                        </a:spcAft>
                        <a:buNone/>
                      </a:pPr>
                      <a:r>
                        <a:rPr b="1" lang="en">
                          <a:latin typeface="Nunito"/>
                          <a:ea typeface="Nunito"/>
                          <a:cs typeface="Nunito"/>
                          <a:sym typeface="Nunito"/>
                        </a:rPr>
                        <a:t>Distancia entre centroides</a:t>
                      </a:r>
                      <a:endParaRPr b="1">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Distancia euclídea entre los perfiles medios de los clusters.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Permite observar hasta qué punto están separados sus perfiles.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86" name="Google Shape;586;g412c17598e8_0_214"/>
          <p:cNvSpPr txBox="1"/>
          <p:nvPr/>
        </p:nvSpPr>
        <p:spPr>
          <a:xfrm>
            <a:off x="715038" y="4296050"/>
            <a:ext cx="77139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a:latin typeface="Nunito"/>
                <a:ea typeface="Nunito"/>
                <a:cs typeface="Nunito"/>
                <a:sym typeface="Nunito"/>
              </a:rPr>
              <a:t>Archivo principal de resultados: </a:t>
            </a:r>
            <a:r>
              <a:rPr lang="en">
                <a:solidFill>
                  <a:srgbClr val="188038"/>
                </a:solidFill>
                <a:latin typeface="Nunito"/>
                <a:ea typeface="Nunito"/>
                <a:cs typeface="Nunito"/>
                <a:sym typeface="Nunito"/>
              </a:rPr>
              <a:t>data/processed/06_kmeans_bootstrap/kmeans_metrics_summary_all_samples.csv</a:t>
            </a:r>
            <a:endParaRPr>
              <a:latin typeface="Nunito"/>
              <a:ea typeface="Nunito"/>
              <a:cs typeface="Nunito"/>
              <a:sym typeface="Nuni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412c17598e8_0_222"/>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K-means: comparación de los resultados</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Scripts:</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06_kmeans.R</a:t>
            </a:r>
            <a:r>
              <a:rPr lang="en" sz="1100">
                <a:solidFill>
                  <a:srgbClr val="000000"/>
                </a:solidFill>
                <a:latin typeface="Nunito"/>
                <a:ea typeface="Nunito"/>
                <a:cs typeface="Nunito"/>
                <a:sym typeface="Nunito"/>
              </a:rPr>
              <a:t> y </a:t>
            </a:r>
            <a:r>
              <a:rPr lang="en" sz="1100">
                <a:solidFill>
                  <a:srgbClr val="188038"/>
                </a:solidFill>
                <a:latin typeface="Roboto Mono"/>
                <a:ea typeface="Roboto Mono"/>
                <a:cs typeface="Roboto Mono"/>
                <a:sym typeface="Roboto Mono"/>
              </a:rPr>
              <a:t>09b_analysis_Dpooled</a:t>
            </a:r>
            <a:r>
              <a:rPr lang="en" sz="1100">
                <a:solidFill>
                  <a:srgbClr val="188038"/>
                </a:solidFill>
                <a:latin typeface="Nunito"/>
                <a:ea typeface="Nunito"/>
                <a:cs typeface="Nunito"/>
                <a:sym typeface="Nunito"/>
              </a:rPr>
              <a:t>.R</a:t>
            </a:r>
            <a:endParaRPr>
              <a:latin typeface="Nunito Medium"/>
              <a:ea typeface="Nunito Medium"/>
              <a:cs typeface="Nunito Medium"/>
              <a:sym typeface="Nunito Medium"/>
            </a:endParaRPr>
          </a:p>
        </p:txBody>
      </p:sp>
      <p:sp>
        <p:nvSpPr>
          <p:cNvPr id="592" name="Google Shape;592;g412c17598e8_0_2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93" name="Google Shape;593;g412c17598e8_0_222"/>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594" name="Google Shape;594;g412c17598e8_0_222" title="01_kmeans_between_over_total_COMPLETE.png"/>
          <p:cNvPicPr preferRelativeResize="0"/>
          <p:nvPr/>
        </p:nvPicPr>
        <p:blipFill>
          <a:blip r:embed="rId4">
            <a:alphaModFix/>
          </a:blip>
          <a:stretch>
            <a:fillRect/>
          </a:stretch>
        </p:blipFill>
        <p:spPr>
          <a:xfrm>
            <a:off x="789400" y="1230975"/>
            <a:ext cx="5880105" cy="374110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g412c17598e8_0_8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00" name="Google Shape;600;g412c17598e8_0_875"/>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601" name="Google Shape;601;g412c17598e8_0_875" title="Captura de pantalla 2026-09-21 a las 17.42.16.png"/>
          <p:cNvPicPr preferRelativeResize="0"/>
          <p:nvPr/>
        </p:nvPicPr>
        <p:blipFill rotWithShape="1">
          <a:blip r:embed="rId4">
            <a:alphaModFix/>
          </a:blip>
          <a:srcRect b="0" l="1710" r="0" t="0"/>
          <a:stretch/>
        </p:blipFill>
        <p:spPr>
          <a:xfrm>
            <a:off x="404000" y="287125"/>
            <a:ext cx="5141099" cy="4673774"/>
          </a:xfrm>
          <a:prstGeom prst="rect">
            <a:avLst/>
          </a:prstGeom>
          <a:noFill/>
          <a:ln>
            <a:noFill/>
          </a:ln>
        </p:spPr>
      </p:pic>
      <p:sp>
        <p:nvSpPr>
          <p:cNvPr id="602" name="Google Shape;602;g412c17598e8_0_875"/>
          <p:cNvSpPr txBox="1"/>
          <p:nvPr/>
        </p:nvSpPr>
        <p:spPr>
          <a:xfrm>
            <a:off x="5825050" y="889238"/>
            <a:ext cx="3000000" cy="16392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1200"/>
              </a:spcAft>
              <a:buNone/>
            </a:pPr>
            <a:r>
              <a:rPr lang="en">
                <a:latin typeface="Nunito"/>
                <a:ea typeface="Nunito"/>
                <a:cs typeface="Nunito"/>
                <a:sym typeface="Nunito"/>
              </a:rPr>
              <a:t>Cada columna representa un cluster y cada fila un determinante. Los colores muestran el valor medio de cada determinante en el centroide del cluster.</a:t>
            </a:r>
            <a:endParaRPr>
              <a:latin typeface="Nunito"/>
              <a:ea typeface="Nunito"/>
              <a:cs typeface="Nunito"/>
              <a:sym typeface="Nuni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412c17598e8_0_230"/>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EFA: metodología y configuración del análisis</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07_efa.R</a:t>
            </a:r>
            <a:endParaRPr>
              <a:latin typeface="Nunito Medium"/>
              <a:ea typeface="Nunito Medium"/>
              <a:cs typeface="Nunito Medium"/>
              <a:sym typeface="Nunito Medium"/>
            </a:endParaRPr>
          </a:p>
          <a:p>
            <a:pPr indent="0" lvl="0" marL="0" rtl="0" algn="l">
              <a:lnSpc>
                <a:spcPct val="100000"/>
              </a:lnSpc>
              <a:spcBef>
                <a:spcPts val="0"/>
              </a:spcBef>
              <a:spcAft>
                <a:spcPts val="0"/>
              </a:spcAft>
              <a:buSzPts val="2500"/>
              <a:buNone/>
            </a:pPr>
            <a:r>
              <a:t/>
            </a:r>
            <a:endParaRPr/>
          </a:p>
        </p:txBody>
      </p:sp>
      <p:sp>
        <p:nvSpPr>
          <p:cNvPr id="608" name="Google Shape;608;g412c17598e8_0_2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09" name="Google Shape;609;g412c17598e8_0_230"/>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610" name="Google Shape;610;g412c17598e8_0_230"/>
          <p:cNvSpPr txBox="1"/>
          <p:nvPr/>
        </p:nvSpPr>
        <p:spPr>
          <a:xfrm>
            <a:off x="812425" y="1309925"/>
            <a:ext cx="2793900" cy="2970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 sz="1300">
                <a:latin typeface="Nunito"/>
                <a:ea typeface="Nunito"/>
                <a:cs typeface="Nunito"/>
                <a:sym typeface="Nunito"/>
              </a:rPr>
              <a:t>Proceso</a:t>
            </a:r>
            <a:endParaRPr b="1" sz="1300">
              <a:latin typeface="Nunito"/>
              <a:ea typeface="Nunito"/>
              <a:cs typeface="Nunito"/>
              <a:sym typeface="Nunito"/>
            </a:endParaRPr>
          </a:p>
          <a:p>
            <a:pPr indent="0" lvl="0" marL="0" rtl="0" algn="ctr">
              <a:spcBef>
                <a:spcPts val="1200"/>
              </a:spcBef>
              <a:spcAft>
                <a:spcPts val="0"/>
              </a:spcAft>
              <a:buNone/>
            </a:pPr>
            <a:r>
              <a:rPr lang="en" sz="1300">
                <a:latin typeface="Nunito"/>
                <a:ea typeface="Nunito"/>
                <a:cs typeface="Nunito"/>
                <a:sym typeface="Nunito"/>
              </a:rPr>
              <a:t>Matrices del script 05</a:t>
            </a:r>
            <a:endParaRPr sz="1300">
              <a:latin typeface="Nunito"/>
              <a:ea typeface="Nunito"/>
              <a:cs typeface="Nunito"/>
              <a:sym typeface="Nunito"/>
            </a:endParaRPr>
          </a:p>
          <a:p>
            <a:pPr indent="0" lvl="0" marL="0" rtl="0" algn="ctr">
              <a:spcBef>
                <a:spcPts val="0"/>
              </a:spcBef>
              <a:spcAft>
                <a:spcPts val="0"/>
              </a:spcAft>
              <a:buNone/>
            </a:pPr>
            <a:r>
              <a:rPr lang="en" sz="1300">
                <a:latin typeface="Nunito"/>
                <a:ea typeface="Nunito"/>
                <a:cs typeface="Nunito"/>
                <a:sym typeface="Nunito"/>
              </a:rPr>
              <a:t>RAW · POS · EXT · Z_ABS</a:t>
            </a:r>
            <a:endParaRPr sz="1300">
              <a:latin typeface="Nunito"/>
              <a:ea typeface="Nunito"/>
              <a:cs typeface="Nunito"/>
              <a:sym typeface="Nunito"/>
            </a:endParaRPr>
          </a:p>
          <a:p>
            <a:pPr indent="0" lvl="0" marL="0" rtl="0" algn="ctr">
              <a:spcBef>
                <a:spcPts val="0"/>
              </a:spcBef>
              <a:spcAft>
                <a:spcPts val="0"/>
              </a:spcAft>
              <a:buNone/>
            </a:pPr>
            <a:r>
              <a:rPr lang="en" sz="1300">
                <a:latin typeface="Nunito"/>
                <a:ea typeface="Nunito"/>
                <a:cs typeface="Nunito"/>
                <a:sym typeface="Nunito"/>
              </a:rPr>
              <a:t>          +</a:t>
            </a:r>
            <a:endParaRPr sz="1300">
              <a:latin typeface="Nunito"/>
              <a:ea typeface="Nunito"/>
              <a:cs typeface="Nunito"/>
              <a:sym typeface="Nunito"/>
            </a:endParaRPr>
          </a:p>
          <a:p>
            <a:pPr indent="0" lvl="0" marL="0" rtl="0" algn="ctr">
              <a:spcBef>
                <a:spcPts val="0"/>
              </a:spcBef>
              <a:spcAft>
                <a:spcPts val="0"/>
              </a:spcAft>
              <a:buNone/>
            </a:pPr>
            <a:r>
              <a:rPr lang="en" sz="1300">
                <a:latin typeface="Nunito"/>
                <a:ea typeface="Nunito"/>
                <a:cs typeface="Nunito"/>
                <a:sym typeface="Nunito"/>
              </a:rPr>
              <a:t>Índices bootstrap del script 04_2f</a:t>
            </a:r>
            <a:endParaRPr sz="1300">
              <a:latin typeface="Nunito"/>
              <a:ea typeface="Nunito"/>
              <a:cs typeface="Nunito"/>
              <a:sym typeface="Nunito"/>
            </a:endParaRPr>
          </a:p>
          <a:p>
            <a:pPr indent="0" lvl="0" marL="0" rtl="0" algn="ctr">
              <a:spcBef>
                <a:spcPts val="0"/>
              </a:spcBef>
              <a:spcAft>
                <a:spcPts val="0"/>
              </a:spcAft>
              <a:buNone/>
            </a:pPr>
            <a:r>
              <a:rPr lang="en" sz="1300">
                <a:latin typeface="Nunito"/>
                <a:ea typeface="Nunito"/>
                <a:cs typeface="Nunito"/>
                <a:sym typeface="Nunito"/>
              </a:rPr>
              <a:t>          ↓</a:t>
            </a:r>
            <a:endParaRPr sz="1300">
              <a:latin typeface="Nunito"/>
              <a:ea typeface="Nunito"/>
              <a:cs typeface="Nunito"/>
              <a:sym typeface="Nunito"/>
            </a:endParaRPr>
          </a:p>
          <a:p>
            <a:pPr indent="0" lvl="0" marL="0" rtl="0" algn="ctr">
              <a:spcBef>
                <a:spcPts val="0"/>
              </a:spcBef>
              <a:spcAft>
                <a:spcPts val="0"/>
              </a:spcAft>
              <a:buNone/>
            </a:pPr>
            <a:r>
              <a:rPr lang="en" sz="1300">
                <a:latin typeface="Nunito"/>
                <a:ea typeface="Nunito"/>
                <a:cs typeface="Nunito"/>
                <a:sym typeface="Nunito"/>
              </a:rPr>
              <a:t>Selección de participantes para cada réplica</a:t>
            </a:r>
            <a:endParaRPr sz="1300">
              <a:latin typeface="Nunito"/>
              <a:ea typeface="Nunito"/>
              <a:cs typeface="Nunito"/>
              <a:sym typeface="Nunito"/>
            </a:endParaRPr>
          </a:p>
          <a:p>
            <a:pPr indent="0" lvl="0" marL="0" rtl="0" algn="ctr">
              <a:spcBef>
                <a:spcPts val="0"/>
              </a:spcBef>
              <a:spcAft>
                <a:spcPts val="0"/>
              </a:spcAft>
              <a:buNone/>
            </a:pPr>
            <a:r>
              <a:rPr lang="en" sz="1300">
                <a:latin typeface="Nunito"/>
                <a:ea typeface="Nunito"/>
                <a:cs typeface="Nunito"/>
                <a:sym typeface="Nunito"/>
              </a:rPr>
              <a:t>          ↓</a:t>
            </a:r>
            <a:endParaRPr sz="1300">
              <a:latin typeface="Nunito"/>
              <a:ea typeface="Nunito"/>
              <a:cs typeface="Nunito"/>
              <a:sym typeface="Nunito"/>
            </a:endParaRPr>
          </a:p>
          <a:p>
            <a:pPr indent="0" lvl="0" marL="0" rtl="0" algn="ctr">
              <a:spcBef>
                <a:spcPts val="0"/>
              </a:spcBef>
              <a:spcAft>
                <a:spcPts val="0"/>
              </a:spcAft>
              <a:buNone/>
            </a:pPr>
            <a:r>
              <a:rPr lang="en" sz="1300">
                <a:latin typeface="Nunito"/>
                <a:ea typeface="Nunito"/>
                <a:cs typeface="Nunito"/>
                <a:sym typeface="Nunito"/>
              </a:rPr>
              <a:t>EFA con distintos números de factores</a:t>
            </a:r>
            <a:endParaRPr sz="1300">
              <a:latin typeface="Nunito"/>
              <a:ea typeface="Nunito"/>
              <a:cs typeface="Nunito"/>
              <a:sym typeface="Nunito"/>
            </a:endParaRPr>
          </a:p>
          <a:p>
            <a:pPr indent="0" lvl="0" marL="0" rtl="0" algn="ctr">
              <a:spcBef>
                <a:spcPts val="0"/>
              </a:spcBef>
              <a:spcAft>
                <a:spcPts val="0"/>
              </a:spcAft>
              <a:buNone/>
            </a:pPr>
            <a:r>
              <a:rPr lang="en" sz="1300">
                <a:latin typeface="Nunito"/>
                <a:ea typeface="Nunito"/>
                <a:cs typeface="Nunito"/>
                <a:sym typeface="Nunito"/>
              </a:rPr>
              <a:t>          ↓</a:t>
            </a:r>
            <a:endParaRPr sz="1300">
              <a:latin typeface="Nunito"/>
              <a:ea typeface="Nunito"/>
              <a:cs typeface="Nunito"/>
              <a:sym typeface="Nunito"/>
            </a:endParaRPr>
          </a:p>
          <a:p>
            <a:pPr indent="0" lvl="0" marL="0" rtl="0" algn="ctr">
              <a:lnSpc>
                <a:spcPct val="115000"/>
              </a:lnSpc>
              <a:spcBef>
                <a:spcPts val="0"/>
              </a:spcBef>
              <a:spcAft>
                <a:spcPts val="0"/>
              </a:spcAft>
              <a:buNone/>
            </a:pPr>
            <a:r>
              <a:rPr lang="en" sz="1300">
                <a:latin typeface="Nunito"/>
                <a:ea typeface="Nunito"/>
                <a:cs typeface="Nunito"/>
                <a:sym typeface="Nunito"/>
              </a:rPr>
              <a:t>Factores y cargas factoriales</a:t>
            </a:r>
            <a:endParaRPr sz="1300">
              <a:latin typeface="Nunito"/>
              <a:ea typeface="Nunito"/>
              <a:cs typeface="Nunito"/>
              <a:sym typeface="Nunito"/>
            </a:endParaRPr>
          </a:p>
        </p:txBody>
      </p:sp>
      <p:graphicFrame>
        <p:nvGraphicFramePr>
          <p:cNvPr id="611" name="Google Shape;611;g412c17598e8_0_230"/>
          <p:cNvGraphicFramePr/>
          <p:nvPr/>
        </p:nvGraphicFramePr>
        <p:xfrm>
          <a:off x="4259200" y="1310450"/>
          <a:ext cx="3000000" cy="3000000"/>
        </p:xfrm>
        <a:graphic>
          <a:graphicData uri="http://schemas.openxmlformats.org/drawingml/2006/table">
            <a:tbl>
              <a:tblPr>
                <a:noFill/>
                <a:tableStyleId>{E52E4BE9-5879-4D65-9C92-106A106E9681}</a:tableStyleId>
              </a:tblPr>
              <a:tblGrid>
                <a:gridCol w="2638425"/>
                <a:gridCol w="1531325"/>
              </a:tblGrid>
              <a:tr h="411450">
                <a:tc>
                  <a:txBody>
                    <a:bodyPr/>
                    <a:lstStyle/>
                    <a:p>
                      <a:pPr indent="0" lvl="0" marL="0" rtl="0" algn="ctr">
                        <a:lnSpc>
                          <a:spcPct val="115000"/>
                        </a:lnSpc>
                        <a:spcBef>
                          <a:spcPts val="0"/>
                        </a:spcBef>
                        <a:spcAft>
                          <a:spcPts val="0"/>
                        </a:spcAft>
                        <a:buNone/>
                      </a:pPr>
                      <a:r>
                        <a:rPr b="1" lang="en" sz="1300">
                          <a:solidFill>
                            <a:schemeClr val="lt1"/>
                          </a:solidFill>
                          <a:latin typeface="Nunito"/>
                          <a:ea typeface="Nunito"/>
                          <a:cs typeface="Nunito"/>
                          <a:sym typeface="Nunito"/>
                        </a:rPr>
                        <a:t>Parámetro</a:t>
                      </a:r>
                      <a:endParaRPr b="1" sz="1300">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sz="1300">
                          <a:solidFill>
                            <a:schemeClr val="lt1"/>
                          </a:solidFill>
                          <a:latin typeface="Nunito"/>
                          <a:ea typeface="Nunito"/>
                          <a:cs typeface="Nunito"/>
                          <a:sym typeface="Nunito"/>
                        </a:rPr>
                        <a:t>Valor</a:t>
                      </a:r>
                      <a:endParaRPr b="1" sz="1300">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411450">
                <a:tc>
                  <a:txBody>
                    <a:bodyPr/>
                    <a:lstStyle/>
                    <a:p>
                      <a:pPr indent="0" lvl="0" marL="0" rtl="0" algn="l">
                        <a:spcBef>
                          <a:spcPts val="0"/>
                        </a:spcBef>
                        <a:spcAft>
                          <a:spcPts val="0"/>
                        </a:spcAft>
                        <a:buNone/>
                      </a:pPr>
                      <a:r>
                        <a:rPr lang="en" sz="1300">
                          <a:latin typeface="Nunito"/>
                          <a:ea typeface="Nunito"/>
                          <a:cs typeface="Nunito"/>
                          <a:sym typeface="Nunito"/>
                        </a:rPr>
                        <a:t>Variables analizadas</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Nunito"/>
                          <a:ea typeface="Nunito"/>
                          <a:cs typeface="Nunito"/>
                          <a:sym typeface="Nunito"/>
                        </a:rPr>
                        <a:t>32 determinantes</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1450">
                <a:tc>
                  <a:txBody>
                    <a:bodyPr/>
                    <a:lstStyle/>
                    <a:p>
                      <a:pPr indent="0" lvl="0" marL="0" rtl="0" algn="l">
                        <a:spcBef>
                          <a:spcPts val="0"/>
                        </a:spcBef>
                        <a:spcAft>
                          <a:spcPts val="0"/>
                        </a:spcAft>
                        <a:buNone/>
                      </a:pPr>
                      <a:r>
                        <a:rPr lang="en" sz="1300">
                          <a:latin typeface="Nunito"/>
                          <a:ea typeface="Nunito"/>
                          <a:cs typeface="Nunito"/>
                          <a:sym typeface="Nunito"/>
                        </a:rPr>
                        <a:t>Muestras de análisis</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Nunito"/>
                          <a:ea typeface="Nunito"/>
                          <a:cs typeface="Nunito"/>
                          <a:sym typeface="Nunito"/>
                        </a:rPr>
                        <a:t>7</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1450">
                <a:tc>
                  <a:txBody>
                    <a:bodyPr/>
                    <a:lstStyle/>
                    <a:p>
                      <a:pPr indent="0" lvl="0" marL="0" rtl="0" algn="l">
                        <a:spcBef>
                          <a:spcPts val="0"/>
                        </a:spcBef>
                        <a:spcAft>
                          <a:spcPts val="0"/>
                        </a:spcAft>
                        <a:buNone/>
                      </a:pPr>
                      <a:r>
                        <a:rPr lang="en" sz="1300">
                          <a:latin typeface="Nunito"/>
                          <a:ea typeface="Nunito"/>
                          <a:cs typeface="Nunito"/>
                          <a:sym typeface="Nunito"/>
                        </a:rPr>
                        <a:t>Matrices</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Nunito"/>
                          <a:ea typeface="Nunito"/>
                          <a:cs typeface="Nunito"/>
                          <a:sym typeface="Nunito"/>
                        </a:rPr>
                        <a:t>4</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1450">
                <a:tc>
                  <a:txBody>
                    <a:bodyPr/>
                    <a:lstStyle/>
                    <a:p>
                      <a:pPr indent="0" lvl="0" marL="0" rtl="0" algn="l">
                        <a:spcBef>
                          <a:spcPts val="0"/>
                        </a:spcBef>
                        <a:spcAft>
                          <a:spcPts val="0"/>
                        </a:spcAft>
                        <a:buNone/>
                      </a:pPr>
                      <a:r>
                        <a:rPr lang="en" sz="1300">
                          <a:latin typeface="Nunito"/>
                          <a:ea typeface="Nunito"/>
                          <a:cs typeface="Nunito"/>
                          <a:sym typeface="Nunito"/>
                        </a:rPr>
                        <a:t>Número de factores explorado</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Nunito"/>
                          <a:ea typeface="Nunito"/>
                          <a:cs typeface="Nunito"/>
                          <a:sym typeface="Nunito"/>
                        </a:rPr>
                        <a:t>De 2 a 8</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1450">
                <a:tc>
                  <a:txBody>
                    <a:bodyPr/>
                    <a:lstStyle/>
                    <a:p>
                      <a:pPr indent="0" lvl="0" marL="0" rtl="0" algn="l">
                        <a:spcBef>
                          <a:spcPts val="0"/>
                        </a:spcBef>
                        <a:spcAft>
                          <a:spcPts val="0"/>
                        </a:spcAft>
                        <a:buNone/>
                      </a:pPr>
                      <a:r>
                        <a:rPr lang="en" sz="1300">
                          <a:latin typeface="Nunito"/>
                          <a:ea typeface="Nunito"/>
                          <a:cs typeface="Nunito"/>
                          <a:sym typeface="Nunito"/>
                        </a:rPr>
                        <a:t>Método de extracción</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Nunito"/>
                          <a:ea typeface="Nunito"/>
                          <a:cs typeface="Nunito"/>
                          <a:sym typeface="Nunito"/>
                        </a:rPr>
                        <a:t>MINRES</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1450">
                <a:tc>
                  <a:txBody>
                    <a:bodyPr/>
                    <a:lstStyle/>
                    <a:p>
                      <a:pPr indent="0" lvl="0" marL="0" rtl="0" algn="l">
                        <a:spcBef>
                          <a:spcPts val="0"/>
                        </a:spcBef>
                        <a:spcAft>
                          <a:spcPts val="0"/>
                        </a:spcAft>
                        <a:buNone/>
                      </a:pPr>
                      <a:r>
                        <a:rPr lang="en" sz="1300">
                          <a:latin typeface="Nunito"/>
                          <a:ea typeface="Nunito"/>
                          <a:cs typeface="Nunito"/>
                          <a:sym typeface="Nunito"/>
                        </a:rPr>
                        <a:t>Rotación</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Nunito"/>
                          <a:ea typeface="Nunito"/>
                          <a:cs typeface="Nunito"/>
                          <a:sym typeface="Nunito"/>
                        </a:rPr>
                        <a:t>OBLIMIN</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1450">
                <a:tc>
                  <a:txBody>
                    <a:bodyPr/>
                    <a:lstStyle/>
                    <a:p>
                      <a:pPr indent="0" lvl="0" marL="0" rtl="0" algn="l">
                        <a:spcBef>
                          <a:spcPts val="0"/>
                        </a:spcBef>
                        <a:spcAft>
                          <a:spcPts val="0"/>
                        </a:spcAft>
                        <a:buNone/>
                      </a:pPr>
                      <a:r>
                        <a:rPr lang="en" sz="1300">
                          <a:latin typeface="Nunito"/>
                          <a:ea typeface="Nunito"/>
                          <a:cs typeface="Nunito"/>
                          <a:sym typeface="Nunito"/>
                        </a:rPr>
                        <a:t>Réplicas utilizadas </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Nunito"/>
                          <a:ea typeface="Nunito"/>
                          <a:cs typeface="Nunito"/>
                          <a:sym typeface="Nunito"/>
                        </a:rPr>
                        <a:t>100</a:t>
                      </a:r>
                      <a:endParaRPr sz="13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612" name="Google Shape;612;g412c17598e8_0_230"/>
          <p:cNvSpPr txBox="1"/>
          <p:nvPr/>
        </p:nvSpPr>
        <p:spPr>
          <a:xfrm>
            <a:off x="494850" y="4561300"/>
            <a:ext cx="79341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a:latin typeface="Nunito"/>
                <a:ea typeface="Nunito"/>
                <a:cs typeface="Nunito"/>
                <a:sym typeface="Nunito"/>
              </a:rPr>
              <a:t>El resultado es una matriz de cargas factoriales: para cada factor, nos indica qué determinantes están asociados a él y con qué intensidad.</a:t>
            </a:r>
            <a:endParaRPr b="1">
              <a:latin typeface="Nunito"/>
              <a:ea typeface="Nunito"/>
              <a:cs typeface="Nunito"/>
              <a:sym typeface="Nuni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412c17598e8_0_238"/>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EFA: interpretación y evaluación de los factores</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07_efa.R</a:t>
            </a:r>
            <a:endParaRPr>
              <a:latin typeface="Nunito Medium"/>
              <a:ea typeface="Nunito Medium"/>
              <a:cs typeface="Nunito Medium"/>
              <a:sym typeface="Nunito Medium"/>
            </a:endParaRPr>
          </a:p>
        </p:txBody>
      </p:sp>
      <p:sp>
        <p:nvSpPr>
          <p:cNvPr id="618" name="Google Shape;618;g412c17598e8_0_2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19" name="Google Shape;619;g412c17598e8_0_238"/>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620" name="Google Shape;620;g412c17598e8_0_238"/>
          <p:cNvGraphicFramePr/>
          <p:nvPr/>
        </p:nvGraphicFramePr>
        <p:xfrm>
          <a:off x="715050" y="2146325"/>
          <a:ext cx="3000000" cy="3000000"/>
        </p:xfrm>
        <a:graphic>
          <a:graphicData uri="http://schemas.openxmlformats.org/drawingml/2006/table">
            <a:tbl>
              <a:tblPr>
                <a:noFill/>
                <a:tableStyleId>{E52E4BE9-5879-4D65-9C92-106A106E9681}</a:tableStyleId>
              </a:tblPr>
              <a:tblGrid>
                <a:gridCol w="2001025"/>
                <a:gridCol w="756800"/>
                <a:gridCol w="756800"/>
              </a:tblGrid>
              <a:tr h="200025">
                <a:tc>
                  <a:txBody>
                    <a:bodyPr/>
                    <a:lstStyle/>
                    <a:p>
                      <a:pPr indent="0" lvl="0" marL="0" rtl="0" algn="ctr">
                        <a:lnSpc>
                          <a:spcPct val="115000"/>
                        </a:lnSpc>
                        <a:spcBef>
                          <a:spcPts val="0"/>
                        </a:spcBef>
                        <a:spcAft>
                          <a:spcPts val="0"/>
                        </a:spcAft>
                        <a:buNone/>
                      </a:pPr>
                      <a:r>
                        <a:rPr b="1" lang="en">
                          <a:latin typeface="Nunito"/>
                          <a:ea typeface="Nunito"/>
                          <a:cs typeface="Nunito"/>
                          <a:sym typeface="Nunito"/>
                        </a:rPr>
                        <a:t>Determinante</a:t>
                      </a:r>
                      <a:endParaRPr b="1">
                        <a:latin typeface="Nunito"/>
                        <a:ea typeface="Nunito"/>
                        <a:cs typeface="Nunito"/>
                        <a:sym typeface="Nunito"/>
                      </a:endParaRPr>
                    </a:p>
                  </a:txBody>
                  <a:tcPr marT="91425" marB="91425" marR="91425" marL="91425"/>
                </a:tc>
                <a:tc>
                  <a:txBody>
                    <a:bodyPr/>
                    <a:lstStyle/>
                    <a:p>
                      <a:pPr indent="0" lvl="0" marL="0" rtl="0" algn="ctr">
                        <a:lnSpc>
                          <a:spcPct val="115000"/>
                        </a:lnSpc>
                        <a:spcBef>
                          <a:spcPts val="0"/>
                        </a:spcBef>
                        <a:spcAft>
                          <a:spcPts val="0"/>
                        </a:spcAft>
                        <a:buNone/>
                      </a:pPr>
                      <a:r>
                        <a:rPr b="1" lang="en">
                          <a:latin typeface="Nunito"/>
                          <a:ea typeface="Nunito"/>
                          <a:cs typeface="Nunito"/>
                          <a:sym typeface="Nunito"/>
                        </a:rPr>
                        <a:t>Factor 1</a:t>
                      </a:r>
                      <a:endParaRPr b="1">
                        <a:latin typeface="Nunito"/>
                        <a:ea typeface="Nunito"/>
                        <a:cs typeface="Nunito"/>
                        <a:sym typeface="Nunito"/>
                      </a:endParaRPr>
                    </a:p>
                  </a:txBody>
                  <a:tcPr marT="91425" marB="91425" marR="91425" marL="91425"/>
                </a:tc>
                <a:tc>
                  <a:txBody>
                    <a:bodyPr/>
                    <a:lstStyle/>
                    <a:p>
                      <a:pPr indent="0" lvl="0" marL="0" rtl="0" algn="ctr">
                        <a:lnSpc>
                          <a:spcPct val="115000"/>
                        </a:lnSpc>
                        <a:spcBef>
                          <a:spcPts val="0"/>
                        </a:spcBef>
                        <a:spcAft>
                          <a:spcPts val="0"/>
                        </a:spcAft>
                        <a:buNone/>
                      </a:pPr>
                      <a:r>
                        <a:rPr b="1" lang="en">
                          <a:latin typeface="Nunito"/>
                          <a:ea typeface="Nunito"/>
                          <a:cs typeface="Nunito"/>
                          <a:sym typeface="Nunito"/>
                        </a:rPr>
                        <a:t>Factor 2</a:t>
                      </a:r>
                      <a:endParaRPr b="1">
                        <a:latin typeface="Nunito"/>
                        <a:ea typeface="Nunito"/>
                        <a:cs typeface="Nunito"/>
                        <a:sym typeface="Nunito"/>
                      </a:endParaRPr>
                    </a:p>
                  </a:txBody>
                  <a:tcPr marT="91425" marB="91425" marR="91425" marL="91425"/>
                </a:tc>
              </a:tr>
              <a:tr h="200025">
                <a:tc>
                  <a:txBody>
                    <a:bodyPr/>
                    <a:lstStyle/>
                    <a:p>
                      <a:pPr indent="0" lvl="0" marL="0" rtl="0" algn="l">
                        <a:spcBef>
                          <a:spcPts val="0"/>
                        </a:spcBef>
                        <a:spcAft>
                          <a:spcPts val="0"/>
                        </a:spcAft>
                        <a:buNone/>
                      </a:pPr>
                      <a:r>
                        <a:rPr lang="en">
                          <a:latin typeface="Nunito"/>
                          <a:ea typeface="Nunito"/>
                          <a:cs typeface="Nunito"/>
                          <a:sym typeface="Nunito"/>
                        </a:rPr>
                        <a:t>Ahorro económico</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n">
                          <a:latin typeface="Nunito"/>
                          <a:ea typeface="Nunito"/>
                          <a:cs typeface="Nunito"/>
                          <a:sym typeface="Nunito"/>
                        </a:rPr>
                        <a:t>0,90</a:t>
                      </a:r>
                      <a:endParaRPr b="1">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0,10</a:t>
                      </a:r>
                      <a:endParaRPr>
                        <a:latin typeface="Nunito"/>
                        <a:ea typeface="Nunito"/>
                        <a:cs typeface="Nunito"/>
                        <a:sym typeface="Nunito"/>
                      </a:endParaRPr>
                    </a:p>
                  </a:txBody>
                  <a:tcPr marT="91425" marB="91425" marR="91425" marL="91425"/>
                </a:tc>
              </a:tr>
              <a:tr h="200025">
                <a:tc>
                  <a:txBody>
                    <a:bodyPr/>
                    <a:lstStyle/>
                    <a:p>
                      <a:pPr indent="0" lvl="0" marL="0" rtl="0" algn="l">
                        <a:spcBef>
                          <a:spcPts val="0"/>
                        </a:spcBef>
                        <a:spcAft>
                          <a:spcPts val="0"/>
                        </a:spcAft>
                        <a:buNone/>
                      </a:pPr>
                      <a:r>
                        <a:rPr lang="en">
                          <a:latin typeface="Nunito"/>
                          <a:ea typeface="Nunito"/>
                          <a:cs typeface="Nunito"/>
                          <a:sym typeface="Nunito"/>
                        </a:rPr>
                        <a:t>Eficiencia de costes</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n">
                          <a:latin typeface="Nunito"/>
                          <a:ea typeface="Nunito"/>
                          <a:cs typeface="Nunito"/>
                          <a:sym typeface="Nunito"/>
                        </a:rPr>
                        <a:t>0,85</a:t>
                      </a:r>
                      <a:endParaRPr b="1">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0,15</a:t>
                      </a:r>
                      <a:endParaRPr>
                        <a:latin typeface="Nunito"/>
                        <a:ea typeface="Nunito"/>
                        <a:cs typeface="Nunito"/>
                        <a:sym typeface="Nunito"/>
                      </a:endParaRPr>
                    </a:p>
                  </a:txBody>
                  <a:tcPr marT="91425" marB="91425" marR="91425" marL="91425"/>
                </a:tc>
              </a:tr>
              <a:tr h="200025">
                <a:tc>
                  <a:txBody>
                    <a:bodyPr/>
                    <a:lstStyle/>
                    <a:p>
                      <a:pPr indent="0" lvl="0" marL="0" rtl="0" algn="l">
                        <a:spcBef>
                          <a:spcPts val="0"/>
                        </a:spcBef>
                        <a:spcAft>
                          <a:spcPts val="0"/>
                        </a:spcAft>
                        <a:buNone/>
                      </a:pPr>
                      <a:r>
                        <a:rPr lang="en">
                          <a:latin typeface="Nunito"/>
                          <a:ea typeface="Nunito"/>
                          <a:cs typeface="Nunito"/>
                          <a:sym typeface="Nunito"/>
                        </a:rPr>
                        <a:t>Protección del clima</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0,10</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n">
                          <a:latin typeface="Nunito"/>
                          <a:ea typeface="Nunito"/>
                          <a:cs typeface="Nunito"/>
                          <a:sym typeface="Nunito"/>
                        </a:rPr>
                        <a:t>0,90</a:t>
                      </a:r>
                      <a:endParaRPr b="1">
                        <a:latin typeface="Nunito"/>
                        <a:ea typeface="Nunito"/>
                        <a:cs typeface="Nunito"/>
                        <a:sym typeface="Nunito"/>
                      </a:endParaRPr>
                    </a:p>
                  </a:txBody>
                  <a:tcPr marT="91425" marB="91425" marR="91425" marL="91425"/>
                </a:tc>
              </a:tr>
              <a:tr h="200025">
                <a:tc>
                  <a:txBody>
                    <a:bodyPr/>
                    <a:lstStyle/>
                    <a:p>
                      <a:pPr indent="0" lvl="0" marL="0" rtl="0" algn="l">
                        <a:spcBef>
                          <a:spcPts val="0"/>
                        </a:spcBef>
                        <a:spcAft>
                          <a:spcPts val="0"/>
                        </a:spcAft>
                        <a:buNone/>
                      </a:pPr>
                      <a:r>
                        <a:rPr lang="en">
                          <a:latin typeface="Nunito"/>
                          <a:ea typeface="Nunito"/>
                          <a:cs typeface="Nunito"/>
                          <a:sym typeface="Nunito"/>
                        </a:rPr>
                        <a:t>Preocupación ambiental</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0,15</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n">
                          <a:latin typeface="Nunito"/>
                          <a:ea typeface="Nunito"/>
                          <a:cs typeface="Nunito"/>
                          <a:sym typeface="Nunito"/>
                        </a:rPr>
                        <a:t>0,85</a:t>
                      </a:r>
                      <a:endParaRPr b="1">
                        <a:latin typeface="Nunito"/>
                        <a:ea typeface="Nunito"/>
                        <a:cs typeface="Nunito"/>
                        <a:sym typeface="Nunito"/>
                      </a:endParaRPr>
                    </a:p>
                  </a:txBody>
                  <a:tcPr marT="91425" marB="91425" marR="91425" marL="91425"/>
                </a:tc>
              </a:tr>
            </a:tbl>
          </a:graphicData>
        </a:graphic>
      </p:graphicFrame>
      <p:sp>
        <p:nvSpPr>
          <p:cNvPr id="621" name="Google Shape;621;g412c17598e8_0_238"/>
          <p:cNvSpPr txBox="1"/>
          <p:nvPr/>
        </p:nvSpPr>
        <p:spPr>
          <a:xfrm>
            <a:off x="5668425" y="154605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a:latin typeface="Nunito"/>
                <a:ea typeface="Nunito"/>
                <a:cs typeface="Nunito"/>
                <a:sym typeface="Nunito"/>
              </a:rPr>
              <a:t>¿Cómo evaluamos las soluciones?</a:t>
            </a:r>
            <a:endParaRPr b="1">
              <a:latin typeface="Nunito"/>
              <a:ea typeface="Nunito"/>
              <a:cs typeface="Nunito"/>
              <a:sym typeface="Nunito"/>
            </a:endParaRPr>
          </a:p>
          <a:p>
            <a:pPr indent="-317500" lvl="0" marL="457200" rtl="0" algn="l">
              <a:lnSpc>
                <a:spcPct val="115000"/>
              </a:lnSpc>
              <a:spcBef>
                <a:spcPts val="1200"/>
              </a:spcBef>
              <a:spcAft>
                <a:spcPts val="0"/>
              </a:spcAft>
              <a:buSzPts val="1400"/>
              <a:buChar char="●"/>
            </a:pPr>
            <a:r>
              <a:rPr b="1" lang="en">
                <a:latin typeface="Nunito"/>
                <a:ea typeface="Nunito"/>
                <a:cs typeface="Nunito"/>
                <a:sym typeface="Nunito"/>
              </a:rPr>
              <a:t>RMSR y RMSEA:</a:t>
            </a:r>
            <a:r>
              <a:rPr lang="en">
                <a:latin typeface="Nunito"/>
                <a:ea typeface="Nunito"/>
                <a:cs typeface="Nunito"/>
                <a:sym typeface="Nunito"/>
              </a:rPr>
              <a:t> error de ajuste del modelo.</a:t>
            </a:r>
            <a:endParaRPr>
              <a:latin typeface="Nunito"/>
              <a:ea typeface="Nunito"/>
              <a:cs typeface="Nunito"/>
              <a:sym typeface="Nunito"/>
            </a:endParaRPr>
          </a:p>
          <a:p>
            <a:pPr indent="-317500" lvl="0" marL="457200" rtl="0" algn="l">
              <a:lnSpc>
                <a:spcPct val="115000"/>
              </a:lnSpc>
              <a:spcBef>
                <a:spcPts val="0"/>
              </a:spcBef>
              <a:spcAft>
                <a:spcPts val="0"/>
              </a:spcAft>
              <a:buSzPts val="1400"/>
              <a:buChar char="●"/>
            </a:pPr>
            <a:r>
              <a:rPr b="1" lang="en">
                <a:latin typeface="Nunito"/>
                <a:ea typeface="Nunito"/>
                <a:cs typeface="Nunito"/>
                <a:sym typeface="Nunito"/>
              </a:rPr>
              <a:t>TLI:</a:t>
            </a:r>
            <a:r>
              <a:rPr lang="en">
                <a:latin typeface="Nunito"/>
                <a:ea typeface="Nunito"/>
                <a:cs typeface="Nunito"/>
                <a:sym typeface="Nunito"/>
              </a:rPr>
              <a:t> ajuste respecto a un modelo de referencia.</a:t>
            </a:r>
            <a:endParaRPr>
              <a:latin typeface="Nunito"/>
              <a:ea typeface="Nunito"/>
              <a:cs typeface="Nunito"/>
              <a:sym typeface="Nunito"/>
            </a:endParaRPr>
          </a:p>
          <a:p>
            <a:pPr indent="-317500" lvl="0" marL="457200" rtl="0" algn="l">
              <a:lnSpc>
                <a:spcPct val="115000"/>
              </a:lnSpc>
              <a:spcBef>
                <a:spcPts val="0"/>
              </a:spcBef>
              <a:spcAft>
                <a:spcPts val="0"/>
              </a:spcAft>
              <a:buSzPts val="1400"/>
              <a:buChar char="●"/>
            </a:pPr>
            <a:r>
              <a:rPr b="1" lang="en">
                <a:latin typeface="Nunito"/>
                <a:ea typeface="Nunito"/>
                <a:cs typeface="Nunito"/>
                <a:sym typeface="Nunito"/>
              </a:rPr>
              <a:t>BIC:</a:t>
            </a:r>
            <a:r>
              <a:rPr lang="en">
                <a:latin typeface="Nunito"/>
                <a:ea typeface="Nunito"/>
                <a:cs typeface="Nunito"/>
                <a:sym typeface="Nunito"/>
              </a:rPr>
              <a:t> comparación de soluciones con distinta complejidad.</a:t>
            </a:r>
            <a:endParaRPr>
              <a:latin typeface="Nunito"/>
              <a:ea typeface="Nunito"/>
              <a:cs typeface="Nunito"/>
              <a:sym typeface="Nunito"/>
            </a:endParaRPr>
          </a:p>
          <a:p>
            <a:pPr indent="0" lvl="0" marL="0" rtl="0" algn="l">
              <a:lnSpc>
                <a:spcPct val="115000"/>
              </a:lnSpc>
              <a:spcBef>
                <a:spcPts val="1200"/>
              </a:spcBef>
              <a:spcAft>
                <a:spcPts val="1200"/>
              </a:spcAft>
              <a:buNone/>
            </a:pPr>
            <a:r>
              <a:rPr b="1" lang="en">
                <a:latin typeface="Nunito"/>
                <a:ea typeface="Nunito"/>
                <a:cs typeface="Nunito"/>
                <a:sym typeface="Nunito"/>
              </a:rPr>
              <a:t>Archivo de resultados:</a:t>
            </a:r>
            <a:br>
              <a:rPr b="1" lang="en">
                <a:latin typeface="Nunito"/>
                <a:ea typeface="Nunito"/>
                <a:cs typeface="Nunito"/>
                <a:sym typeface="Nunito"/>
              </a:rPr>
            </a:br>
            <a:r>
              <a:rPr lang="en">
                <a:solidFill>
                  <a:srgbClr val="188038"/>
                </a:solidFill>
                <a:latin typeface="Nunito"/>
                <a:ea typeface="Nunito"/>
                <a:cs typeface="Nunito"/>
                <a:sym typeface="Nunito"/>
              </a:rPr>
              <a:t>07_efa_bootstrap/02_efa_metrics_summary.csv</a:t>
            </a:r>
            <a:endParaRPr>
              <a:solidFill>
                <a:srgbClr val="188038"/>
              </a:solidFill>
              <a:latin typeface="Nunito"/>
              <a:ea typeface="Nunito"/>
              <a:cs typeface="Nunito"/>
              <a:sym typeface="Nunito"/>
            </a:endParaRPr>
          </a:p>
        </p:txBody>
      </p:sp>
      <p:sp>
        <p:nvSpPr>
          <p:cNvPr id="622" name="Google Shape;622;g412c17598e8_0_238"/>
          <p:cNvSpPr txBox="1"/>
          <p:nvPr/>
        </p:nvSpPr>
        <p:spPr>
          <a:xfrm>
            <a:off x="758075" y="1385675"/>
            <a:ext cx="3000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a:latin typeface="Nunito"/>
                <a:ea typeface="Nunito"/>
                <a:cs typeface="Nunito"/>
                <a:sym typeface="Nunito"/>
              </a:rPr>
              <a:t>¿Cómo interpretamos las cargas factoriales?</a:t>
            </a:r>
            <a:endParaRPr>
              <a:latin typeface="Nunito"/>
              <a:ea typeface="Nunito"/>
              <a:cs typeface="Nunito"/>
              <a:sym typeface="Nuni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412c17598e8_0_246"/>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EFA: selección de determinantes y estabilidad</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07_efa.R</a:t>
            </a:r>
            <a:endParaRPr>
              <a:latin typeface="Nunito Medium"/>
              <a:ea typeface="Nunito Medium"/>
              <a:cs typeface="Nunito Medium"/>
              <a:sym typeface="Nunito Medium"/>
            </a:endParaRPr>
          </a:p>
        </p:txBody>
      </p:sp>
      <p:sp>
        <p:nvSpPr>
          <p:cNvPr id="628" name="Google Shape;628;g412c17598e8_0_2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29" name="Google Shape;629;g412c17598e8_0_246"/>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630" name="Google Shape;630;g412c17598e8_0_246"/>
          <p:cNvSpPr txBox="1"/>
          <p:nvPr/>
        </p:nvSpPr>
        <p:spPr>
          <a:xfrm>
            <a:off x="581250" y="1349650"/>
            <a:ext cx="7981500" cy="3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latin typeface="Nunito"/>
                <a:ea typeface="Nunito"/>
                <a:cs typeface="Nunito"/>
                <a:sym typeface="Nunito"/>
              </a:rPr>
              <a:t>Cómo identificamos los determinantes relevantes?</a:t>
            </a:r>
            <a:endParaRPr b="1">
              <a:latin typeface="Nunito"/>
              <a:ea typeface="Nunito"/>
              <a:cs typeface="Nunito"/>
              <a:sym typeface="Nunito"/>
            </a:endParaRPr>
          </a:p>
          <a:p>
            <a:pPr indent="-317500" lvl="0" marL="457200" rtl="0" algn="l">
              <a:lnSpc>
                <a:spcPct val="115000"/>
              </a:lnSpc>
              <a:spcBef>
                <a:spcPts val="1200"/>
              </a:spcBef>
              <a:spcAft>
                <a:spcPts val="0"/>
              </a:spcAft>
              <a:buSzPts val="1400"/>
              <a:buAutoNum type="arabicPeriod"/>
            </a:pPr>
            <a:r>
              <a:rPr lang="en">
                <a:latin typeface="Nunito"/>
                <a:ea typeface="Nunito"/>
                <a:cs typeface="Nunito"/>
                <a:sym typeface="Nunito"/>
              </a:rPr>
              <a:t>Para cada determinante, calculamos su </a:t>
            </a:r>
            <a:r>
              <a:rPr b="1" lang="en">
                <a:latin typeface="Nunito"/>
                <a:ea typeface="Nunito"/>
                <a:cs typeface="Nunito"/>
                <a:sym typeface="Nunito"/>
              </a:rPr>
              <a:t>mayor carga factorial en valor absoluto</a:t>
            </a:r>
            <a:r>
              <a:rPr lang="en">
                <a:latin typeface="Nunito"/>
                <a:ea typeface="Nunito"/>
                <a:cs typeface="Nunito"/>
                <a:sym typeface="Nunito"/>
              </a:rPr>
              <a:t>.</a:t>
            </a:r>
            <a:endParaRPr>
              <a:latin typeface="Nunito"/>
              <a:ea typeface="Nunito"/>
              <a:cs typeface="Nunito"/>
              <a:sym typeface="Nunito"/>
            </a:endParaRPr>
          </a:p>
          <a:p>
            <a:pPr indent="-317500" lvl="0" marL="457200" rtl="0" algn="l">
              <a:lnSpc>
                <a:spcPct val="115000"/>
              </a:lnSpc>
              <a:spcBef>
                <a:spcPts val="0"/>
              </a:spcBef>
              <a:spcAft>
                <a:spcPts val="0"/>
              </a:spcAft>
              <a:buSzPts val="1400"/>
              <a:buFont typeface="Nunito"/>
              <a:buAutoNum type="arabicPeriod"/>
            </a:pPr>
            <a:r>
              <a:rPr lang="en">
                <a:latin typeface="Nunito"/>
                <a:ea typeface="Nunito"/>
                <a:cs typeface="Nunito"/>
                <a:sym typeface="Nunito"/>
              </a:rPr>
              <a:t>Ordenamos los 32 determinantes según ese valor.</a:t>
            </a:r>
            <a:endParaRPr>
              <a:latin typeface="Nunito"/>
              <a:ea typeface="Nunito"/>
              <a:cs typeface="Nunito"/>
              <a:sym typeface="Nunito"/>
            </a:endParaRPr>
          </a:p>
          <a:p>
            <a:pPr indent="-317500" lvl="0" marL="457200" rtl="0" algn="l">
              <a:lnSpc>
                <a:spcPct val="115000"/>
              </a:lnSpc>
              <a:spcBef>
                <a:spcPts val="0"/>
              </a:spcBef>
              <a:spcAft>
                <a:spcPts val="0"/>
              </a:spcAft>
              <a:buSzPts val="1400"/>
              <a:buAutoNum type="arabicPeriod"/>
            </a:pPr>
            <a:r>
              <a:rPr lang="en">
                <a:latin typeface="Nunito"/>
                <a:ea typeface="Nunito"/>
                <a:cs typeface="Nunito"/>
                <a:sym typeface="Nunito"/>
              </a:rPr>
              <a:t>Exploramos selecciones de los </a:t>
            </a:r>
            <a:r>
              <a:rPr b="1" lang="en">
                <a:latin typeface="Nunito"/>
                <a:ea typeface="Nunito"/>
                <a:cs typeface="Nunito"/>
                <a:sym typeface="Nunito"/>
              </a:rPr>
              <a:t>D determinantes más destacados</a:t>
            </a:r>
            <a:r>
              <a:rPr lang="en">
                <a:latin typeface="Nunito"/>
                <a:ea typeface="Nunito"/>
                <a:cs typeface="Nunito"/>
                <a:sym typeface="Nunito"/>
              </a:rPr>
              <a:t>, con </a:t>
            </a:r>
            <a:r>
              <a:rPr b="1" lang="en">
                <a:latin typeface="Nunito"/>
                <a:ea typeface="Nunito"/>
                <a:cs typeface="Nunito"/>
                <a:sym typeface="Nunito"/>
              </a:rPr>
              <a:t>D = 4–15</a:t>
            </a:r>
            <a:r>
              <a:rPr lang="en">
                <a:latin typeface="Nunito"/>
                <a:ea typeface="Nunito"/>
                <a:cs typeface="Nunito"/>
                <a:sym typeface="Nunito"/>
              </a:rPr>
              <a:t>.</a:t>
            </a:r>
            <a:endParaRPr>
              <a:latin typeface="Nunito"/>
              <a:ea typeface="Nunito"/>
              <a:cs typeface="Nunito"/>
              <a:sym typeface="Nunito"/>
            </a:endParaRPr>
          </a:p>
          <a:p>
            <a:pPr indent="0" lvl="0" marL="0" rtl="0" algn="l">
              <a:lnSpc>
                <a:spcPct val="115000"/>
              </a:lnSpc>
              <a:spcBef>
                <a:spcPts val="1200"/>
              </a:spcBef>
              <a:spcAft>
                <a:spcPts val="0"/>
              </a:spcAft>
              <a:buNone/>
            </a:pPr>
            <a:r>
              <a:rPr b="1" lang="en">
                <a:latin typeface="Nunito"/>
                <a:ea typeface="Nunito"/>
                <a:cs typeface="Nunito"/>
                <a:sym typeface="Nunito"/>
              </a:rPr>
              <a:t>¿Cómo comprobamos su estabilidad?</a:t>
            </a:r>
            <a:endParaRPr b="1">
              <a:latin typeface="Nunito"/>
              <a:ea typeface="Nunito"/>
              <a:cs typeface="Nunito"/>
              <a:sym typeface="Nunito"/>
            </a:endParaRPr>
          </a:p>
          <a:p>
            <a:pPr indent="0" lvl="0" marL="0" rtl="0" algn="l">
              <a:lnSpc>
                <a:spcPct val="115000"/>
              </a:lnSpc>
              <a:spcBef>
                <a:spcPts val="1200"/>
              </a:spcBef>
              <a:spcAft>
                <a:spcPts val="0"/>
              </a:spcAft>
              <a:buNone/>
            </a:pPr>
            <a:r>
              <a:rPr lang="en">
                <a:latin typeface="Nunito"/>
                <a:ea typeface="Nunito"/>
                <a:cs typeface="Nunito"/>
                <a:sym typeface="Nunito"/>
              </a:rPr>
              <a:t>Repetimos el análisis en las réplicas bootstrap y calculamos </a:t>
            </a:r>
            <a:r>
              <a:rPr b="1" lang="en">
                <a:latin typeface="Nunito"/>
                <a:ea typeface="Nunito"/>
                <a:cs typeface="Nunito"/>
                <a:sym typeface="Nunito"/>
              </a:rPr>
              <a:t>con qué frecuencia aparece cada determinante entre los D seleccionados</a:t>
            </a:r>
            <a:r>
              <a:rPr lang="en">
                <a:latin typeface="Nunito"/>
                <a:ea typeface="Nunito"/>
                <a:cs typeface="Nunito"/>
                <a:sym typeface="Nunito"/>
              </a:rPr>
              <a:t>.</a:t>
            </a:r>
            <a:endParaRPr>
              <a:latin typeface="Nunito"/>
              <a:ea typeface="Nunito"/>
              <a:cs typeface="Nunito"/>
              <a:sym typeface="Nunito"/>
            </a:endParaRPr>
          </a:p>
          <a:p>
            <a:pPr indent="0" lvl="0" marL="0" rtl="0" algn="l">
              <a:lnSpc>
                <a:spcPct val="115000"/>
              </a:lnSpc>
              <a:spcBef>
                <a:spcPts val="1200"/>
              </a:spcBef>
              <a:spcAft>
                <a:spcPts val="0"/>
              </a:spcAft>
              <a:buNone/>
            </a:pPr>
            <a:r>
              <a:rPr b="1" lang="en">
                <a:latin typeface="Nunito"/>
                <a:ea typeface="Nunito"/>
                <a:cs typeface="Nunito"/>
                <a:sym typeface="Nunito"/>
              </a:rPr>
              <a:t>Archivos de salida:</a:t>
            </a:r>
            <a:endParaRPr b="1">
              <a:latin typeface="Nunito"/>
              <a:ea typeface="Nunito"/>
              <a:cs typeface="Nunito"/>
              <a:sym typeface="Nunito"/>
            </a:endParaRPr>
          </a:p>
          <a:p>
            <a:pPr indent="0" lvl="0" marL="0" rtl="0" algn="l">
              <a:lnSpc>
                <a:spcPct val="115000"/>
              </a:lnSpc>
              <a:spcBef>
                <a:spcPts val="1200"/>
              </a:spcBef>
              <a:spcAft>
                <a:spcPts val="1200"/>
              </a:spcAft>
              <a:buNone/>
            </a:pPr>
            <a:r>
              <a:rPr lang="en">
                <a:solidFill>
                  <a:srgbClr val="188038"/>
                </a:solidFill>
                <a:latin typeface="Nunito"/>
                <a:ea typeface="Nunito"/>
                <a:cs typeface="Nunito"/>
                <a:sym typeface="Nunito"/>
              </a:rPr>
              <a:t>07_efa_bootstrap/05_efa_determinant_importance_summary.csv</a:t>
            </a:r>
            <a:br>
              <a:rPr lang="en">
                <a:solidFill>
                  <a:srgbClr val="188038"/>
                </a:solidFill>
                <a:latin typeface="Nunito"/>
                <a:ea typeface="Nunito"/>
                <a:cs typeface="Nunito"/>
                <a:sym typeface="Nunito"/>
              </a:rPr>
            </a:br>
            <a:r>
              <a:rPr lang="en">
                <a:solidFill>
                  <a:srgbClr val="188038"/>
                </a:solidFill>
                <a:latin typeface="Nunito"/>
                <a:ea typeface="Nunito"/>
                <a:cs typeface="Nunito"/>
                <a:sym typeface="Nunito"/>
              </a:rPr>
              <a:t>07_efa_bootstrap/08_efa_top_d_frequency.csv</a:t>
            </a:r>
            <a:endParaRPr b="1">
              <a:latin typeface="Nunito"/>
              <a:ea typeface="Nunito"/>
              <a:cs typeface="Nunito"/>
              <a:sym typeface="Nuni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412c17598e8_0_864"/>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EFA: ajuste según el número de factores</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Scripts:</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07_efa.R</a:t>
            </a:r>
            <a:r>
              <a:rPr lang="en" sz="1100">
                <a:solidFill>
                  <a:srgbClr val="000000"/>
                </a:solidFill>
                <a:latin typeface="Nunito"/>
                <a:ea typeface="Nunito"/>
                <a:cs typeface="Nunito"/>
                <a:sym typeface="Nunito"/>
              </a:rPr>
              <a:t> y </a:t>
            </a:r>
            <a:r>
              <a:rPr lang="en" sz="1100">
                <a:solidFill>
                  <a:srgbClr val="188038"/>
                </a:solidFill>
                <a:latin typeface="Roboto Mono"/>
                <a:ea typeface="Roboto Mono"/>
                <a:cs typeface="Roboto Mono"/>
                <a:sym typeface="Roboto Mono"/>
              </a:rPr>
              <a:t>09b_analysis_Dpooled</a:t>
            </a:r>
            <a:r>
              <a:rPr lang="en" sz="1100">
                <a:solidFill>
                  <a:srgbClr val="188038"/>
                </a:solidFill>
                <a:latin typeface="Nunito"/>
                <a:ea typeface="Nunito"/>
                <a:cs typeface="Nunito"/>
                <a:sym typeface="Nunito"/>
              </a:rPr>
              <a:t>.R</a:t>
            </a:r>
            <a:endParaRPr>
              <a:latin typeface="Nunito Medium"/>
              <a:ea typeface="Nunito Medium"/>
              <a:cs typeface="Nunito Medium"/>
              <a:sym typeface="Nunito Medium"/>
            </a:endParaRPr>
          </a:p>
        </p:txBody>
      </p:sp>
      <p:sp>
        <p:nvSpPr>
          <p:cNvPr id="636" name="Google Shape;636;g412c17598e8_0_86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37" name="Google Shape;637;g412c17598e8_0_864"/>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638" name="Google Shape;638;g412c17598e8_0_864" title="Captura de pantalla 2026-09-21 a las 17.36.31.png"/>
          <p:cNvPicPr preferRelativeResize="0"/>
          <p:nvPr/>
        </p:nvPicPr>
        <p:blipFill>
          <a:blip r:embed="rId4">
            <a:alphaModFix/>
          </a:blip>
          <a:stretch>
            <a:fillRect/>
          </a:stretch>
        </p:blipFill>
        <p:spPr>
          <a:xfrm>
            <a:off x="794588" y="1268950"/>
            <a:ext cx="5830876" cy="374109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412c17598e8_0_8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44" name="Google Shape;644;g412c17598e8_0_887"/>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645" name="Google Shape;645;g412c17598e8_0_887" title="Captura de pantalla 2026-09-21 a las 17.46.42.png"/>
          <p:cNvPicPr preferRelativeResize="0"/>
          <p:nvPr/>
        </p:nvPicPr>
        <p:blipFill>
          <a:blip r:embed="rId4">
            <a:alphaModFix/>
          </a:blip>
          <a:stretch>
            <a:fillRect/>
          </a:stretch>
        </p:blipFill>
        <p:spPr>
          <a:xfrm>
            <a:off x="407200" y="310400"/>
            <a:ext cx="4151102" cy="4535800"/>
          </a:xfrm>
          <a:prstGeom prst="rect">
            <a:avLst/>
          </a:prstGeom>
          <a:noFill/>
          <a:ln>
            <a:noFill/>
          </a:ln>
        </p:spPr>
      </p:pic>
      <p:sp>
        <p:nvSpPr>
          <p:cNvPr id="646" name="Google Shape;646;g412c17598e8_0_887"/>
          <p:cNvSpPr txBox="1"/>
          <p:nvPr/>
        </p:nvSpPr>
        <p:spPr>
          <a:xfrm>
            <a:off x="5651425" y="872750"/>
            <a:ext cx="30000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latin typeface="Nunito"/>
                <a:ea typeface="Nunito"/>
                <a:cs typeface="Nunito"/>
                <a:sym typeface="Nunito"/>
              </a:rPr>
              <a:t>Cada columna representa un factor y cada fila un determinante. Los colores indican la intensidad y el signo de las cargas factoriales.</a:t>
            </a:r>
            <a:endParaRPr>
              <a:latin typeface="Nunito"/>
              <a:ea typeface="Nunito"/>
              <a:cs typeface="Nunito"/>
              <a:sym typeface="Nuni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412c17598e8_0_720"/>
          <p:cNvSpPr txBox="1"/>
          <p:nvPr>
            <p:ph type="title"/>
          </p:nvPr>
        </p:nvSpPr>
        <p:spPr>
          <a:xfrm>
            <a:off x="498875" y="3328050"/>
            <a:ext cx="8472600" cy="125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4700"/>
              <a:t>Greedy y selección de prototipos</a:t>
            </a:r>
            <a:endParaRPr sz="4700"/>
          </a:p>
        </p:txBody>
      </p:sp>
      <p:sp>
        <p:nvSpPr>
          <p:cNvPr id="652" name="Google Shape;652;g412c17598e8_0_720"/>
          <p:cNvSpPr txBox="1"/>
          <p:nvPr>
            <p:ph idx="2" type="title"/>
          </p:nvPr>
        </p:nvSpPr>
        <p:spPr>
          <a:xfrm>
            <a:off x="715100" y="2074250"/>
            <a:ext cx="7708800" cy="125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06</a:t>
            </a:r>
            <a:endParaRPr/>
          </a:p>
        </p:txBody>
      </p:sp>
      <p:sp>
        <p:nvSpPr>
          <p:cNvPr id="653" name="Google Shape;653;g412c17598e8_0_7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54" name="Google Shape;654;g412c17598e8_0_720"/>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412c17598e8_0_259"/>
          <p:cNvSpPr txBox="1"/>
          <p:nvPr>
            <p:ph type="title"/>
          </p:nvPr>
        </p:nvSpPr>
        <p:spPr>
          <a:xfrm>
            <a:off x="858300" y="4703050"/>
            <a:ext cx="7427400" cy="39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500"/>
              <a:buNone/>
            </a:pPr>
            <a:r>
              <a:rPr lang="en" sz="1100">
                <a:solidFill>
                  <a:srgbClr val="000000"/>
                </a:solidFill>
                <a:latin typeface="Nunito"/>
                <a:ea typeface="Nunito"/>
                <a:cs typeface="Nunito"/>
                <a:sym typeface="Nunito"/>
              </a:rPr>
              <a:t>Construcción de firmas y selección de prototipos · Script </a:t>
            </a:r>
            <a:r>
              <a:rPr lang="en" sz="1100">
                <a:solidFill>
                  <a:srgbClr val="188038"/>
                </a:solidFill>
                <a:latin typeface="Roboto Mono"/>
                <a:ea typeface="Roboto Mono"/>
                <a:cs typeface="Roboto Mono"/>
                <a:sym typeface="Roboto Mono"/>
              </a:rPr>
              <a:t>08b_greedy_kmeans_efa_Dpooled</a:t>
            </a:r>
            <a:r>
              <a:rPr lang="en" sz="1100">
                <a:solidFill>
                  <a:srgbClr val="188038"/>
                </a:solidFill>
                <a:latin typeface="Nunito"/>
                <a:ea typeface="Nunito"/>
                <a:cs typeface="Nunito"/>
                <a:sym typeface="Nunito"/>
              </a:rPr>
              <a:t>.R</a:t>
            </a:r>
            <a:endParaRPr sz="1100">
              <a:latin typeface="Nunito Medium"/>
              <a:ea typeface="Nunito Medium"/>
              <a:cs typeface="Nunito Medium"/>
              <a:sym typeface="Nunito Medium"/>
            </a:endParaRPr>
          </a:p>
        </p:txBody>
      </p:sp>
      <p:sp>
        <p:nvSpPr>
          <p:cNvPr id="660" name="Google Shape;660;g412c17598e8_0_25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61" name="Google Shape;661;g412c17598e8_0_259"/>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662" name="Google Shape;662;g412c17598e8_0_259" title="Captura de pantalla 2026-09-21 a las 18.03.21.png"/>
          <p:cNvPicPr preferRelativeResize="0"/>
          <p:nvPr/>
        </p:nvPicPr>
        <p:blipFill>
          <a:blip r:embed="rId4">
            <a:alphaModFix/>
          </a:blip>
          <a:stretch>
            <a:fillRect/>
          </a:stretch>
        </p:blipFill>
        <p:spPr>
          <a:xfrm>
            <a:off x="1846000" y="497875"/>
            <a:ext cx="5588992" cy="425197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412c17598e8_0_275"/>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Greedy: selección de prototipos y distancia de Hamming</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Roboto Mono"/>
                <a:ea typeface="Roboto Mono"/>
                <a:cs typeface="Roboto Mono"/>
                <a:sym typeface="Roboto Mono"/>
              </a:rPr>
              <a:t>08b_greedy_kmeans_efa_Dpooled</a:t>
            </a:r>
            <a:r>
              <a:rPr lang="en" sz="1100">
                <a:solidFill>
                  <a:srgbClr val="188038"/>
                </a:solidFill>
                <a:latin typeface="Nunito"/>
                <a:ea typeface="Nunito"/>
                <a:cs typeface="Nunito"/>
                <a:sym typeface="Nunito"/>
              </a:rPr>
              <a:t>.R</a:t>
            </a:r>
            <a:endParaRPr sz="1100">
              <a:latin typeface="Nunito Medium"/>
              <a:ea typeface="Nunito Medium"/>
              <a:cs typeface="Nunito Medium"/>
              <a:sym typeface="Nunito Medium"/>
            </a:endParaRPr>
          </a:p>
        </p:txBody>
      </p:sp>
      <p:sp>
        <p:nvSpPr>
          <p:cNvPr id="668" name="Google Shape;668;g412c17598e8_0_2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69" name="Google Shape;669;g412c17598e8_0_275"/>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670" name="Google Shape;670;g412c17598e8_0_275"/>
          <p:cNvGraphicFramePr/>
          <p:nvPr/>
        </p:nvGraphicFramePr>
        <p:xfrm>
          <a:off x="6198075" y="1950725"/>
          <a:ext cx="3000000" cy="3000000"/>
        </p:xfrm>
        <a:graphic>
          <a:graphicData uri="http://schemas.openxmlformats.org/drawingml/2006/table">
            <a:tbl>
              <a:tblPr>
                <a:noFill/>
                <a:tableStyleId>{E52E4BE9-5879-4D65-9C92-106A106E9681}</a:tableStyleId>
              </a:tblPr>
              <a:tblGrid>
                <a:gridCol w="685025"/>
                <a:gridCol w="511200"/>
                <a:gridCol w="1533600"/>
              </a:tblGrid>
              <a:tr h="200025">
                <a:tc>
                  <a:txBody>
                    <a:bodyPr/>
                    <a:lstStyle/>
                    <a:p>
                      <a:pPr indent="0" lvl="0" marL="0" rtl="0" algn="ctr">
                        <a:lnSpc>
                          <a:spcPct val="115000"/>
                        </a:lnSpc>
                        <a:spcBef>
                          <a:spcPts val="0"/>
                        </a:spcBef>
                        <a:spcAft>
                          <a:spcPts val="0"/>
                        </a:spcAft>
                        <a:buNone/>
                      </a:pPr>
                      <a:r>
                        <a:rPr b="1" lang="en" sz="1100"/>
                        <a:t>Firma</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Patrón</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Distancia al prototipo</a:t>
                      </a:r>
                      <a:endParaRPr b="1" sz="1100"/>
                    </a:p>
                  </a:txBody>
                  <a:tcPr marT="91425" marB="91425" marR="91425" marL="91425"/>
                </a:tc>
              </a:tr>
              <a:tr h="200025">
                <a:tc>
                  <a:txBody>
                    <a:bodyPr/>
                    <a:lstStyle/>
                    <a:p>
                      <a:pPr indent="0" lvl="0" marL="0" rtl="0" algn="l">
                        <a:spcBef>
                          <a:spcPts val="0"/>
                        </a:spcBef>
                        <a:spcAft>
                          <a:spcPts val="0"/>
                        </a:spcAft>
                        <a:buNone/>
                      </a:pPr>
                      <a:r>
                        <a:rPr b="1" lang="en" sz="1100"/>
                        <a:t>Prototipo</a:t>
                      </a:r>
                      <a:endParaRPr b="1" sz="1100"/>
                    </a:p>
                  </a:txBody>
                  <a:tcPr marT="91425" marB="91425" marR="91425" marL="91425"/>
                </a:tc>
                <a:tc>
                  <a:txBody>
                    <a:bodyPr/>
                    <a:lstStyle/>
                    <a:p>
                      <a:pPr indent="0" lvl="0" marL="0" rtl="0" algn="l">
                        <a:spcBef>
                          <a:spcPts val="0"/>
                        </a:spcBef>
                        <a:spcAft>
                          <a:spcPts val="0"/>
                        </a:spcAft>
                        <a:buNone/>
                      </a:pPr>
                      <a:r>
                        <a:rPr b="1" lang="en" sz="1100"/>
                        <a:t>101010</a:t>
                      </a:r>
                      <a:endParaRPr b="1" sz="1100"/>
                    </a:p>
                  </a:txBody>
                  <a:tcPr marT="91425" marB="91425" marR="91425" marL="91425"/>
                </a:tc>
                <a:tc>
                  <a:txBody>
                    <a:bodyPr/>
                    <a:lstStyle/>
                    <a:p>
                      <a:pPr indent="0" lvl="0" marL="0" rtl="0" algn="l">
                        <a:spcBef>
                          <a:spcPts val="0"/>
                        </a:spcBef>
                        <a:spcAft>
                          <a:spcPts val="0"/>
                        </a:spcAft>
                        <a:buNone/>
                      </a:pPr>
                      <a:r>
                        <a:rPr b="1" lang="en" sz="1100"/>
                        <a:t>0</a:t>
                      </a:r>
                      <a:endParaRPr b="1" sz="1100"/>
                    </a:p>
                  </a:txBody>
                  <a:tcPr marT="91425" marB="91425" marR="91425" marL="91425"/>
                </a:tc>
              </a:tr>
              <a:tr h="200025">
                <a:tc>
                  <a:txBody>
                    <a:bodyPr/>
                    <a:lstStyle/>
                    <a:p>
                      <a:pPr indent="0" lvl="0" marL="0" rtl="0" algn="l">
                        <a:spcBef>
                          <a:spcPts val="0"/>
                        </a:spcBef>
                        <a:spcAft>
                          <a:spcPts val="0"/>
                        </a:spcAft>
                        <a:buNone/>
                      </a:pPr>
                      <a:r>
                        <a:rPr lang="en"/>
                        <a:t>Firma A</a:t>
                      </a:r>
                      <a:endParaRPr/>
                    </a:p>
                  </a:txBody>
                  <a:tcPr marT="91425" marB="91425" marR="91425" marL="91425"/>
                </a:tc>
                <a:tc>
                  <a:txBody>
                    <a:bodyPr/>
                    <a:lstStyle/>
                    <a:p>
                      <a:pPr indent="0" lvl="0" marL="0" rtl="0" algn="l">
                        <a:spcBef>
                          <a:spcPts val="0"/>
                        </a:spcBef>
                        <a:spcAft>
                          <a:spcPts val="0"/>
                        </a:spcAft>
                        <a:buNone/>
                      </a:pPr>
                      <a:r>
                        <a:rPr lang="en"/>
                        <a:t>101010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200025">
                <a:tc>
                  <a:txBody>
                    <a:bodyPr/>
                    <a:lstStyle/>
                    <a:p>
                      <a:pPr indent="0" lvl="0" marL="0" rtl="0" algn="l">
                        <a:spcBef>
                          <a:spcPts val="0"/>
                        </a:spcBef>
                        <a:spcAft>
                          <a:spcPts val="0"/>
                        </a:spcAft>
                        <a:buNone/>
                      </a:pPr>
                      <a:r>
                        <a:rPr lang="en"/>
                        <a:t>Firma B</a:t>
                      </a:r>
                      <a:endParaRPr/>
                    </a:p>
                  </a:txBody>
                  <a:tcPr marT="91425" marB="91425" marR="91425" marL="91425"/>
                </a:tc>
                <a:tc>
                  <a:txBody>
                    <a:bodyPr/>
                    <a:lstStyle/>
                    <a:p>
                      <a:pPr indent="0" lvl="0" marL="0" rtl="0" algn="l">
                        <a:spcBef>
                          <a:spcPts val="0"/>
                        </a:spcBef>
                        <a:spcAft>
                          <a:spcPts val="0"/>
                        </a:spcAft>
                        <a:buNone/>
                      </a:pPr>
                      <a:r>
                        <a:rPr lang="en"/>
                        <a:t>100110</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r>
              <a:tr h="200025">
                <a:tc>
                  <a:txBody>
                    <a:bodyPr/>
                    <a:lstStyle/>
                    <a:p>
                      <a:pPr indent="0" lvl="0" marL="0" rtl="0" algn="l">
                        <a:spcBef>
                          <a:spcPts val="0"/>
                        </a:spcBef>
                        <a:spcAft>
                          <a:spcPts val="0"/>
                        </a:spcAft>
                        <a:buNone/>
                      </a:pPr>
                      <a:r>
                        <a:rPr lang="en"/>
                        <a:t>Firma C</a:t>
                      </a:r>
                      <a:endParaRPr/>
                    </a:p>
                  </a:txBody>
                  <a:tcPr marT="91425" marB="91425" marR="91425" marL="91425"/>
                </a:tc>
                <a:tc>
                  <a:txBody>
                    <a:bodyPr/>
                    <a:lstStyle/>
                    <a:p>
                      <a:pPr indent="0" lvl="0" marL="0" rtl="0" algn="l">
                        <a:spcBef>
                          <a:spcPts val="0"/>
                        </a:spcBef>
                        <a:spcAft>
                          <a:spcPts val="0"/>
                        </a:spcAft>
                        <a:buNone/>
                      </a:pPr>
                      <a:r>
                        <a:rPr lang="en"/>
                        <a:t>010101</a:t>
                      </a:r>
                      <a:endParaRPr/>
                    </a:p>
                  </a:txBody>
                  <a:tcPr marT="91425" marB="91425" marR="91425" marL="91425"/>
                </a:tc>
                <a:tc>
                  <a:txBody>
                    <a:bodyPr/>
                    <a:lstStyle/>
                    <a:p>
                      <a:pPr indent="0" lvl="0" marL="0" rtl="0" algn="l">
                        <a:spcBef>
                          <a:spcPts val="0"/>
                        </a:spcBef>
                        <a:spcAft>
                          <a:spcPts val="0"/>
                        </a:spcAft>
                        <a:buNone/>
                      </a:pPr>
                      <a:r>
                        <a:rPr lang="en"/>
                        <a:t>6</a:t>
                      </a:r>
                      <a:endParaRPr/>
                    </a:p>
                  </a:txBody>
                  <a:tcPr marT="91425" marB="91425" marR="91425" marL="91425"/>
                </a:tc>
              </a:tr>
            </a:tbl>
          </a:graphicData>
        </a:graphic>
      </p:graphicFrame>
      <p:sp>
        <p:nvSpPr>
          <p:cNvPr id="671" name="Google Shape;671;g412c17598e8_0_275"/>
          <p:cNvSpPr txBox="1"/>
          <p:nvPr/>
        </p:nvSpPr>
        <p:spPr>
          <a:xfrm>
            <a:off x="715050" y="1898450"/>
            <a:ext cx="51507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a:latin typeface="Nunito"/>
                <a:ea typeface="Nunito"/>
                <a:cs typeface="Nunito"/>
                <a:sym typeface="Nunito"/>
              </a:rPr>
              <a:t>1. Selección del prototipo. </a:t>
            </a:r>
            <a:r>
              <a:rPr lang="en">
                <a:latin typeface="Nunito"/>
                <a:ea typeface="Nunito"/>
                <a:cs typeface="Nunito"/>
                <a:sym typeface="Nunito"/>
              </a:rPr>
              <a:t>Greedy selecciona la </a:t>
            </a:r>
            <a:r>
              <a:rPr b="1" lang="en">
                <a:latin typeface="Nunito"/>
                <a:ea typeface="Nunito"/>
                <a:cs typeface="Nunito"/>
                <a:sym typeface="Nunito"/>
              </a:rPr>
              <a:t>firma no cubierta de mayor peso</a:t>
            </a:r>
            <a:r>
              <a:rPr lang="en">
                <a:latin typeface="Nunito"/>
                <a:ea typeface="Nunito"/>
                <a:cs typeface="Nunito"/>
                <a:sym typeface="Nunito"/>
              </a:rPr>
              <a:t>.</a:t>
            </a:r>
            <a:endParaRPr>
              <a:latin typeface="Nunito"/>
              <a:ea typeface="Nunito"/>
              <a:cs typeface="Nunito"/>
              <a:sym typeface="Nunito"/>
            </a:endParaRPr>
          </a:p>
          <a:p>
            <a:pPr indent="0" lvl="0" marL="0" rtl="0" algn="l">
              <a:lnSpc>
                <a:spcPct val="115000"/>
              </a:lnSpc>
              <a:spcBef>
                <a:spcPts val="1200"/>
              </a:spcBef>
              <a:spcAft>
                <a:spcPts val="0"/>
              </a:spcAft>
              <a:buNone/>
            </a:pPr>
            <a:r>
              <a:rPr b="1" lang="en">
                <a:latin typeface="Nunito"/>
                <a:ea typeface="Nunito"/>
                <a:cs typeface="Nunito"/>
                <a:sym typeface="Nunito"/>
              </a:rPr>
              <a:t>2. Distancia de Hamming. </a:t>
            </a:r>
            <a:r>
              <a:rPr lang="en">
                <a:latin typeface="Nunito"/>
                <a:ea typeface="Nunito"/>
                <a:cs typeface="Nunito"/>
                <a:sym typeface="Nunito"/>
              </a:rPr>
              <a:t>Número de posiciones en las que dos firmas binarias son diferentes.</a:t>
            </a:r>
            <a:endParaRPr>
              <a:latin typeface="Nunito"/>
              <a:ea typeface="Nunito"/>
              <a:cs typeface="Nunito"/>
              <a:sym typeface="Nunito"/>
            </a:endParaRPr>
          </a:p>
          <a:p>
            <a:pPr indent="0" lvl="0" marL="0" rtl="0" algn="l">
              <a:lnSpc>
                <a:spcPct val="115000"/>
              </a:lnSpc>
              <a:spcBef>
                <a:spcPts val="1200"/>
              </a:spcBef>
              <a:spcAft>
                <a:spcPts val="0"/>
              </a:spcAft>
              <a:buNone/>
            </a:pPr>
            <a:r>
              <a:rPr b="1" lang="en">
                <a:latin typeface="Nunito"/>
                <a:ea typeface="Nunito"/>
                <a:cs typeface="Nunito"/>
                <a:sym typeface="Nunito"/>
              </a:rPr>
              <a:t>Si el radio Hamming es H = 2, el prototipo cubre las firmas A y B, pero no la C.</a:t>
            </a:r>
            <a:endParaRPr b="1">
              <a:latin typeface="Nunito"/>
              <a:ea typeface="Nunito"/>
              <a:cs typeface="Nunito"/>
              <a:sym typeface="Nunito"/>
            </a:endParaRPr>
          </a:p>
          <a:p>
            <a:pPr indent="0" lvl="0" marL="0" rtl="0" algn="l">
              <a:lnSpc>
                <a:spcPct val="115000"/>
              </a:lnSpc>
              <a:spcBef>
                <a:spcPts val="1200"/>
              </a:spcBef>
              <a:spcAft>
                <a:spcPts val="0"/>
              </a:spcAft>
              <a:buNone/>
            </a:pPr>
            <a:r>
              <a:rPr b="1" lang="en">
                <a:latin typeface="Nunito"/>
                <a:ea typeface="Nunito"/>
                <a:cs typeface="Nunito"/>
                <a:sym typeface="Nunito"/>
              </a:rPr>
              <a:t>3. Repetición. </a:t>
            </a:r>
            <a:r>
              <a:rPr lang="en">
                <a:latin typeface="Nunito"/>
                <a:ea typeface="Nunito"/>
                <a:cs typeface="Nunito"/>
                <a:sym typeface="Nunito"/>
              </a:rPr>
              <a:t>Se selecciona la siguiente firma no cubierta de mayor peso y se repite el proceso.</a:t>
            </a:r>
            <a:endParaRPr>
              <a:latin typeface="Nunito"/>
              <a:ea typeface="Nunito"/>
              <a:cs typeface="Nunito"/>
              <a:sym typeface="Nunito"/>
            </a:endParaRPr>
          </a:p>
          <a:p>
            <a:pPr indent="0" lvl="0" marL="0" rtl="0" algn="l">
              <a:lnSpc>
                <a:spcPct val="115000"/>
              </a:lnSpc>
              <a:spcBef>
                <a:spcPts val="1200"/>
              </a:spcBef>
              <a:spcAft>
                <a:spcPts val="1200"/>
              </a:spcAft>
              <a:buNone/>
            </a:pPr>
            <a:r>
              <a:rPr b="1" lang="en">
                <a:latin typeface="Nunito"/>
                <a:ea typeface="Nunito"/>
                <a:cs typeface="Nunito"/>
                <a:sym typeface="Nunito"/>
              </a:rPr>
              <a:t>Resultado:</a:t>
            </a:r>
            <a:r>
              <a:rPr lang="en">
                <a:latin typeface="Nunito"/>
                <a:ea typeface="Nunito"/>
                <a:cs typeface="Nunito"/>
                <a:sym typeface="Nunito"/>
              </a:rPr>
              <a:t> prototipos seleccionados y cobertura acumulada del universo de firmas candidatas.</a:t>
            </a:r>
            <a:endParaRPr>
              <a:latin typeface="Nunito"/>
              <a:ea typeface="Nunito"/>
              <a:cs typeface="Nunito"/>
              <a:sym typeface="Nuni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g412c17598e8_0_283"/>
          <p:cNvSpPr txBox="1"/>
          <p:nvPr>
            <p:ph type="title"/>
          </p:nvPr>
        </p:nvSpPr>
        <p:spPr>
          <a:xfrm>
            <a:off x="715050" y="548900"/>
            <a:ext cx="82875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Greedy: configuración y decisiones metodológicas</a:t>
            </a:r>
            <a:endParaRPr/>
          </a:p>
        </p:txBody>
      </p:sp>
      <p:sp>
        <p:nvSpPr>
          <p:cNvPr id="677" name="Google Shape;677;g412c17598e8_0_28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78" name="Google Shape;678;g412c17598e8_0_283"/>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679" name="Google Shape;679;g412c17598e8_0_283"/>
          <p:cNvGraphicFramePr/>
          <p:nvPr/>
        </p:nvGraphicFramePr>
        <p:xfrm>
          <a:off x="842875" y="1223300"/>
          <a:ext cx="3000000" cy="3000000"/>
        </p:xfrm>
        <a:graphic>
          <a:graphicData uri="http://schemas.openxmlformats.org/drawingml/2006/table">
            <a:tbl>
              <a:tblPr>
                <a:noFill/>
                <a:tableStyleId>{E52E4BE9-5879-4D65-9C92-106A106E9681}</a:tableStyleId>
              </a:tblPr>
              <a:tblGrid>
                <a:gridCol w="1525000"/>
                <a:gridCol w="2084325"/>
                <a:gridCol w="4104575"/>
              </a:tblGrid>
              <a:tr h="398475">
                <a:tc>
                  <a:txBody>
                    <a:bodyPr/>
                    <a:lstStyle/>
                    <a:p>
                      <a:pPr indent="0" lvl="0" marL="0" rtl="0" algn="ctr">
                        <a:lnSpc>
                          <a:spcPct val="115000"/>
                        </a:lnSpc>
                        <a:spcBef>
                          <a:spcPts val="0"/>
                        </a:spcBef>
                        <a:spcAft>
                          <a:spcPts val="0"/>
                        </a:spcAft>
                        <a:buNone/>
                      </a:pPr>
                      <a:r>
                        <a:rPr b="1" lang="en">
                          <a:latin typeface="Nunito"/>
                          <a:ea typeface="Nunito"/>
                          <a:cs typeface="Nunito"/>
                          <a:sym typeface="Nunito"/>
                        </a:rPr>
                        <a:t>Parámetro</a:t>
                      </a:r>
                      <a:endParaRPr b="1">
                        <a:latin typeface="Nunito"/>
                        <a:ea typeface="Nunito"/>
                        <a:cs typeface="Nunito"/>
                        <a:sym typeface="Nunito"/>
                      </a:endParaRPr>
                    </a:p>
                  </a:txBody>
                  <a:tcPr marT="91425" marB="91425" marR="91425" marL="91425"/>
                </a:tc>
                <a:tc>
                  <a:txBody>
                    <a:bodyPr/>
                    <a:lstStyle/>
                    <a:p>
                      <a:pPr indent="0" lvl="0" marL="0" rtl="0" algn="ctr">
                        <a:lnSpc>
                          <a:spcPct val="115000"/>
                        </a:lnSpc>
                        <a:spcBef>
                          <a:spcPts val="0"/>
                        </a:spcBef>
                        <a:spcAft>
                          <a:spcPts val="0"/>
                        </a:spcAft>
                        <a:buNone/>
                      </a:pPr>
                      <a:r>
                        <a:rPr b="1" lang="en">
                          <a:latin typeface="Nunito"/>
                          <a:ea typeface="Nunito"/>
                          <a:cs typeface="Nunito"/>
                          <a:sym typeface="Nunito"/>
                        </a:rPr>
                        <a:t>Valores explorados</a:t>
                      </a:r>
                      <a:endParaRPr b="1">
                        <a:latin typeface="Nunito"/>
                        <a:ea typeface="Nunito"/>
                        <a:cs typeface="Nunito"/>
                        <a:sym typeface="Nunito"/>
                      </a:endParaRPr>
                    </a:p>
                  </a:txBody>
                  <a:tcPr marT="91425" marB="91425" marR="91425" marL="91425"/>
                </a:tc>
                <a:tc>
                  <a:txBody>
                    <a:bodyPr/>
                    <a:lstStyle/>
                    <a:p>
                      <a:pPr indent="0" lvl="0" marL="0" rtl="0" algn="ctr">
                        <a:lnSpc>
                          <a:spcPct val="115000"/>
                        </a:lnSpc>
                        <a:spcBef>
                          <a:spcPts val="0"/>
                        </a:spcBef>
                        <a:spcAft>
                          <a:spcPts val="0"/>
                        </a:spcAft>
                        <a:buNone/>
                      </a:pPr>
                      <a:r>
                        <a:rPr b="1" lang="en">
                          <a:latin typeface="Nunito"/>
                          <a:ea typeface="Nunito"/>
                          <a:cs typeface="Nunito"/>
                          <a:sym typeface="Nunito"/>
                        </a:rPr>
                        <a:t>¿Qué controla?</a:t>
                      </a:r>
                      <a:endParaRPr b="1">
                        <a:latin typeface="Nunito"/>
                        <a:ea typeface="Nunito"/>
                        <a:cs typeface="Nunito"/>
                        <a:sym typeface="Nunito"/>
                      </a:endParaRPr>
                    </a:p>
                  </a:txBody>
                  <a:tcPr marT="91425" marB="91425" marR="91425" marL="91425"/>
                </a:tc>
              </a:tr>
              <a:tr h="642450">
                <a:tc>
                  <a:txBody>
                    <a:bodyPr/>
                    <a:lstStyle/>
                    <a:p>
                      <a:pPr indent="0" lvl="0" marL="0" rtl="0" algn="l">
                        <a:spcBef>
                          <a:spcPts val="0"/>
                        </a:spcBef>
                        <a:spcAft>
                          <a:spcPts val="0"/>
                        </a:spcAft>
                        <a:buNone/>
                      </a:pPr>
                      <a:r>
                        <a:rPr b="1" lang="en">
                          <a:latin typeface="Nunito"/>
                          <a:ea typeface="Nunito"/>
                          <a:cs typeface="Nunito"/>
                          <a:sym typeface="Nunito"/>
                        </a:rPr>
                        <a:t>K / F</a:t>
                      </a:r>
                      <a:endParaRPr b="1">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4–8</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Número de clusters o factores que generan las firmas candidatas.</a:t>
                      </a:r>
                      <a:endParaRPr>
                        <a:latin typeface="Nunito"/>
                        <a:ea typeface="Nunito"/>
                        <a:cs typeface="Nunito"/>
                        <a:sym typeface="Nunito"/>
                      </a:endParaRPr>
                    </a:p>
                  </a:txBody>
                  <a:tcPr marT="91425" marB="91425" marR="91425" marL="91425"/>
                </a:tc>
              </a:tr>
              <a:tr h="642450">
                <a:tc>
                  <a:txBody>
                    <a:bodyPr/>
                    <a:lstStyle/>
                    <a:p>
                      <a:pPr indent="0" lvl="0" marL="0" rtl="0" algn="l">
                        <a:spcBef>
                          <a:spcPts val="0"/>
                        </a:spcBef>
                        <a:spcAft>
                          <a:spcPts val="0"/>
                        </a:spcAft>
                        <a:buNone/>
                      </a:pPr>
                      <a:r>
                        <a:rPr b="1" lang="en">
                          <a:latin typeface="Nunito"/>
                          <a:ea typeface="Nunito"/>
                          <a:cs typeface="Nunito"/>
                          <a:sym typeface="Nunito"/>
                        </a:rPr>
                        <a:t>D</a:t>
                      </a:r>
                      <a:endParaRPr b="1">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8–15 integrados</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Número de determinantes activos de las firmas que forman el conjunto de candidatos.</a:t>
                      </a:r>
                      <a:endParaRPr>
                        <a:latin typeface="Nunito"/>
                        <a:ea typeface="Nunito"/>
                        <a:cs typeface="Nunito"/>
                        <a:sym typeface="Nunito"/>
                      </a:endParaRPr>
                    </a:p>
                  </a:txBody>
                  <a:tcPr marT="91425" marB="91425" marR="91425" marL="91425"/>
                </a:tc>
              </a:tr>
              <a:tr h="642450">
                <a:tc>
                  <a:txBody>
                    <a:bodyPr/>
                    <a:lstStyle/>
                    <a:p>
                      <a:pPr indent="0" lvl="0" marL="0" rtl="0" algn="l">
                        <a:spcBef>
                          <a:spcPts val="0"/>
                        </a:spcBef>
                        <a:spcAft>
                          <a:spcPts val="0"/>
                        </a:spcAft>
                        <a:buNone/>
                      </a:pPr>
                      <a:r>
                        <a:rPr b="1" lang="en">
                          <a:latin typeface="Nunito"/>
                          <a:ea typeface="Nunito"/>
                          <a:cs typeface="Nunito"/>
                          <a:sym typeface="Nunito"/>
                        </a:rPr>
                        <a:t>Hamming (H)</a:t>
                      </a:r>
                      <a:endParaRPr b="1">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0-10</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Distancia máxima para considerar cubierta otra firma.</a:t>
                      </a:r>
                      <a:endParaRPr>
                        <a:latin typeface="Nunito"/>
                        <a:ea typeface="Nunito"/>
                        <a:cs typeface="Nunito"/>
                        <a:sym typeface="Nunito"/>
                      </a:endParaRPr>
                    </a:p>
                  </a:txBody>
                  <a:tcPr marT="91425" marB="91425" marR="91425" marL="91425"/>
                </a:tc>
              </a:tr>
              <a:tr h="642450">
                <a:tc>
                  <a:txBody>
                    <a:bodyPr/>
                    <a:lstStyle/>
                    <a:p>
                      <a:pPr indent="0" lvl="0" marL="0" rtl="0" algn="l">
                        <a:spcBef>
                          <a:spcPts val="0"/>
                        </a:spcBef>
                        <a:spcAft>
                          <a:spcPts val="0"/>
                        </a:spcAft>
                        <a:buNone/>
                      </a:pPr>
                      <a:r>
                        <a:rPr b="1" lang="en">
                          <a:latin typeface="Nunito"/>
                          <a:ea typeface="Nunito"/>
                          <a:cs typeface="Nunito"/>
                          <a:sym typeface="Nunito"/>
                        </a:rPr>
                        <a:t>Prototipos (P)</a:t>
                      </a:r>
                      <a:endParaRPr b="1">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Hasta 12</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Número de firmas que selecciona Greedy como prototipos.</a:t>
                      </a:r>
                      <a:endParaRPr>
                        <a:latin typeface="Nunito"/>
                        <a:ea typeface="Nunito"/>
                        <a:cs typeface="Nunito"/>
                        <a:sym typeface="Nunito"/>
                      </a:endParaRPr>
                    </a:p>
                  </a:txBody>
                  <a:tcPr marT="91425" marB="91425" marR="91425" marL="91425"/>
                </a:tc>
              </a:tr>
              <a:tr h="642450">
                <a:tc>
                  <a:txBody>
                    <a:bodyPr/>
                    <a:lstStyle/>
                    <a:p>
                      <a:pPr indent="0" lvl="0" marL="0" rtl="0" algn="l">
                        <a:spcBef>
                          <a:spcPts val="0"/>
                        </a:spcBef>
                        <a:spcAft>
                          <a:spcPts val="0"/>
                        </a:spcAft>
                        <a:buNone/>
                      </a:pPr>
                      <a:r>
                        <a:rPr b="1" lang="en">
                          <a:latin typeface="Nunito"/>
                          <a:ea typeface="Nunito"/>
                          <a:cs typeface="Nunito"/>
                          <a:sym typeface="Nunito"/>
                        </a:rPr>
                        <a:t>Ponderación</a:t>
                      </a:r>
                      <a:endParaRPr b="1">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solidFill>
                            <a:srgbClr val="188038"/>
                          </a:solidFill>
                          <a:latin typeface="Nunito"/>
                          <a:ea typeface="Nunito"/>
                          <a:cs typeface="Nunito"/>
                          <a:sym typeface="Nunito"/>
                        </a:rPr>
                        <a:t>equal_candidate</a:t>
                      </a:r>
                      <a:r>
                        <a:rPr lang="en">
                          <a:latin typeface="Nunito"/>
                          <a:ea typeface="Nunito"/>
                          <a:cs typeface="Nunito"/>
                          <a:sym typeface="Nunito"/>
                        </a:rPr>
                        <a:t> / </a:t>
                      </a:r>
                      <a:r>
                        <a:rPr lang="en">
                          <a:solidFill>
                            <a:srgbClr val="188038"/>
                          </a:solidFill>
                          <a:latin typeface="Nunito"/>
                          <a:ea typeface="Nunito"/>
                          <a:cs typeface="Nunito"/>
                          <a:sym typeface="Nunito"/>
                        </a:rPr>
                        <a:t>equal_element</a:t>
                      </a:r>
                      <a:endParaRPr>
                        <a:solidFill>
                          <a:srgbClr val="188038"/>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
                          <a:latin typeface="Nunito"/>
                          <a:ea typeface="Nunito"/>
                          <a:cs typeface="Nunito"/>
                          <a:sym typeface="Nunito"/>
                        </a:rPr>
                        <a:t>Cómo se asigna el peso a las firmas candidatas.</a:t>
                      </a:r>
                      <a:endParaRPr>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g412c17598e8_0_291"/>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Greedy: evolución de la cobertura</a:t>
            </a:r>
            <a:endParaRPr/>
          </a:p>
          <a:p>
            <a:pPr indent="0" lvl="0" marL="0" rtl="0" algn="l">
              <a:lnSpc>
                <a:spcPct val="100000"/>
              </a:lnSpc>
              <a:spcBef>
                <a:spcPts val="0"/>
              </a:spcBef>
              <a:spcAft>
                <a:spcPts val="0"/>
              </a:spcAft>
              <a:buSzPts val="2500"/>
              <a:buNone/>
            </a:pPr>
            <a:r>
              <a:rPr b="1" lang="en" sz="1100">
                <a:solidFill>
                  <a:srgbClr val="000000"/>
                </a:solidFill>
                <a:latin typeface="Arial"/>
                <a:ea typeface="Arial"/>
                <a:cs typeface="Arial"/>
                <a:sym typeface="Arial"/>
              </a:rPr>
              <a:t>Scripts:</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08b_greedy_kmeans_efa_Dpooled.R</a:t>
            </a:r>
            <a:r>
              <a:rPr lang="en" sz="1100">
                <a:solidFill>
                  <a:srgbClr val="000000"/>
                </a:solidFill>
                <a:latin typeface="Arial"/>
                <a:ea typeface="Arial"/>
                <a:cs typeface="Arial"/>
                <a:sym typeface="Arial"/>
              </a:rPr>
              <a:t> · </a:t>
            </a:r>
            <a:r>
              <a:rPr lang="en" sz="1100">
                <a:solidFill>
                  <a:srgbClr val="188038"/>
                </a:solidFill>
                <a:latin typeface="Roboto Mono"/>
                <a:ea typeface="Roboto Mono"/>
                <a:cs typeface="Roboto Mono"/>
                <a:sym typeface="Roboto Mono"/>
              </a:rPr>
              <a:t>09b_analysis_Dpooled.R</a:t>
            </a:r>
            <a:endParaRPr>
              <a:latin typeface="Nunito Medium"/>
              <a:ea typeface="Nunito Medium"/>
              <a:cs typeface="Nunito Medium"/>
              <a:sym typeface="Nunito Medium"/>
            </a:endParaRPr>
          </a:p>
        </p:txBody>
      </p:sp>
      <p:sp>
        <p:nvSpPr>
          <p:cNvPr id="685" name="Google Shape;685;g412c17598e8_0_2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86" name="Google Shape;686;g412c17598e8_0_291"/>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687" name="Google Shape;687;g412c17598e8_0_291" title="Captura de pantalla 2026-09-22 a las 8.59.35.png"/>
          <p:cNvPicPr preferRelativeResize="0"/>
          <p:nvPr/>
        </p:nvPicPr>
        <p:blipFill>
          <a:blip r:embed="rId4">
            <a:alphaModFix/>
          </a:blip>
          <a:stretch>
            <a:fillRect/>
          </a:stretch>
        </p:blipFill>
        <p:spPr>
          <a:xfrm>
            <a:off x="804700" y="1282075"/>
            <a:ext cx="6664970" cy="37411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g412c17598e8_0_931"/>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Greedy: principales archivos de salida</a:t>
            </a:r>
            <a:endParaRPr/>
          </a:p>
          <a:p>
            <a:pPr indent="0" lvl="0" marL="0" rtl="0" algn="l">
              <a:lnSpc>
                <a:spcPct val="100000"/>
              </a:lnSpc>
              <a:spcBef>
                <a:spcPts val="0"/>
              </a:spcBef>
              <a:spcAft>
                <a:spcPts val="0"/>
              </a:spcAft>
              <a:buSzPts val="2500"/>
              <a:buNone/>
            </a:pPr>
            <a:r>
              <a:rPr b="1" lang="en" sz="1100">
                <a:solidFill>
                  <a:srgbClr val="000000"/>
                </a:solidFill>
                <a:latin typeface="Nunito"/>
                <a:ea typeface="Nunito"/>
                <a:cs typeface="Nunito"/>
                <a:sym typeface="Nunito"/>
              </a:rPr>
              <a:t>Script:</a:t>
            </a:r>
            <a:r>
              <a:rPr lang="en" sz="1100">
                <a:solidFill>
                  <a:srgbClr val="000000"/>
                </a:solidFill>
                <a:latin typeface="Nunito"/>
                <a:ea typeface="Nunito"/>
                <a:cs typeface="Nunito"/>
                <a:sym typeface="Nunito"/>
              </a:rPr>
              <a:t> </a:t>
            </a:r>
            <a:r>
              <a:rPr lang="en" sz="1100">
                <a:solidFill>
                  <a:srgbClr val="188038"/>
                </a:solidFill>
                <a:latin typeface="Nunito"/>
                <a:ea typeface="Nunito"/>
                <a:cs typeface="Nunito"/>
                <a:sym typeface="Nunito"/>
              </a:rPr>
              <a:t>08b_greedy_kmeans_efa_Dpooled.R</a:t>
            </a:r>
            <a:endParaRPr>
              <a:latin typeface="Nunito Medium"/>
              <a:ea typeface="Nunito Medium"/>
              <a:cs typeface="Nunito Medium"/>
              <a:sym typeface="Nunito Medium"/>
            </a:endParaRPr>
          </a:p>
        </p:txBody>
      </p:sp>
      <p:sp>
        <p:nvSpPr>
          <p:cNvPr id="693" name="Google Shape;693;g412c17598e8_0_9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694" name="Google Shape;694;g412c17598e8_0_931"/>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695" name="Google Shape;695;g412c17598e8_0_931"/>
          <p:cNvGraphicFramePr/>
          <p:nvPr/>
        </p:nvGraphicFramePr>
        <p:xfrm>
          <a:off x="300025" y="1486850"/>
          <a:ext cx="3000000" cy="3000000"/>
        </p:xfrm>
        <a:graphic>
          <a:graphicData uri="http://schemas.openxmlformats.org/drawingml/2006/table">
            <a:tbl>
              <a:tblPr>
                <a:noFill/>
                <a:tableStyleId>{E52E4BE9-5879-4D65-9C92-106A106E9681}</a:tableStyleId>
              </a:tblPr>
              <a:tblGrid>
                <a:gridCol w="3895725"/>
                <a:gridCol w="4648200"/>
              </a:tblGrid>
              <a:tr h="20002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Archivo</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¿Qué contiene?</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200025">
                <a:tc>
                  <a:txBody>
                    <a:bodyPr/>
                    <a:lstStyle/>
                    <a:p>
                      <a:pPr indent="0" lvl="0" marL="0" rtl="0" algn="ctr">
                        <a:spcBef>
                          <a:spcPts val="0"/>
                        </a:spcBef>
                        <a:spcAft>
                          <a:spcPts val="0"/>
                        </a:spcAft>
                        <a:buNone/>
                      </a:pPr>
                      <a:r>
                        <a:rPr lang="en">
                          <a:solidFill>
                            <a:srgbClr val="188038"/>
                          </a:solidFill>
                          <a:latin typeface="Nunito"/>
                          <a:ea typeface="Nunito"/>
                          <a:cs typeface="Nunito"/>
                          <a:sym typeface="Nunito"/>
                        </a:rPr>
                        <a:t>02_pattern_frequency_Dpooled.csv.gz</a:t>
                      </a:r>
                      <a:endParaRPr>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Firmas distintas y frecuencia o peso de cada una.</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a:solidFill>
                            <a:srgbClr val="188038"/>
                          </a:solidFill>
                          <a:latin typeface="Nunito"/>
                          <a:ea typeface="Nunito"/>
                          <a:cs typeface="Nunito"/>
                          <a:sym typeface="Nunito"/>
                        </a:rPr>
                        <a:t>05_greedy_H_by_P_curve_Dpooled.csv</a:t>
                      </a:r>
                      <a:endParaRPr>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Evolución de la cobertura según H y P.</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a:solidFill>
                            <a:srgbClr val="188038"/>
                          </a:solidFill>
                          <a:latin typeface="Nunito"/>
                          <a:ea typeface="Nunito"/>
                          <a:cs typeface="Nunito"/>
                          <a:sym typeface="Nunito"/>
                        </a:rPr>
                        <a:t>06_coverage_threshold_by_H_Dpooled.csv</a:t>
                      </a:r>
                      <a:endParaRPr>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Prototipos necesarios para alcanzar distintos umbrales de cobertura.</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a:solidFill>
                            <a:srgbClr val="188038"/>
                          </a:solidFill>
                          <a:latin typeface="Nunito"/>
                          <a:ea typeface="Nunito"/>
                          <a:cs typeface="Nunito"/>
                          <a:sym typeface="Nunito"/>
                        </a:rPr>
                        <a:t>07_greedy_prototype_steps_Dpooled.csv</a:t>
                      </a:r>
                      <a:endParaRPr>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Prototipos seleccionados y cobertura incremental y acumulada.</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a:solidFill>
                            <a:srgbClr val="188038"/>
                          </a:solidFill>
                          <a:latin typeface="Nunito"/>
                          <a:ea typeface="Nunito"/>
                          <a:cs typeface="Nunito"/>
                          <a:sym typeface="Nunito"/>
                        </a:rPr>
                        <a:t>09_greedy_ball_determinant_prevalence_Dpooled.csv.gz</a:t>
                      </a:r>
                      <a:endParaRPr>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Nunito"/>
                          <a:ea typeface="Nunito"/>
                          <a:cs typeface="Nunito"/>
                          <a:sym typeface="Nunito"/>
                        </a:rPr>
                        <a:t>Presencia de los determinantes entre las firmas cubiertas por cada prototipo.</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g412c17598e8_0_727"/>
          <p:cNvSpPr txBox="1"/>
          <p:nvPr>
            <p:ph type="title"/>
          </p:nvPr>
        </p:nvSpPr>
        <p:spPr>
          <a:xfrm>
            <a:off x="498875" y="3328050"/>
            <a:ext cx="8472600" cy="125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4700"/>
              <a:t>Comparación e interpretación</a:t>
            </a:r>
            <a:endParaRPr sz="4700"/>
          </a:p>
        </p:txBody>
      </p:sp>
      <p:sp>
        <p:nvSpPr>
          <p:cNvPr id="701" name="Google Shape;701;g412c17598e8_0_727"/>
          <p:cNvSpPr txBox="1"/>
          <p:nvPr>
            <p:ph idx="2" type="title"/>
          </p:nvPr>
        </p:nvSpPr>
        <p:spPr>
          <a:xfrm>
            <a:off x="715100" y="2074250"/>
            <a:ext cx="7708800" cy="125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07</a:t>
            </a:r>
            <a:endParaRPr/>
          </a:p>
        </p:txBody>
      </p:sp>
      <p:sp>
        <p:nvSpPr>
          <p:cNvPr id="702" name="Google Shape;702;g412c17598e8_0_7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703" name="Google Shape;703;g412c17598e8_0_727"/>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412c17598e8_0_307"/>
          <p:cNvSpPr txBox="1"/>
          <p:nvPr>
            <p:ph type="title"/>
          </p:nvPr>
        </p:nvSpPr>
        <p:spPr>
          <a:xfrm>
            <a:off x="715038" y="4406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Comparación de prototipos</a:t>
            </a:r>
            <a:endParaRPr/>
          </a:p>
        </p:txBody>
      </p:sp>
      <p:sp>
        <p:nvSpPr>
          <p:cNvPr id="709" name="Google Shape;709;g412c17598e8_0_3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710" name="Google Shape;710;g412c17598e8_0_307"/>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711" name="Google Shape;711;g412c17598e8_0_307"/>
          <p:cNvGraphicFramePr/>
          <p:nvPr/>
        </p:nvGraphicFramePr>
        <p:xfrm>
          <a:off x="1547800" y="1108900"/>
          <a:ext cx="3000000" cy="3000000"/>
        </p:xfrm>
        <a:graphic>
          <a:graphicData uri="http://schemas.openxmlformats.org/drawingml/2006/table">
            <a:tbl>
              <a:tblPr>
                <a:noFill/>
                <a:tableStyleId>{E52E4BE9-5879-4D65-9C92-106A106E9681}</a:tableStyleId>
              </a:tblPr>
              <a:tblGrid>
                <a:gridCol w="1983700"/>
                <a:gridCol w="4064675"/>
              </a:tblGrid>
              <a:tr h="200025">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Comparación</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lt1"/>
                          </a:solidFill>
                          <a:latin typeface="Nunito"/>
                          <a:ea typeface="Nunito"/>
                          <a:cs typeface="Nunito"/>
                          <a:sym typeface="Nunito"/>
                        </a:rPr>
                        <a:t>Objetivo</a:t>
                      </a:r>
                      <a:endParaRPr b="1">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209550">
                <a:tc>
                  <a:txBody>
                    <a:bodyPr/>
                    <a:lstStyle/>
                    <a:p>
                      <a:pPr indent="0" lvl="0" marL="0" rtl="0" algn="l">
                        <a:spcBef>
                          <a:spcPts val="0"/>
                        </a:spcBef>
                        <a:spcAft>
                          <a:spcPts val="0"/>
                        </a:spcAft>
                        <a:buNone/>
                      </a:pPr>
                      <a:r>
                        <a:rPr lang="en">
                          <a:latin typeface="Nunito"/>
                          <a:ea typeface="Nunito"/>
                          <a:cs typeface="Nunito"/>
                          <a:sym typeface="Nunito"/>
                        </a:rPr>
                        <a:t>K-means ↔ EFA</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Examinar la coincidencia entre los prototipos generados por ambos métodos.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spcBef>
                          <a:spcPts val="0"/>
                        </a:spcBef>
                        <a:spcAft>
                          <a:spcPts val="0"/>
                        </a:spcAft>
                        <a:buNone/>
                      </a:pPr>
                      <a:r>
                        <a:rPr lang="en">
                          <a:latin typeface="Nunito"/>
                          <a:ea typeface="Nunito"/>
                          <a:cs typeface="Nunito"/>
                          <a:sym typeface="Nunito"/>
                        </a:rPr>
                        <a:t>K-means ↔ Expertos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Comparar los prototipos de K-means con los arquetipos expertos.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spcBef>
                          <a:spcPts val="0"/>
                        </a:spcBef>
                        <a:spcAft>
                          <a:spcPts val="0"/>
                        </a:spcAft>
                        <a:buNone/>
                      </a:pPr>
                      <a:r>
                        <a:rPr lang="en">
                          <a:latin typeface="Nunito"/>
                          <a:ea typeface="Nunito"/>
                          <a:cs typeface="Nunito"/>
                          <a:sym typeface="Nunito"/>
                        </a:rPr>
                        <a:t>EFA ↔ Expertos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a:ea typeface="Nunito"/>
                          <a:cs typeface="Nunito"/>
                          <a:sym typeface="Nunito"/>
                        </a:rPr>
                        <a:t>Comparar los prototipos de EFA con los arquetipos expertos.</a:t>
                      </a:r>
                      <a:endParaRPr>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712" name="Google Shape;712;g412c17598e8_0_307"/>
          <p:cNvSpPr txBox="1"/>
          <p:nvPr/>
        </p:nvSpPr>
        <p:spPr>
          <a:xfrm>
            <a:off x="1774675" y="3516725"/>
            <a:ext cx="5821500" cy="12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latin typeface="Nunito"/>
                <a:ea typeface="Nunito"/>
                <a:cs typeface="Nunito"/>
                <a:sym typeface="Nunito"/>
              </a:rPr>
              <a:t>Jaccard (%)</a:t>
            </a:r>
            <a:r>
              <a:rPr lang="en">
                <a:latin typeface="Nunito"/>
                <a:ea typeface="Nunito"/>
                <a:cs typeface="Nunito"/>
                <a:sym typeface="Nunito"/>
              </a:rPr>
              <a:t> = determinantes comunes / determinantes presentes en al menos una de las dos firmas × 100.</a:t>
            </a:r>
            <a:endParaRPr>
              <a:latin typeface="Nunito"/>
              <a:ea typeface="Nunito"/>
              <a:cs typeface="Nunito"/>
              <a:sym typeface="Nunito"/>
            </a:endParaRPr>
          </a:p>
          <a:p>
            <a:pPr indent="0" lvl="0" marL="0" rtl="0" algn="l">
              <a:lnSpc>
                <a:spcPct val="115000"/>
              </a:lnSpc>
              <a:spcBef>
                <a:spcPts val="1200"/>
              </a:spcBef>
              <a:spcAft>
                <a:spcPts val="1200"/>
              </a:spcAft>
              <a:buNone/>
            </a:pPr>
            <a:r>
              <a:rPr b="1" lang="en">
                <a:latin typeface="Nunito"/>
                <a:ea typeface="Nunito"/>
                <a:cs typeface="Nunito"/>
                <a:sym typeface="Nunito"/>
              </a:rPr>
              <a:t>Hungarian matching:</a:t>
            </a:r>
            <a:r>
              <a:rPr lang="en">
                <a:latin typeface="Nunito"/>
                <a:ea typeface="Nunito"/>
                <a:cs typeface="Nunito"/>
                <a:sym typeface="Nunito"/>
              </a:rPr>
              <a:t> establece un emparejamiento uno a uno entre los prototipos de ambos conjuntos para realizar la comparación.</a:t>
            </a:r>
            <a:endParaRPr>
              <a:latin typeface="Nunito"/>
              <a:ea typeface="Nunito"/>
              <a:cs typeface="Nunito"/>
              <a:sym typeface="Nunito"/>
            </a:endParaRPr>
          </a:p>
        </p:txBody>
      </p:sp>
      <p:sp>
        <p:nvSpPr>
          <p:cNvPr id="713" name="Google Shape;713;g412c17598e8_0_307"/>
          <p:cNvSpPr txBox="1"/>
          <p:nvPr/>
        </p:nvSpPr>
        <p:spPr>
          <a:xfrm>
            <a:off x="-279700" y="3870950"/>
            <a:ext cx="2361300" cy="648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
                <a:latin typeface="Nunito"/>
                <a:ea typeface="Nunito"/>
                <a:cs typeface="Nunito"/>
                <a:sym typeface="Nunito"/>
              </a:rPr>
              <a:t>¿Cómo medimos la similitud?</a:t>
            </a:r>
            <a:endParaRPr b="1">
              <a:latin typeface="Nunito"/>
              <a:ea typeface="Nunito"/>
              <a:cs typeface="Nunito"/>
              <a:sym typeface="Nuni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412c17598e8_0_322"/>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Similitud entre los prototipos de K-means y EFA</a:t>
            </a:r>
            <a:endParaRPr/>
          </a:p>
        </p:txBody>
      </p:sp>
      <p:sp>
        <p:nvSpPr>
          <p:cNvPr id="719" name="Google Shape;719;g412c17598e8_0_3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720" name="Google Shape;720;g412c17598e8_0_322"/>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721" name="Google Shape;721;g412c17598e8_0_322" title="Captura de pantalla 2026-09-22 a las 9.22.43.png"/>
          <p:cNvPicPr preferRelativeResize="0"/>
          <p:nvPr/>
        </p:nvPicPr>
        <p:blipFill>
          <a:blip r:embed="rId4">
            <a:alphaModFix/>
          </a:blip>
          <a:stretch>
            <a:fillRect/>
          </a:stretch>
        </p:blipFill>
        <p:spPr>
          <a:xfrm>
            <a:off x="539400" y="1449750"/>
            <a:ext cx="8251986" cy="3533687"/>
          </a:xfrm>
          <a:prstGeom prst="rect">
            <a:avLst/>
          </a:prstGeom>
          <a:noFill/>
          <a:ln>
            <a:noFill/>
          </a:ln>
        </p:spPr>
      </p:pic>
      <p:sp>
        <p:nvSpPr>
          <p:cNvPr id="722" name="Google Shape;722;g412c17598e8_0_322"/>
          <p:cNvSpPr/>
          <p:nvPr/>
        </p:nvSpPr>
        <p:spPr>
          <a:xfrm>
            <a:off x="5287425" y="4348325"/>
            <a:ext cx="1052400" cy="345300"/>
          </a:xfrm>
          <a:prstGeom prst="rect">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g412c17598e8_0_330"/>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Similitud entre los prototipos de K-means y los expertos</a:t>
            </a:r>
            <a:endParaRPr/>
          </a:p>
        </p:txBody>
      </p:sp>
      <p:sp>
        <p:nvSpPr>
          <p:cNvPr id="728" name="Google Shape;728;g412c17598e8_0_3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729" name="Google Shape;729;g412c17598e8_0_330"/>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730" name="Google Shape;730;g412c17598e8_0_330" title="Captura de pantalla 2026-09-22 a las 9.23.04.png"/>
          <p:cNvPicPr preferRelativeResize="0"/>
          <p:nvPr/>
        </p:nvPicPr>
        <p:blipFill>
          <a:blip r:embed="rId4">
            <a:alphaModFix/>
          </a:blip>
          <a:stretch>
            <a:fillRect/>
          </a:stretch>
        </p:blipFill>
        <p:spPr>
          <a:xfrm>
            <a:off x="446000" y="1449750"/>
            <a:ext cx="8251986" cy="3533687"/>
          </a:xfrm>
          <a:prstGeom prst="rect">
            <a:avLst/>
          </a:prstGeom>
          <a:noFill/>
          <a:ln>
            <a:noFill/>
          </a:ln>
        </p:spPr>
      </p:pic>
      <p:sp>
        <p:nvSpPr>
          <p:cNvPr id="731" name="Google Shape;731;g412c17598e8_0_330"/>
          <p:cNvSpPr/>
          <p:nvPr/>
        </p:nvSpPr>
        <p:spPr>
          <a:xfrm>
            <a:off x="2544275" y="4345925"/>
            <a:ext cx="375000" cy="375000"/>
          </a:xfrm>
          <a:prstGeom prst="ellipse">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412c17598e8_0_338"/>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Similitud entre los prototipos de EFA y los expertos</a:t>
            </a:r>
            <a:endParaRPr/>
          </a:p>
        </p:txBody>
      </p:sp>
      <p:sp>
        <p:nvSpPr>
          <p:cNvPr id="737" name="Google Shape;737;g412c17598e8_0_3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738" name="Google Shape;738;g412c17598e8_0_338"/>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pic>
        <p:nvPicPr>
          <p:cNvPr id="739" name="Google Shape;739;g412c17598e8_0_338" title="Captura de pantalla 2026-09-22 a las 9.23.43.png"/>
          <p:cNvPicPr preferRelativeResize="0"/>
          <p:nvPr/>
        </p:nvPicPr>
        <p:blipFill>
          <a:blip r:embed="rId4">
            <a:alphaModFix/>
          </a:blip>
          <a:stretch>
            <a:fillRect/>
          </a:stretch>
        </p:blipFill>
        <p:spPr>
          <a:xfrm>
            <a:off x="675925" y="1484775"/>
            <a:ext cx="8251986" cy="3533687"/>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g3e1caf1702d_0_2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745" name="Google Shape;745;g3e1caf1702d_0_271"/>
          <p:cNvSpPr txBox="1"/>
          <p:nvPr>
            <p:ph idx="4294967295" type="ctrTitle"/>
          </p:nvPr>
        </p:nvSpPr>
        <p:spPr>
          <a:xfrm>
            <a:off x="3023850" y="1274950"/>
            <a:ext cx="3096300" cy="625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lexandria Medium"/>
              <a:buNone/>
            </a:pPr>
            <a:r>
              <a:rPr b="0" i="0" lang="en" sz="5000" u="none" cap="none" strike="noStrike">
                <a:solidFill>
                  <a:schemeClr val="dk1"/>
                </a:solidFill>
                <a:latin typeface="Alexandria Medium"/>
                <a:ea typeface="Alexandria Medium"/>
                <a:cs typeface="Alexandria Medium"/>
                <a:sym typeface="Alexandria Medium"/>
              </a:rPr>
              <a:t>Gracias!</a:t>
            </a:r>
            <a:endParaRPr b="0" i="0" sz="5000" u="none" cap="none" strike="noStrike">
              <a:solidFill>
                <a:schemeClr val="dk1"/>
              </a:solidFill>
              <a:latin typeface="Alexandria Medium"/>
              <a:ea typeface="Alexandria Medium"/>
              <a:cs typeface="Alexandria Medium"/>
              <a:sym typeface="Alexandria Medium"/>
            </a:endParaRPr>
          </a:p>
          <a:p>
            <a:pPr indent="0" lvl="0" marL="0" marR="0" rtl="0" algn="l">
              <a:lnSpc>
                <a:spcPct val="100000"/>
              </a:lnSpc>
              <a:spcBef>
                <a:spcPts val="0"/>
              </a:spcBef>
              <a:spcAft>
                <a:spcPts val="0"/>
              </a:spcAft>
              <a:buClr>
                <a:schemeClr val="dk1"/>
              </a:buClr>
              <a:buSzPts val="5200"/>
              <a:buFont typeface="Alexandria Medium"/>
              <a:buNone/>
            </a:pPr>
            <a:r>
              <a:t/>
            </a:r>
            <a:endParaRPr b="0" i="0" sz="5000" u="none" cap="none" strike="noStrike">
              <a:solidFill>
                <a:schemeClr val="dk1"/>
              </a:solidFill>
              <a:latin typeface="Alexandria Medium"/>
              <a:ea typeface="Alexandria Medium"/>
              <a:cs typeface="Alexandria Medium"/>
              <a:sym typeface="Alexandria Medium"/>
            </a:endParaRPr>
          </a:p>
        </p:txBody>
      </p:sp>
      <p:pic>
        <p:nvPicPr>
          <p:cNvPr id="746" name="Google Shape;746;g3e1caf1702d_0_271"/>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sp>
        <p:nvSpPr>
          <p:cNvPr id="747" name="Google Shape;747;g3e1caf1702d_0_271"/>
          <p:cNvSpPr txBox="1"/>
          <p:nvPr/>
        </p:nvSpPr>
        <p:spPr>
          <a:xfrm>
            <a:off x="2864700" y="2399725"/>
            <a:ext cx="3414600" cy="714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sng" cap="none" strike="noStrike">
                <a:solidFill>
                  <a:schemeClr val="hlink"/>
                </a:solidFill>
                <a:latin typeface="Nunito"/>
                <a:ea typeface="Nunito"/>
                <a:cs typeface="Nunito"/>
                <a:sym typeface="Nunito"/>
                <a:hlinkClick r:id="rId4"/>
              </a:rPr>
              <a:t>m</a:t>
            </a:r>
            <a:r>
              <a:rPr lang="en" sz="1500" u="sng">
                <a:solidFill>
                  <a:schemeClr val="hlink"/>
                </a:solidFill>
                <a:latin typeface="Nunito"/>
                <a:ea typeface="Nunito"/>
                <a:cs typeface="Nunito"/>
                <a:sym typeface="Nunito"/>
                <a:hlinkClick r:id="rId5"/>
              </a:rPr>
              <a:t>.perales</a:t>
            </a:r>
            <a:r>
              <a:rPr b="0" i="0" lang="en" sz="1500" u="sng" cap="none" strike="noStrike">
                <a:solidFill>
                  <a:schemeClr val="hlink"/>
                </a:solidFill>
                <a:latin typeface="Nunito"/>
                <a:ea typeface="Nunito"/>
                <a:cs typeface="Nunito"/>
                <a:sym typeface="Nunito"/>
                <a:hlinkClick r:id="rId6"/>
              </a:rPr>
              <a:t>@deusto.es</a:t>
            </a:r>
            <a:endParaRPr b="0" i="0" sz="1500" u="none" cap="none" strike="noStrike">
              <a:solidFill>
                <a:schemeClr val="dk1"/>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Nunito"/>
              <a:ea typeface="Nunito"/>
              <a:cs typeface="Nunito"/>
              <a:sym typeface="Nuni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412c17598e8_0_384"/>
          <p:cNvSpPr txBox="1"/>
          <p:nvPr>
            <p:ph type="title"/>
          </p:nvPr>
        </p:nvSpPr>
        <p:spPr>
          <a:xfrm>
            <a:off x="715050" y="548900"/>
            <a:ext cx="7713900" cy="54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Mapa de archivos</a:t>
            </a:r>
            <a:endParaRPr/>
          </a:p>
        </p:txBody>
      </p:sp>
      <p:sp>
        <p:nvSpPr>
          <p:cNvPr id="753" name="Google Shape;753;g412c17598e8_0_38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754" name="Google Shape;754;g412c17598e8_0_384"/>
          <p:cNvPicPr preferRelativeResize="0"/>
          <p:nvPr/>
        </p:nvPicPr>
        <p:blipFill rotWithShape="1">
          <a:blip r:embed="rId3">
            <a:alphaModFix amt="60000"/>
          </a:blip>
          <a:srcRect b="0" l="0" r="0" t="0"/>
          <a:stretch/>
        </p:blipFill>
        <p:spPr>
          <a:xfrm>
            <a:off x="7708700" y="310400"/>
            <a:ext cx="1219200" cy="333375"/>
          </a:xfrm>
          <a:prstGeom prst="rect">
            <a:avLst/>
          </a:prstGeom>
          <a:noFill/>
          <a:ln>
            <a:noFill/>
          </a:ln>
        </p:spPr>
      </p:pic>
      <p:graphicFrame>
        <p:nvGraphicFramePr>
          <p:cNvPr id="755" name="Google Shape;755;g412c17598e8_0_384"/>
          <p:cNvGraphicFramePr/>
          <p:nvPr/>
        </p:nvGraphicFramePr>
        <p:xfrm>
          <a:off x="918800" y="1097600"/>
          <a:ext cx="3000000" cy="3000000"/>
        </p:xfrm>
        <a:graphic>
          <a:graphicData uri="http://schemas.openxmlformats.org/drawingml/2006/table">
            <a:tbl>
              <a:tblPr>
                <a:noFill/>
                <a:tableStyleId>{E52E4BE9-5879-4D65-9C92-106A106E9681}</a:tableStyleId>
              </a:tblPr>
              <a:tblGrid>
                <a:gridCol w="1855650"/>
                <a:gridCol w="1855650"/>
              </a:tblGrid>
              <a:tr h="385325">
                <a:tc>
                  <a:txBody>
                    <a:bodyPr/>
                    <a:lstStyle/>
                    <a:p>
                      <a:pPr indent="0" lvl="0" marL="0" rtl="0" algn="ctr">
                        <a:lnSpc>
                          <a:spcPct val="115000"/>
                        </a:lnSpc>
                        <a:spcBef>
                          <a:spcPts val="0"/>
                        </a:spcBef>
                        <a:spcAft>
                          <a:spcPts val="0"/>
                        </a:spcAft>
                        <a:buNone/>
                      </a:pPr>
                      <a:r>
                        <a:rPr b="1" lang="en" sz="1200">
                          <a:solidFill>
                            <a:schemeClr val="lt1"/>
                          </a:solidFill>
                          <a:latin typeface="Nunito"/>
                          <a:ea typeface="Nunito"/>
                          <a:cs typeface="Nunito"/>
                          <a:sym typeface="Nunito"/>
                        </a:rPr>
                        <a:t>Etapa</a:t>
                      </a:r>
                      <a:endParaRPr b="1" sz="1200">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sz="1200">
                          <a:solidFill>
                            <a:schemeClr val="lt1"/>
                          </a:solidFill>
                          <a:latin typeface="Nunito"/>
                          <a:ea typeface="Nunito"/>
                          <a:cs typeface="Nunito"/>
                          <a:sym typeface="Nunito"/>
                        </a:rPr>
                        <a:t>Scripts</a:t>
                      </a:r>
                      <a:endParaRPr b="1" sz="1200">
                        <a:solidFill>
                          <a:schemeClr val="lt1"/>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475175">
                <a:tc>
                  <a:txBody>
                    <a:bodyPr/>
                    <a:lstStyle/>
                    <a:p>
                      <a:pPr indent="0" lvl="0" marL="0" rtl="0" algn="l">
                        <a:spcBef>
                          <a:spcPts val="0"/>
                        </a:spcBef>
                        <a:spcAft>
                          <a:spcPts val="0"/>
                        </a:spcAft>
                        <a:buNone/>
                      </a:pPr>
                      <a:r>
                        <a:rPr lang="en" sz="1200">
                          <a:latin typeface="Nunito"/>
                          <a:ea typeface="Nunito"/>
                          <a:cs typeface="Nunito"/>
                          <a:sym typeface="Nunito"/>
                        </a:rPr>
                        <a:t>Integración y preparación de datos</a:t>
                      </a:r>
                      <a:endParaRPr sz="12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88038"/>
                          </a:solidFill>
                          <a:latin typeface="Nunito"/>
                          <a:ea typeface="Nunito"/>
                          <a:cs typeface="Nunito"/>
                          <a:sym typeface="Nunito"/>
                        </a:rPr>
                        <a:t>01</a:t>
                      </a:r>
                      <a:r>
                        <a:rPr lang="en" sz="1200">
                          <a:latin typeface="Nunito"/>
                          <a:ea typeface="Nunito"/>
                          <a:cs typeface="Nunito"/>
                          <a:sym typeface="Nunito"/>
                        </a:rPr>
                        <a:t>–</a:t>
                      </a:r>
                      <a:r>
                        <a:rPr lang="en" sz="1200">
                          <a:solidFill>
                            <a:srgbClr val="188038"/>
                          </a:solidFill>
                          <a:latin typeface="Nunito"/>
                          <a:ea typeface="Nunito"/>
                          <a:cs typeface="Nunito"/>
                          <a:sym typeface="Nunito"/>
                        </a:rPr>
                        <a:t>03</a:t>
                      </a:r>
                      <a:endParaRPr sz="1200">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5325">
                <a:tc>
                  <a:txBody>
                    <a:bodyPr/>
                    <a:lstStyle/>
                    <a:p>
                      <a:pPr indent="0" lvl="0" marL="0" rtl="0" algn="l">
                        <a:spcBef>
                          <a:spcPts val="0"/>
                        </a:spcBef>
                        <a:spcAft>
                          <a:spcPts val="0"/>
                        </a:spcAft>
                        <a:buNone/>
                      </a:pPr>
                      <a:r>
                        <a:rPr lang="en" sz="1200">
                          <a:latin typeface="Nunito"/>
                          <a:ea typeface="Nunito"/>
                          <a:cs typeface="Nunito"/>
                          <a:sym typeface="Nunito"/>
                        </a:rPr>
                        <a:t>Construcción del bootstrap</a:t>
                      </a:r>
                      <a:endParaRPr sz="12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88038"/>
                          </a:solidFill>
                          <a:latin typeface="Nunito"/>
                          <a:ea typeface="Nunito"/>
                          <a:cs typeface="Nunito"/>
                          <a:sym typeface="Nunito"/>
                        </a:rPr>
                        <a:t>04</a:t>
                      </a:r>
                      <a:endParaRPr sz="1200">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5325">
                <a:tc>
                  <a:txBody>
                    <a:bodyPr/>
                    <a:lstStyle/>
                    <a:p>
                      <a:pPr indent="0" lvl="0" marL="0" rtl="0" algn="l">
                        <a:spcBef>
                          <a:spcPts val="0"/>
                        </a:spcBef>
                        <a:spcAft>
                          <a:spcPts val="0"/>
                        </a:spcAft>
                        <a:buNone/>
                      </a:pPr>
                      <a:r>
                        <a:rPr lang="en" sz="1200">
                          <a:latin typeface="Nunito"/>
                          <a:ea typeface="Nunito"/>
                          <a:cs typeface="Nunito"/>
                          <a:sym typeface="Nunito"/>
                        </a:rPr>
                        <a:t>Construcción de matrices</a:t>
                      </a:r>
                      <a:endParaRPr sz="12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88038"/>
                          </a:solidFill>
                          <a:latin typeface="Nunito"/>
                          <a:ea typeface="Nunito"/>
                          <a:cs typeface="Nunito"/>
                          <a:sym typeface="Nunito"/>
                        </a:rPr>
                        <a:t>05</a:t>
                      </a:r>
                      <a:endParaRPr sz="1200">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5325">
                <a:tc>
                  <a:txBody>
                    <a:bodyPr/>
                    <a:lstStyle/>
                    <a:p>
                      <a:pPr indent="0" lvl="0" marL="0" rtl="0" algn="l">
                        <a:spcBef>
                          <a:spcPts val="0"/>
                        </a:spcBef>
                        <a:spcAft>
                          <a:spcPts val="0"/>
                        </a:spcAft>
                        <a:buNone/>
                      </a:pPr>
                      <a:r>
                        <a:rPr lang="en" sz="1200">
                          <a:latin typeface="Nunito"/>
                          <a:ea typeface="Nunito"/>
                          <a:cs typeface="Nunito"/>
                          <a:sym typeface="Nunito"/>
                        </a:rPr>
                        <a:t>K-means y EFA</a:t>
                      </a:r>
                      <a:endParaRPr sz="12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88038"/>
                          </a:solidFill>
                          <a:latin typeface="Nunito"/>
                          <a:ea typeface="Nunito"/>
                          <a:cs typeface="Nunito"/>
                          <a:sym typeface="Nunito"/>
                        </a:rPr>
                        <a:t>06</a:t>
                      </a:r>
                      <a:r>
                        <a:rPr lang="en" sz="1200">
                          <a:latin typeface="Nunito"/>
                          <a:ea typeface="Nunito"/>
                          <a:cs typeface="Nunito"/>
                          <a:sym typeface="Nunito"/>
                        </a:rPr>
                        <a:t>–</a:t>
                      </a:r>
                      <a:r>
                        <a:rPr lang="en" sz="1200">
                          <a:solidFill>
                            <a:srgbClr val="188038"/>
                          </a:solidFill>
                          <a:latin typeface="Nunito"/>
                          <a:ea typeface="Nunito"/>
                          <a:cs typeface="Nunito"/>
                          <a:sym typeface="Nunito"/>
                        </a:rPr>
                        <a:t>07</a:t>
                      </a:r>
                      <a:endParaRPr sz="1200">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75175">
                <a:tc>
                  <a:txBody>
                    <a:bodyPr/>
                    <a:lstStyle/>
                    <a:p>
                      <a:pPr indent="0" lvl="0" marL="0" rtl="0" algn="l">
                        <a:spcBef>
                          <a:spcPts val="0"/>
                        </a:spcBef>
                        <a:spcAft>
                          <a:spcPts val="0"/>
                        </a:spcAft>
                        <a:buNone/>
                      </a:pPr>
                      <a:r>
                        <a:rPr lang="en" sz="1200">
                          <a:latin typeface="Nunito"/>
                          <a:ea typeface="Nunito"/>
                          <a:cs typeface="Nunito"/>
                          <a:sym typeface="Nunito"/>
                        </a:rPr>
                        <a:t>Construcción de firmas y Greedy</a:t>
                      </a:r>
                      <a:endParaRPr sz="12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88038"/>
                          </a:solidFill>
                          <a:latin typeface="Nunito"/>
                          <a:ea typeface="Nunito"/>
                          <a:cs typeface="Nunito"/>
                          <a:sym typeface="Nunito"/>
                        </a:rPr>
                        <a:t>08b</a:t>
                      </a:r>
                      <a:endParaRPr sz="1200">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5325">
                <a:tc>
                  <a:txBody>
                    <a:bodyPr/>
                    <a:lstStyle/>
                    <a:p>
                      <a:pPr indent="0" lvl="0" marL="0" rtl="0" algn="l">
                        <a:spcBef>
                          <a:spcPts val="0"/>
                        </a:spcBef>
                        <a:spcAft>
                          <a:spcPts val="0"/>
                        </a:spcAft>
                        <a:buNone/>
                      </a:pPr>
                      <a:r>
                        <a:rPr lang="en" sz="1200">
                          <a:latin typeface="Nunito"/>
                          <a:ea typeface="Nunito"/>
                          <a:cs typeface="Nunito"/>
                          <a:sym typeface="Nunito"/>
                        </a:rPr>
                        <a:t>Análisis y visualización</a:t>
                      </a:r>
                      <a:endParaRPr sz="12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88038"/>
                          </a:solidFill>
                          <a:latin typeface="Nunito"/>
                          <a:ea typeface="Nunito"/>
                          <a:cs typeface="Nunito"/>
                          <a:sym typeface="Nunito"/>
                        </a:rPr>
                        <a:t>09b</a:t>
                      </a:r>
                      <a:endParaRPr sz="1200">
                        <a:solidFill>
                          <a:srgbClr val="188038"/>
                        </a:solidFill>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75175">
                <a:tc>
                  <a:txBody>
                    <a:bodyPr/>
                    <a:lstStyle/>
                    <a:p>
                      <a:pPr indent="0" lvl="0" marL="0" rtl="0" algn="l">
                        <a:spcBef>
                          <a:spcPts val="0"/>
                        </a:spcBef>
                        <a:spcAft>
                          <a:spcPts val="0"/>
                        </a:spcAft>
                        <a:buNone/>
                      </a:pPr>
                      <a:r>
                        <a:rPr lang="en" sz="1200">
                          <a:latin typeface="Nunito"/>
                          <a:ea typeface="Nunito"/>
                          <a:cs typeface="Nunito"/>
                          <a:sym typeface="Nunito"/>
                        </a:rPr>
                        <a:t>Comparaciones y sensibilidad</a:t>
                      </a:r>
                      <a:endParaRPr sz="12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88038"/>
                          </a:solidFill>
                          <a:latin typeface="Nunito"/>
                          <a:ea typeface="Nunito"/>
                          <a:cs typeface="Nunito"/>
                          <a:sym typeface="Nunito"/>
                        </a:rPr>
                        <a:t>10c</a:t>
                      </a:r>
                      <a:r>
                        <a:rPr lang="en" sz="1200">
                          <a:latin typeface="Nunito"/>
                          <a:ea typeface="Nunito"/>
                          <a:cs typeface="Nunito"/>
                          <a:sym typeface="Nunito"/>
                        </a:rPr>
                        <a:t> y scripts posteriores</a:t>
                      </a:r>
                      <a:endParaRPr sz="1200">
                        <a:latin typeface="Nunito"/>
                        <a:ea typeface="Nunito"/>
                        <a:cs typeface="Nunito"/>
                        <a:sym typeface="Nuni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756" name="Google Shape;756;g412c17598e8_0_384"/>
          <p:cNvSpPr txBox="1"/>
          <p:nvPr/>
        </p:nvSpPr>
        <p:spPr>
          <a:xfrm>
            <a:off x="5515900" y="2354450"/>
            <a:ext cx="30000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latin typeface="Nunito"/>
                <a:ea typeface="Nunito"/>
                <a:cs typeface="Nunito"/>
                <a:sym typeface="Nunito"/>
              </a:rPr>
              <a:t>Ruta principal:</a:t>
            </a:r>
            <a:r>
              <a:rPr lang="en" sz="1100">
                <a:latin typeface="Nunito"/>
                <a:ea typeface="Nunito"/>
                <a:cs typeface="Nunito"/>
                <a:sym typeface="Nunito"/>
              </a:rPr>
              <a:t> </a:t>
            </a:r>
            <a:r>
              <a:rPr lang="en" sz="1100">
                <a:solidFill>
                  <a:srgbClr val="188038"/>
                </a:solidFill>
                <a:latin typeface="Nunito"/>
                <a:ea typeface="Nunito"/>
                <a:cs typeface="Nunito"/>
                <a:sym typeface="Nunito"/>
              </a:rPr>
              <a:t>paper1_cluster/</a:t>
            </a:r>
            <a:endParaRPr sz="1100">
              <a:solidFill>
                <a:srgbClr val="188038"/>
              </a:solidFill>
              <a:latin typeface="Nunito"/>
              <a:ea typeface="Nunito"/>
              <a:cs typeface="Nunito"/>
              <a:sym typeface="Nunito"/>
            </a:endParaRPr>
          </a:p>
          <a:p>
            <a:pPr indent="0" lvl="0" marL="0" rtl="0" algn="ctr">
              <a:spcBef>
                <a:spcPts val="0"/>
              </a:spcBef>
              <a:spcAft>
                <a:spcPts val="0"/>
              </a:spcAft>
              <a:buNone/>
            </a:pPr>
            <a:r>
              <a:rPr b="1" lang="en" sz="1100">
                <a:latin typeface="Nunito"/>
                <a:ea typeface="Nunito"/>
                <a:cs typeface="Nunito"/>
                <a:sym typeface="Nunito"/>
              </a:rPr>
              <a:t>Código:</a:t>
            </a:r>
            <a:r>
              <a:rPr lang="en" sz="1100">
                <a:latin typeface="Nunito"/>
                <a:ea typeface="Nunito"/>
                <a:cs typeface="Nunito"/>
                <a:sym typeface="Nunito"/>
              </a:rPr>
              <a:t> </a:t>
            </a:r>
            <a:r>
              <a:rPr lang="en" sz="1100">
                <a:solidFill>
                  <a:srgbClr val="188038"/>
                </a:solidFill>
                <a:latin typeface="Nunito"/>
                <a:ea typeface="Nunito"/>
                <a:cs typeface="Nunito"/>
                <a:sym typeface="Nunito"/>
              </a:rPr>
              <a:t>scripts/</a:t>
            </a:r>
            <a:r>
              <a:rPr lang="en" sz="1100">
                <a:latin typeface="Nunito"/>
                <a:ea typeface="Nunito"/>
                <a:cs typeface="Nunito"/>
                <a:sym typeface="Nunito"/>
              </a:rPr>
              <a:t> · </a:t>
            </a:r>
            <a:r>
              <a:rPr b="1" lang="en" sz="1100">
                <a:latin typeface="Nunito"/>
                <a:ea typeface="Nunito"/>
                <a:cs typeface="Nunito"/>
                <a:sym typeface="Nunito"/>
              </a:rPr>
              <a:t>Resultados:</a:t>
            </a:r>
            <a:r>
              <a:rPr lang="en" sz="1100">
                <a:latin typeface="Nunito"/>
                <a:ea typeface="Nunito"/>
                <a:cs typeface="Nunito"/>
                <a:sym typeface="Nunito"/>
              </a:rPr>
              <a:t> </a:t>
            </a:r>
            <a:r>
              <a:rPr lang="en" sz="1100">
                <a:solidFill>
                  <a:srgbClr val="188038"/>
                </a:solidFill>
                <a:latin typeface="Nunito"/>
                <a:ea typeface="Nunito"/>
                <a:cs typeface="Nunito"/>
                <a:sym typeface="Nunito"/>
              </a:rPr>
              <a:t>data/processed/</a:t>
            </a:r>
            <a:endParaRPr sz="1100">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Lead Funnel by Slidesgo">
  <a:themeElements>
    <a:clrScheme name="Simple Light">
      <a:dk1>
        <a:srgbClr val="15110E"/>
      </a:dk1>
      <a:lt1>
        <a:srgbClr val="FFFAF6"/>
      </a:lt1>
      <a:dk2>
        <a:srgbClr val="C2E5F5"/>
      </a:dk2>
      <a:lt2>
        <a:srgbClr val="5296B8"/>
      </a:lt2>
      <a:accent1>
        <a:srgbClr val="1356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